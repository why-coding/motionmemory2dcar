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talk frames the internship as an evidence-driven arc: an oversized world-model idea was scoped into a controlled intersection simulator, a qualified V5 graph policy was produced for a declared simulator scope, and later branches produced useful but non-promoted negative results.
Timing: 0:00–0:25
Speaker notes: The talk frames the internship as an evidence-driven arc: an oversized world-model idea was scoped into a controlled intersection simulator, a qualified V5 graph policy was produced for a declared simulator scope, and later branches produced useful but non-promoted negative results.
Evidence / source boundary: Master context lines 7–13, 65–75, 95–109; results/status lines 5–13 and 115–124.
Likely audience question: What does production mean here?
Concise answer: It means the retained repository checkpoint/configuration that passed declared simulator gates, not road deployment or real-world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deck makes status labels part of each claim. This protects against overclaiming: V2.1 is training-only, merge/pocket demonstrations are scripted, V5.1/V6 are rejected candidates, and final banks were not run for failed candidates.
Timing: 0:25–0:45
Speaker notes: The deck makes status labels part of each claim. This protects against overclaiming: V2.1 is training-only, merge/pocket demonstrations are scripted, V5.1/V6 are rejected candidates, and final banks were not run for failed candidates.
Evidence / source boundary: Master context lines 3, 121–148; results/status lines 115–125; claim/evidence CSV.
Likely audience question: Why so many labels?
Concise answer: Because the project mixed simulator infrastructure, training support, learned policies, scripted oracles, and diagnostic audits. Without labels, the audience can easily misattribute scripted or training-only behavior to a promoted learned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slide gives the research context. DreamerV3 motivates imagined-rollout world-model RL; SafeBench motivates systematic safety-critical scenario evaluation. The internship’s initial idea combined these, but the handoff explicitly says the Dreamer implementation itself is inconclusive in the repository evidence.
Timing: 0:45–1:10
Speaker notes: This slide gives the research context. DreamerV3 motivates imagined-rollout world-model RL; SafeBench motivates systematic safety-critical scenario evaluation. The internship’s initial idea combined these, but the handoff explicitly says the Dreamer implementation itself is inconclusive in the repository evidence.
Evidence / source boundary: Master context lines 7–9, 17–21; Q&amp;A Q001–Q006; external references R1–R2.
Likely audience question: Did DreamerV3 fail technically?
Concise answer: No supported claim says that. The rigorous wording is that the direction was too broad for the internship timeline and no repository-confirmed Dreamer result is available in the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project aligns with prior work on multi-agent driving simulation and graph-structured traffic representations. However, I do not frame this as a direct benchmark against Waymax, SMARTS, Nocturne, or LaneGCN. The project’s contribution is a controlled custom instrument for policy ownership and qualification.
Timing: 1:10–1:35
Speaker notes: The project aligns with prior work on multi-agent driving simulation and graph-structured traffic representations. However, I do not frame this as a direct benchmark against Waymax, SMARTS, Nocturne, or LaneGCN. The project’s contribution is a controlled custom instrument for policy ownership and qualification.
Evidence / source boundary: Technical methodology lines 13–17, 161–169; external references R3–R7.
Likely audience question: Why not use an existing simulator?
Concise answer: Existing simulators are powerful, but the internship needed full control over rules, rewards, event accounting, seed banks, and failure replay. The custom simulator made the evidence chain inspectable.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final scope is best explained as an evidence-bounded pivot. The original world-model direction stays in the story as motivation. The executed scope is repository-confirmed: a simulator, shared PPO stack, graph policy, and evaluation protocol.
Timing: 1:35–2:00
Speaker notes: The final scope is best explained as an evidence-bounded pivot. The original world-model direction stays in the story as motivation. The executed scope is repository-confirmed: a simulator, shared PPO stack, graph policy, and evaluation protocol.
Evidence / source boundary: Master context lines 7–13, 121–133; results/status lines 115–124.
Likely audience question: Is the final system still related to adversarial case generation?
Concise answer: Conceptually yes, because it stress-tests difficult interaction cases; code-wise no Dreamer/world-model case generator is verified in the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slide should be presented carefully. I can say the project began with a world-model/DreamerV3 direction and pivoted because the combined burden was too large. I cannot claim Dreamer training, implementation details, or measured failure.
Timing: 2:00–2:25
Speaker notes: This slide should be presented carefully. I can say the project began with a world-model/DreamerV3 direction and pivoted because the combined burden was too large. I cannot claim Dreamer training, implementation details, or measured failure.
Evidence / source boundary: Master context lines 7–21, 137–138; Q&amp;A Q001–Q007.
Likely audience question: Why not leave the Dreamer slide out entirely?
Concise answer: Because it explains the internship arc and motivation, but it must be bounded as user-provided/inconclusive rather than repository-confirmed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final problem is multi-agent partially observed control with parameter sharing. Each vehicle has a local graph observation, outputs its own action, and contributes a sample to one shared PPO update. This is why retention interference matters: a change that helps one role can hurt another.
Timing: 2:25–2:50
Speaker notes: The final problem is multi-agent partially observed control with parameter sharing. Each vehicle has a local graph observation, outputs its own action, and contributes a sample to one shared PPO update. This is why retention interference matters: a change that helps one role can hurt another.
Evidence / source boundary: Technical methodology lines 5–17; simulator/architecture lines 28–32; Q&amp;A Q019–Q023.
Likely audience question: Are all vehicles controlled by one global action?
Concise answer: No. The policy parameters are shared, but observations and actions are per ego vehicle. The environment couples the outcomes through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I treat the simulator as an instrument, not a visualization. It controls routes, signals, pedestrians, geometry, legal/event semantics, and deterministic evaluation. That is what made causal debugging possible.
Timing: 2:50–3:15
Speaker notes: I treat the simulator as an instrument, not a visualization. It controls routes, signals, pedestrians, geometry, legal/event semantics, and deterministic evaluation. That is what made causal debugging possible.
Evidence / source boundary: Simulator/architecture lines 18–26, 93–97; master context lines 25–31, 49–53; Q&amp;A Q013–Q018.
Likely audience question: How realistic is the simulator?
Concise answer: It captures interaction, signals, pedestrians, queues, collision geometry, and jerk-limited longitudinal dynamics, but it is not a perception stack, real-map system, or full vehicle dynamics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the core methodology correction. A safety shield can make trajectories safe while hiding a bad policy action. The final standard allows engineered environment semantics and training-only supports, but the actor must choose runtime acceleration in formal evaluation.
Timing: 3:15–3:45
Speaker notes: This is the core methodology correction. A safety shield can make trajectories safe while hiding a bad policy action. The final standard allows engineered environment semantics and training-only supports, but the actor must choose runtime acceleration in formal evaluation.
Evidence / source boundary: Simulator/architecture lines 5–16, 87–97; master context lines 35–37, 57–65; Q&amp;A Q067–Q073.
Likely audience question: Is production V5 completely unscripted?
Concise answer: No. The simulator defines routes, legal semantics, signals, collisions, and physics. The precise claim is no runtime acceleration override in formal V5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ladder was both a simulator-feature ladder and a claim-discipline ladder. A stage could be implemented and tested without being promoted. The production endpoint is V5 combined longitudinal behavior; the later pedestrian and lane branches are not production replacements.
Timing: 3:45–4:15
Speaker notes: The ladder was both a simulator-feature ladder and a claim-discipline ladder. A stage could be implemented and tested without being promoted. The production endpoint is V5 combined longitudinal behavior; the later pedestrian and lane branches are not production replacements.
Evidence / source boundary: Training curriculum lines 5–23 and 27–45; brief/story lines 25–37.
Likely audience question: Which rung is the production endpoint?
Concise answer: V5 combined longitudinal intersection behavior under declared simulator gates. Pedestrian V2.1 and V6 are not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key evaluation principle is multi-metric retention. Improvement in one metric did not justify promotion if another safety or legality metric regressed. This is why V5.1 and V6 negative results are meaningful rather than failures hidden by aggregate returns.
Timing: 4:15–4:40
Speaker notes: The key evaluation principle is multi-metric retention. Improvement in one metric did not justify promotion if another safety or legality metric regressed. This is why V5.1 and V6 negative results are meaningful rather than failures hidden by aggregate returns.
Evidence / source boundary: Results/status lines 5–13, 113–124; technical methodology lines 161–169; Q&amp;A Q136–Q140.
Likely audience question: Are these gates safety proofs?
Concise answer: No. They are project-defined simulator qualification thresholds. Passing them qualifies the checkpoint for the declared matrix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architecture slide should emphasize why the graph was needed: flat summaries lose relational structure as traffic count and roles vary. The V5 production architecture is graph actor-critic plus a longitudinal mixture. A Transformer stage is explicitly inconclusive and should not be added.
Timing: 4:40–5:10
Speaker notes: This architecture slide should emphasize why the graph was needed: flat summaries lose relational structure as traffic count and roles vary. The V5 production architecture is graph actor-critic plus a longitudinal mixture. A Transformer stage is explicitly inconclusive and should not be added.
Evidence / source boundary: Architecture evolution lines 5–18, 21–52, 54–70, 84–101; master context lines 41–45; Q&amp;A Q049–Q054.
Likely audience question: Did you compare GNN and Transformer performance?
Concise answer: No controlled Transformer comparison is preserved, and no repository-confirmed Transformer policy stage exists in the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V5’s input contract is a key technical result: 49-D ego vector, node vectors with a selected checkpoint max of 52 nodes, and 25-D typed edge features. It is rebuilt for each ego vehicle with relative coordinates and masks.
Timing: 5:10–5:40
Speaker notes: V5’s input contract is a key technical result: 49-D ego vector, node vectors with a selected checkpoint max of 52 nodes, and 25-D typed edge features. It is rebuilt for each ego vehicle with relative coordinates and masks.
Evidence / source boundary: Technical methodology lines 25–39; simulator/architecture lines 47–59; architecture evolution lines 21–29, 54–70; Q&amp;A Q031–Q036.
Likely audience question: Does the policy see the full simulator state?
Concise answer: No. It sees an engineered local graph and context features, but not raw sensors or exact future signal countdown.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final V5 architecture combines graph attention with a mode-aware longitudinal actor. The mixture head is not just a decorative detail: averaging brake and go can produce weak unsafe commands. The V5 interface retains steering, but Vehicle.step ignores steering and lateral offset, so it is path-locked.
Timing: 5:40–6:10
Speaker notes: The final V5 architecture combines graph attention with a mode-aware longitudinal actor. The mixture head is not just a decorative detail: averaging brake and go can produce weak unsafe commands. The V5 interface retains steering, but Vehicle.step ignores steering and lateral offset, so it is path-locked.
Evidence / source boundary: Architecture evolution lines 28–52, 54–70, 82–88; technical methodology lines 43–57; Q&amp;A Q037–Q042 and Q051.
Likely audience question: Why retain an unused steering output?
Concise answer: It preserved interface compatibility during longitudinal development, but runtime geometry remained route-following and lateral control was not learned in V5.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dynamics change mattered because braking cannot appear instantly. When a car is already accelerating, the distance to ramp into braking can dominate a simple v squared over two b estimate. This changed dilemma-zone eligibility, brake labels, stopping-margin reward timing, and conflict feasibility.
Timing: 6:10–6:45
Speaker notes: The dynamics change mattered because braking cannot appear instantly. When a car is already accelerating, the distance to ramp into braking can dominate a simple v squared over two b estimate. This changed dilemma-zone eligibility, brake labels, stopping-margin reward timing, and conflict feasibility.
Evidence / source boundary: Master context lines 61–63; technical methodology lines 87–133; results/status lines 17–28; Q&amp;A Q079–Q090.
Likely audience question: Did the jerk model solve all stopping problems?
Concise answer: No. It made feasibility more honest and exposed remaining insufficient-brake, gate-routing, and queue-chain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pedestrian branch is a good example of disciplined non-promotion. Crosswalk-wide is conservative. V1/V2/V2.1 improve realism and targeted traces, but V1 and V2 regress holdouts or paired criteria, and V2.1 is only training support.
Timing: 6:45–7:15
Speaker notes: The pedestrian branch is a good example of disciplined non-promotion. Crosswalk-wide is conservative. V1/V2/V2.1 improve realism and targeted traces, but V1 and V2 regress holdouts or paired criteria, and V2.1 is only training support.
Evidence / source boundary: Master context lines 81–87; results/status lines 32–41; technical methodology lines 135–143; Q&amp;A Q091–Q095.
Likely audience question: Why keep the conservative default?
Concise answer: Because the alternatives improved selected scenarios but introduced or exchanged failures in holdout or paired evaluations. Production evidence did not justify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the headline production result. It should be shown with all four metrics, not only completion. V5 passed all 30 declared groups, but the stress group was close enough to gates that later holdout audits found robustness limits. That is why the result is strong but bounded.
Timing: 7:15–7:50
Speaker notes: This is the headline production result. It should be shown with all four metrics, not only completion. V5 passed all 30 declared groups, but the stress group was close enough to gates that later holdout audits found robustness limits. That is why the result is strong but bounded.
Evidence / source boundary: Master context lines 65–75, 113–119; results/status lines 5–13; Q&amp;A Q056, Q136–Q140.
Likely audience question: Was V5 trained entirely from scratch with PPO?
Concise answer: No. The selected lineage includes 51,200 PPO environment steps and 500 bounded prewarm steps only in the ROR stage. The precise claim is PPO-trained learned runtime with no formal acceleration override.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audit changed the technical plan. It showed the conservative GO behavior was real, but a global acceleration increase would be unsafe. The failure categories motivated scoped gate/brake/retention experiments rather than broad coefficient changes.
Timing: 7:50–8:20
Speaker notes: The audit changed the technical plan. It showed the conservative GO behavior was real, but a global acceleration increase would be unsafe. The failure categories motivated scoped gate/brake/retention experiments rather than broad coefficient changes.
Evidence / source boundary: Master context lines 79–83; results/status lines 17–28; Q&amp;A Q111–Q115.
Likely audience question: Why not just increase the GO component?
Concise answer: Because the empty-road reference was better, but global acceleration produced queue and turn safety problems. The correction must depend on context and pass retention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slide should be delivered as an honest negative result. Some collision metrics improved, but the other-violation gate failed, and longer/balanced variants did not pass all retention requirements. Therefore the correct action was to keep V5 immutable.
Timing: 8:20–8:55
Speaker notes: This slide should be delivered as an honest negative result. Some collision metrics improved, but the other-violation gate failed, and longer/balanced variants did not pass all retention requirements. Therefore the correct action was to keep V5 immutable.
Evidence / source boundary: Master context lines 89–91; results/status lines 45–56; Q&amp;A Q114–Q115 and Q139.
Likely audience question: Was V5.1 safer overall?
Concise answer: Not under the full gate set. It improved some collision metrics but regressed other required categories, so it was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Track B created a lane topology abstraction that can represent lane birth and termination. This solves a precondition for learning: the policy should choose an adjacent intent, while topology determines whether that intent is valid and the trajectory layer realizes the path.
Timing: 8:55–9:25
Speaker notes: Track B created a lane topology abstraction that can represent lane birth and termination. This solves a precondition for learning: the policy should choose an adjacent intent, while topology determines whether that intent is valid and the trajectory layer realizes the path.
Evidence / source boundary: Master context lines 95–101, 152–160; results/status lines 57–73; technical methodology lines 171–179; Q&amp;A Q116–Q120.
Likely audience question: Is LaneSegment deployed in production V5?
Concise answer: No. It is implemented and tested in an isolated lane branch. Production V5 remains legacy fixed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one of the easiest places to overclaim. The merge oracle and pocket demonstrations validated the topology and trajectory layer. The numerical merge metrics are real scripted infrastructure metrics; learned_policy_used was false. No pocket PPO was performed.
Timing: 9:25–9:55
Speaker notes: This is one of the easiest places to overclaim. The merge oracle and pocket demonstrations validated the topology and trajectory layer. The numerical merge metrics are real scripted infrastructure metrics; learned_policy_used was false. No pocket PPO was performed.
Evidence / source boundary: Master context lines 95–101; results/status lines 61–73; Q&amp;A Q121–Q130.
Likely audience question: Did the policy generate the 4.44-second merge?
Concise answer: No. It was a scripted oracle demonstration validating infrastructure and trajectory smoothness.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V6 is a clean design choice: freeze V5 longitudinal behavior, add a lane intent head, and use deterministic trajectory execution. This avoids raw steering and lane-change generator conflicts. But design mechanics alone do not imply learned safe merging.
Timing: 9:55–10:25
Speaker notes: V6 is a clean design choice: freeze V5 longitudinal behavior, add a lane intent head, and use deterministic trajectory execution. This avoids raw steering and lane-change generator conflicts. But design mechanics alone do not imply learned safe merging.
Evidence / source boundary: Architecture evolution lines 90–101; simulator/architecture lines 99–105; master context lines 101–109; Q&amp;A Q041–Q042.
Likely audience question: Why categorical lane intent instead of steering?
Concise answer: Because lane change is a topology-level adjacent-intent decision. A deterministic trajectory layer can enforce feasible lateral motion once the policy chooses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slide summarizes the lane-learning arc. Initial V6 collapsed to KEEP. Stage 4.1 improved offline lane classification but failed integrated behavior and revealed reward inversion. Stage 4.2 fixed reward ordering and produced nontrivial LEFT actions, but it was unsafe and stopped before any saved checkpoint.
Timing: 10:25–11:10
Speaker notes: This slide summarizes the lane-learning arc. Initial V6 collapsed to KEEP. Stage 4.1 improved offline lane classification but failed integrated behavior and revealed reward inversion. Stage 4.2 fixed reward ordering and produced nontrivial LEFT actions, but it was unsafe and stopped before any saved checkpoint.
Evidence / source boundary: Master context lines 103–109; results/status lines 77–111; Q&amp;A Q123–Q125, Q131–Q135. Stage 4.2 rule: no DAgger/BC/prewarm/oracle-action loss.
Likely audience question: Is Stage 4.2 a success because it avoided KEEP collapse?
Concise answer: No. Non-degeneracy is only one condition. Unsafe entry and collision rates failed early gates, so there was no checkpoint and no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status matrix is the defense against overclaiming. The production anchor remains V5. V2.1 is training-only. Lane topology is implemented and tested, but merge and pocket demos are scripted. All V5.1 and V6 candidates are rejected. Stage 4.3 is a plan, not a result.
Timing: 11:10–12:05
Speaker notes: This status matrix is the defense against overclaiming. The production anchor remains V5. V2.1 is training-only. Lane topology is implemented and tested, but merge and pocket demos are scripted. All V5.1 and V6 candidates are rejected. Stage 4.3 is a plan, not a result.
Evidence / source boundary: Master context lines 150–160; results/status lines 113–124; technical methodology lines 181–193; Q&amp;A Q146–Q149.
Likely audience question: What exactly runs today?
Concise answer: V5 with graph observations, jerk-limited longitudinal dynamics, conservative crosswalk-wide pedestrian mode, and legacy fixed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End with three contributions: the simulator/evaluation platform, the qualified V5 graph policy with jerk-limited dynamics, and the status discipline that rejected unsafe candidates. The future direction is to make lane intent safe without losing the evidence chain.
Timing: 12:05–12:40 main talk + discussion buffer
Speaker notes: End with three contributions: the simulator/evaluation platform, the qualified V5 graph policy with jerk-limited dynamics, and the status discipline that rejected unsafe candidates. The future direction is to make lane intent safe without losing the evidence chain.
Evidence / source boundary: Brief/story lines 102–112; master context lines 121–133, 150–160; Q&amp;A Q150.
Likely audience question: What are you most proud of?
Concise answer: Making the system and its claims auditable—especially retaining V5 when later experiments improved one metric but failed the complete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backup slide contains the exact production checkpoint identity, gates, and combined group metrics. Use it if asked for numerical evidence.
Speaker notes: This backup slide contains the exact production checkpoint identity, gates, and combined group metrics. Use it if asked for numerical evidence.
Evidence / source boundary: Results/status lines 5–13; master context lines 13 and 67–75.
Likely audience question: What are the qualification thresholds?
Concise answer: Per group: completion at least 90%, collision-event at most 1%, involved vehicles at most 2%, and other violations at most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slide backs up architecture questions. The steering caveat is part of the claim: the second action exists for compatibility but does not control lateral motion in V5.
Speaker notes: This slide backs up architecture questions. The steering caveat is part of the claim: the second action exists for compatibility but does not control lateral motion in V5.
Evidence / source boundary: Architecture evolution lines 54–88; simulator/architecture lines 47–85.
Likely audience question: Does action dimension 2 mean learned steering?
Concise answer: No. Action 1 exists but Vehicle.step resets steering and lateral offset to zero under the path-locked V5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Use this slide for equation questions. The central point is not smoothness alone; actuator-aware feasibility changes labels and rewards.
Speaker notes: Use this slide for equation questions. The central point is not smoothness alone; actuator-aware feasibility changes labels and rewards.
Evidence / source boundary: Technical methodology lines 87–133; master context lines 61–63.
Likely audience question: Why does jerk matter for stopping labels?
Concise answer: Because a vehicle already accelerating needs distance to ramp into braking before full comfortable braking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appendix slide is for methodology questions about PPO purity, prewarm, and Stage 4.2. It states exactly what support existed and what did not.
Speaker notes: This appendix slide is for methodology questions about PPO purity, prewarm, and Stage 4.2. It states exactly what support existed and what did not.
Evidence / source boundary: Technical methodology lines 145–159; training curriculum lines 38–45; Q&amp;A Q055–Q078.
Likely audience question: Is production V5 pure RL?
Concise answer: Runtime decisions are policy-owned, but V5 used engineered observations/rewards and a bounded ROR prewarm before PPO. Avoid philosophical purity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table supports detailed pedestrian questions. It records what each model changed and why the decision boundary stayed conservative.
Speaker notes: This table supports detailed pedestrian questions. It records what each model changed and why the decision boundary stayed conservative.
Evidence / source boundary: Results/status lines 32–41; technical methodology lines 135–143; Q&amp;A Q091–Q095.
Likely audience question: Why was V2.1 not production if it fixed seed 66827?
Concise answer: Because a targeted fix is not a complete promotion. It was frozen as training-only, and production remained crosswalk-wide.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Use this slide if asked for the detailed V5.1 rejection rationale. It combines the failure taxonomy and the candidate-level decisions.
Speaker notes: Use this slide if asked for the detailed V5.1 rejection rationale. It combines the failure taxonomy and the candidate-level decisions.
Evidence / source boundary: Results/status lines 17–28 and 45–56; Q&amp;A Q113–Q115, Q139.
Likely audience question: Why was the final bank not run?
Concise answer: Candidates failed earlier gates, so running the final bank would have violated the staged evaluation protocol and risked post-hoc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the backup for lane infrastructure questions. It lists the tested components and the exact scripted merge metrics.
Speaker notes: This is the backup for lane infrastructure questions. It lists the tested components and the exact scripted merge metrics.
Evidence / source boundary: Results/status lines 57–73; technical methodology lines 171–179; Q&amp;A Q116–Q122.
Likely audience question: Do the 14 tests prove learned merge readiness?
Concise answer: No. They support implementation correctness for topology and trajectory mechanics, not learned policy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slide supports merge follow-up questions. The key is not to call Stage 4.2 successful. It is a localized partial learning signal with failed safety.
Speaker notes: This slide supports merge follow-up questions. The key is not to call Stage 4.2 successful. It is a localized partial learning signal with failed safety.
Evidence / source boundary: Results/status lines 77–111; master context lines 103–109 and 160; Q&amp;A Q131–Q135, Q146–Q149.
Likely audience question: What did Stage 4.2 prove?
Concise answer: It proved the system no longer collapsed to KEEP and could learn nontrivial LEFT behavior, but it also proved the early policy was unsafe and non-promotable.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Use this slide if the audience asks how to interpret labels. It makes the deck’s claim grammar explicit.
Speaker notes: Use this slide if the audience asks how to interpret labels. It makes the deck’s claim grammar explicit.
Evidence / source boundary: Master context lines 3, 121–148; results/status lines 115–125.
Likely audience question: Why is “production” potentially confusing?
Concise answer: Because outside this project it may imply road deployment. Here it only means the accepted simulator artifact under declared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appendix slide distills the Q&amp;A bank for the initial world-model topic.
Speaker notes: This appendix slide distills the Q&amp;A bank for the initial world-model topic.
Evidence / source boundary: Q&amp;A bank Q001–Q008; master context lines 7–21 and 137–138.
Likely audience question: What should be avoided?
Concise answer: Any claim that DreamerV3 was trained, modified, benchmarked, or used by V5, because the handoff does not verify those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slide collects short answers around the most sensitive methodology claim: policy-owned runtime without pretending the environment is unengineered.
Speaker notes: This slide collects short answers around the most sensitive methodology claim: policy-owned runtime without pretending the environment is unengineered.
Evidence / source boundary: Q&amp;A bank Q067–Q078, Q096–Q100, Q141–Q142.
Likely audience question: Does no runtime shield mean no safety constraints?
Concise answer: No. It means no acceleration action override in formal qualification; routes, physics, legal semantics, and event truth are still simulator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Q&amp;A slide protects against overclaiming lane work. It separates implemented topology, scripted validation, partial learned exploration, and rejected candidates.
Speaker notes: This Q&amp;A slide protects against overclaiming lane work. It separates implemented topology, scripted validation, partial learned exploration, and rejected candidates.
Evidence / source boundary: Q&amp;A bank Q116–Q135.
Likely audience question: What is actually learned in merge?
Concise answer: Stage 4.2 learned nontrivial lane-intent behavior, but not a safe or promotable merge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the final claim-safety backup slide. It should be used if asked how to phrase results in a report or defense.
Speaker notes: This is the final claim-safety backup slide. It should be used if asked how to phrase results in a report or defense.
Evidence / source boundary: Master context lines 121–148; claim/evidence CSV.
Likely audience question: What is the most dangerous overclaim?
Concise answer: Calling scripted or training-only behavior learned/production, or implying V5.1/V6 were promoted or final banks were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references slide satisfies the requested background/prior-work support. It does not imply experimental comparison against these works.
Speaker notes: This references slide satisfies the requested background/prior-work support. It does not imply experimental comparison against these works.
Evidence / source boundary: External paper references searched from arXiv/venue pages; internship metrics remain from handoff files.
Likely audience question: Which reference is most directly tied to the original objective?
Concise answer: DreamerV3 for world-model imagined rollouts, plus SafeBench for safety-critical scenario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85800" y="658368"/>
            <a:ext cx="10789920" cy="868680"/>
          </a:xfrm>
          <a:prstGeom prst="rect">
            <a:avLst/>
          </a:prstGeom>
          <a:noFill/>
          <a:ln/>
        </p:spPr>
        <p:txBody>
          <a:bodyPr wrap="square" lIns="254" tIns="254" rIns="254" bIns="254" rtlCol="0" anchor="ctr">
            <a:normAutofit/>
          </a:bodyPr>
          <a:lstStyle/>
          <a:p>
            <a:pPr indent="0" marL="0">
              <a:buNone/>
            </a:pPr>
            <a:r>
              <a:rPr lang="en-US" sz="3000" b="1" dirty="0">
                <a:solidFill>
                  <a:srgbClr val="0B132B"/>
                </a:solidFill>
                <a:latin typeface="Aptos Display" pitchFamily="34" charset="0"/>
                <a:ea typeface="Aptos Display" pitchFamily="34" charset="-122"/>
                <a:cs typeface="Aptos Display" pitchFamily="34" charset="-120"/>
              </a:rPr>
              <a:t>From World-Model Case Generation to Self-Play RL Driving Policy</a:t>
            </a:r>
            <a:endParaRPr lang="en-US" sz="3000" dirty="0"/>
          </a:p>
        </p:txBody>
      </p:sp>
      <p:sp>
        <p:nvSpPr>
          <p:cNvPr id="3" name="Text 1"/>
          <p:cNvSpPr/>
          <p:nvPr/>
        </p:nvSpPr>
        <p:spPr>
          <a:xfrm>
            <a:off x="713232" y="1627632"/>
            <a:ext cx="10424160" cy="347472"/>
          </a:xfrm>
          <a:prstGeom prst="rect">
            <a:avLst/>
          </a:prstGeom>
          <a:noFill/>
          <a:ln/>
        </p:spPr>
        <p:txBody>
          <a:bodyPr wrap="square" lIns="0" tIns="0" rIns="0" bIns="0" rtlCol="0" anchor="ctr"/>
          <a:lstStyle/>
          <a:p>
            <a:pPr indent="0" marL="0">
              <a:buNone/>
            </a:pPr>
            <a:r>
              <a:rPr lang="en-US" sz="1750" b="1" dirty="0">
                <a:solidFill>
                  <a:srgbClr val="1D4ED8"/>
                </a:solidFill>
              </a:rPr>
              <a:t>Building and Stress-Testing an Autonomous-Driving Intersection Simulator</a:t>
            </a:r>
            <a:endParaRPr lang="en-US" sz="1750" dirty="0"/>
          </a:p>
        </p:txBody>
      </p:sp>
      <p:sp>
        <p:nvSpPr>
          <p:cNvPr id="4" name="Shape 2"/>
          <p:cNvSpPr/>
          <p:nvPr/>
        </p:nvSpPr>
        <p:spPr>
          <a:xfrm>
            <a:off x="713232" y="2148840"/>
            <a:ext cx="10744200" cy="0"/>
          </a:xfrm>
          <a:prstGeom prst="line">
            <a:avLst/>
          </a:prstGeom>
          <a:noFill/>
          <a:ln w="13970">
            <a:solidFill>
              <a:srgbClr val="E2E8F0"/>
            </a:solidFill>
            <a:prstDash val="solid"/>
          </a:ln>
        </p:spPr>
      </p:sp>
      <p:sp>
        <p:nvSpPr>
          <p:cNvPr id="5" name="Shape 3"/>
          <p:cNvSpPr/>
          <p:nvPr/>
        </p:nvSpPr>
        <p:spPr>
          <a:xfrm>
            <a:off x="2377440" y="3154680"/>
            <a:ext cx="594360" cy="0"/>
          </a:xfrm>
          <a:prstGeom prst="line">
            <a:avLst/>
          </a:prstGeom>
          <a:noFill/>
          <a:ln w="15240">
            <a:solidFill>
              <a:srgbClr val="64748B"/>
            </a:solidFill>
            <a:prstDash val="solid"/>
            <a:headEnd type="none"/>
            <a:tailEnd type="triangle"/>
          </a:ln>
        </p:spPr>
      </p:sp>
      <p:sp>
        <p:nvSpPr>
          <p:cNvPr id="6" name="Shape 4"/>
          <p:cNvSpPr/>
          <p:nvPr/>
        </p:nvSpPr>
        <p:spPr>
          <a:xfrm>
            <a:off x="4572000" y="3154680"/>
            <a:ext cx="594360" cy="0"/>
          </a:xfrm>
          <a:prstGeom prst="line">
            <a:avLst/>
          </a:prstGeom>
          <a:noFill/>
          <a:ln w="15240">
            <a:solidFill>
              <a:srgbClr val="64748B"/>
            </a:solidFill>
            <a:prstDash val="solid"/>
            <a:headEnd type="none"/>
            <a:tailEnd type="triangle"/>
          </a:ln>
        </p:spPr>
      </p:sp>
      <p:sp>
        <p:nvSpPr>
          <p:cNvPr id="7" name="Shape 5"/>
          <p:cNvSpPr/>
          <p:nvPr/>
        </p:nvSpPr>
        <p:spPr>
          <a:xfrm>
            <a:off x="6766560" y="3154680"/>
            <a:ext cx="594360" cy="0"/>
          </a:xfrm>
          <a:prstGeom prst="line">
            <a:avLst/>
          </a:prstGeom>
          <a:noFill/>
          <a:ln w="15240">
            <a:solidFill>
              <a:srgbClr val="64748B"/>
            </a:solidFill>
            <a:prstDash val="solid"/>
            <a:headEnd type="none"/>
            <a:tailEnd type="triangle"/>
          </a:ln>
        </p:spPr>
      </p:sp>
      <p:sp>
        <p:nvSpPr>
          <p:cNvPr id="8" name="Shape 6"/>
          <p:cNvSpPr/>
          <p:nvPr/>
        </p:nvSpPr>
        <p:spPr>
          <a:xfrm>
            <a:off x="8961120" y="3154680"/>
            <a:ext cx="594360" cy="0"/>
          </a:xfrm>
          <a:prstGeom prst="line">
            <a:avLst/>
          </a:prstGeom>
          <a:noFill/>
          <a:ln w="15240">
            <a:solidFill>
              <a:srgbClr val="64748B"/>
            </a:solidFill>
            <a:prstDash val="solid"/>
            <a:headEnd type="none"/>
            <a:tailEnd type="triangle"/>
          </a:ln>
        </p:spPr>
      </p:sp>
      <p:sp>
        <p:nvSpPr>
          <p:cNvPr id="9" name="Text 7"/>
          <p:cNvSpPr/>
          <p:nvPr/>
        </p:nvSpPr>
        <p:spPr>
          <a:xfrm>
            <a:off x="868680" y="2743200"/>
            <a:ext cx="1554480" cy="8686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30" dirty="0">
                <a:solidFill>
                  <a:srgbClr val="0B132B"/>
                </a:solidFill>
                <a:latin typeface="Aptos" pitchFamily="34" charset="0"/>
                <a:ea typeface="Aptos" pitchFamily="34" charset="-122"/>
                <a:cs typeface="Aptos" pitchFamily="34" charset="-120"/>
              </a:rPr>
              <a:t>Initial goal</a:t>
            </a:r>
            <a:endParaRPr lang="en-US" sz="930" dirty="0"/>
          </a:p>
          <a:p>
            <a:pPr algn="ctr" indent="0" marL="0">
              <a:buNone/>
            </a:pPr>
            <a:r>
              <a:rPr lang="en-US" sz="930" dirty="0">
                <a:solidFill>
                  <a:srgbClr val="0B132B"/>
                </a:solidFill>
                <a:latin typeface="Aptos" pitchFamily="34" charset="0"/>
                <a:ea typeface="Aptos" pitchFamily="34" charset="-122"/>
                <a:cs typeface="Aptos" pitchFamily="34" charset="-120"/>
              </a:rPr>
              <a:t>world model</a:t>
            </a:r>
            <a:endParaRPr lang="en-US" sz="930" dirty="0"/>
          </a:p>
          <a:p>
            <a:pPr algn="ctr" indent="0" marL="0">
              <a:buNone/>
            </a:pPr>
            <a:r>
              <a:rPr lang="en-US" sz="930" dirty="0">
                <a:solidFill>
                  <a:srgbClr val="0B132B"/>
                </a:solidFill>
                <a:latin typeface="Aptos" pitchFamily="34" charset="0"/>
                <a:ea typeface="Aptos" pitchFamily="34" charset="-122"/>
                <a:cs typeface="Aptos" pitchFamily="34" charset="-120"/>
              </a:rPr>
              <a:t>case generation</a:t>
            </a:r>
            <a:endParaRPr lang="en-US" sz="930" dirty="0"/>
          </a:p>
        </p:txBody>
      </p:sp>
      <p:sp>
        <p:nvSpPr>
          <p:cNvPr id="10" name="Text 8"/>
          <p:cNvSpPr/>
          <p:nvPr/>
        </p:nvSpPr>
        <p:spPr>
          <a:xfrm>
            <a:off x="868680" y="3703320"/>
            <a:ext cx="1554480" cy="182880"/>
          </a:xfrm>
          <a:prstGeom prst="rect">
            <a:avLst/>
          </a:prstGeom>
          <a:solidFill>
            <a:srgbClr val="94A3B8"/>
          </a:solidFill>
          <a:ln>
            <a:solidFill>
              <a:srgbClr val="94A3B8">
                <a:alpha val="0"/>
              </a:srgbClr>
            </a:solidFill>
          </a:ln>
        </p:spPr>
        <p:txBody>
          <a:bodyPr wrap="square" lIns="445" tIns="445" rIns="445" bIns="445" rtlCol="0" anchor="ctr"/>
          <a:lstStyle/>
          <a:p>
            <a:pPr algn="ctr" indent="0" marL="0">
              <a:buNone/>
            </a:pPr>
            <a:r>
              <a:rPr lang="en-US" sz="620" b="1" dirty="0">
                <a:solidFill>
                  <a:srgbClr val="FFFFFF"/>
                </a:solidFill>
              </a:rPr>
              <a:t>INCONCLUSIVE</a:t>
            </a:r>
            <a:endParaRPr lang="en-US" sz="620" dirty="0"/>
          </a:p>
        </p:txBody>
      </p:sp>
      <p:sp>
        <p:nvSpPr>
          <p:cNvPr id="11" name="Text 9"/>
          <p:cNvSpPr/>
          <p:nvPr/>
        </p:nvSpPr>
        <p:spPr>
          <a:xfrm>
            <a:off x="3063240" y="2743200"/>
            <a:ext cx="1554480" cy="8686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30" dirty="0">
                <a:solidFill>
                  <a:srgbClr val="0B132B"/>
                </a:solidFill>
                <a:latin typeface="Aptos" pitchFamily="34" charset="0"/>
                <a:ea typeface="Aptos" pitchFamily="34" charset="-122"/>
                <a:cs typeface="Aptos" pitchFamily="34" charset="-120"/>
              </a:rPr>
              <a:t>Pivot</a:t>
            </a:r>
            <a:endParaRPr lang="en-US" sz="930" dirty="0"/>
          </a:p>
          <a:p>
            <a:pPr algn="ctr" indent="0" marL="0">
              <a:buNone/>
            </a:pPr>
            <a:r>
              <a:rPr lang="en-US" sz="930" dirty="0">
                <a:solidFill>
                  <a:srgbClr val="0B132B"/>
                </a:solidFill>
                <a:latin typeface="Aptos" pitchFamily="34" charset="0"/>
                <a:ea typeface="Aptos" pitchFamily="34" charset="-122"/>
                <a:cs typeface="Aptos" pitchFamily="34" charset="-120"/>
              </a:rPr>
              <a:t>controlled simulator</a:t>
            </a:r>
            <a:endParaRPr lang="en-US" sz="930" dirty="0"/>
          </a:p>
          <a:p>
            <a:pPr algn="ctr" indent="0" marL="0">
              <a:buNone/>
            </a:pPr>
            <a:r>
              <a:rPr lang="en-US" sz="930" dirty="0">
                <a:solidFill>
                  <a:srgbClr val="0B132B"/>
                </a:solidFill>
                <a:latin typeface="Aptos" pitchFamily="34" charset="0"/>
                <a:ea typeface="Aptos" pitchFamily="34" charset="-122"/>
                <a:cs typeface="Aptos" pitchFamily="34" charset="-120"/>
              </a:rPr>
              <a:t>+ PPO</a:t>
            </a:r>
            <a:endParaRPr lang="en-US" sz="930" dirty="0"/>
          </a:p>
        </p:txBody>
      </p:sp>
      <p:sp>
        <p:nvSpPr>
          <p:cNvPr id="12" name="Text 10"/>
          <p:cNvSpPr/>
          <p:nvPr/>
        </p:nvSpPr>
        <p:spPr>
          <a:xfrm>
            <a:off x="3063240" y="3703320"/>
            <a:ext cx="1554480" cy="182880"/>
          </a:xfrm>
          <a:prstGeom prst="rect">
            <a:avLst/>
          </a:prstGeom>
          <a:solidFill>
            <a:srgbClr val="0F766E"/>
          </a:solidFill>
          <a:ln>
            <a:solidFill>
              <a:srgbClr val="0F766E">
                <a:alpha val="0"/>
              </a:srgbClr>
            </a:solidFill>
          </a:ln>
        </p:spPr>
        <p:txBody>
          <a:bodyPr wrap="square" lIns="445" tIns="445" rIns="445" bIns="445" rtlCol="0" anchor="ctr"/>
          <a:lstStyle/>
          <a:p>
            <a:pPr algn="ctr" indent="0" marL="0">
              <a:buNone/>
            </a:pPr>
            <a:r>
              <a:rPr lang="en-US" sz="620" b="1" dirty="0">
                <a:solidFill>
                  <a:srgbClr val="FFFFFF"/>
                </a:solidFill>
              </a:rPr>
              <a:t>IMPLEMENTED_AND_TESTED</a:t>
            </a:r>
            <a:endParaRPr lang="en-US" sz="620" dirty="0"/>
          </a:p>
        </p:txBody>
      </p:sp>
      <p:sp>
        <p:nvSpPr>
          <p:cNvPr id="13" name="Text 11"/>
          <p:cNvSpPr/>
          <p:nvPr/>
        </p:nvSpPr>
        <p:spPr>
          <a:xfrm>
            <a:off x="5257800" y="2743200"/>
            <a:ext cx="1554480" cy="868680"/>
          </a:xfrm>
          <a:prstGeom prst="rect">
            <a:avLst/>
          </a:prstGeom>
          <a:solidFill>
            <a:srgbClr val="102A43"/>
          </a:solidFill>
          <a:ln w="12700">
            <a:solidFill>
              <a:srgbClr val="102A43"/>
            </a:solidFill>
          </a:ln>
        </p:spPr>
        <p:txBody>
          <a:bodyPr wrap="square" lIns="1016" tIns="1016" rIns="1016" bIns="1016" rtlCol="0" anchor="ctr">
            <a:normAutofit/>
          </a:bodyPr>
          <a:lstStyle/>
          <a:p>
            <a:pPr algn="ctr" indent="0" marL="0">
              <a:buNone/>
            </a:pPr>
            <a:r>
              <a:rPr lang="en-US" sz="930" b="1" dirty="0">
                <a:solidFill>
                  <a:srgbClr val="FFFFFF"/>
                </a:solidFill>
                <a:latin typeface="Aptos" pitchFamily="34" charset="0"/>
                <a:ea typeface="Aptos" pitchFamily="34" charset="-122"/>
                <a:cs typeface="Aptos" pitchFamily="34" charset="-120"/>
              </a:rPr>
              <a:t>Core system</a:t>
            </a:r>
            <a:endParaRPr lang="en-US" sz="930" dirty="0"/>
          </a:p>
          <a:p>
            <a:pPr algn="ctr" indent="0" marL="0">
              <a:buNone/>
            </a:pPr>
            <a:r>
              <a:rPr lang="en-US" sz="930" b="1" dirty="0">
                <a:solidFill>
                  <a:srgbClr val="FFFFFF"/>
                </a:solidFill>
                <a:latin typeface="Aptos" pitchFamily="34" charset="0"/>
                <a:ea typeface="Aptos" pitchFamily="34" charset="-122"/>
                <a:cs typeface="Aptos" pitchFamily="34" charset="-120"/>
              </a:rPr>
              <a:t>V5 graph policy</a:t>
            </a:r>
            <a:endParaRPr lang="en-US" sz="930" dirty="0"/>
          </a:p>
          <a:p>
            <a:pPr algn="ctr" indent="0" marL="0">
              <a:buNone/>
            </a:pPr>
            <a:r>
              <a:rPr lang="en-US" sz="930" b="1" dirty="0">
                <a:solidFill>
                  <a:srgbClr val="FFFFFF"/>
                </a:solidFill>
                <a:latin typeface="Aptos" pitchFamily="34" charset="0"/>
                <a:ea typeface="Aptos" pitchFamily="34" charset="-122"/>
                <a:cs typeface="Aptos" pitchFamily="34" charset="-120"/>
              </a:rPr>
              <a:t>qualified scope</a:t>
            </a:r>
            <a:endParaRPr lang="en-US" sz="930" dirty="0"/>
          </a:p>
        </p:txBody>
      </p:sp>
      <p:sp>
        <p:nvSpPr>
          <p:cNvPr id="14" name="Text 12"/>
          <p:cNvSpPr/>
          <p:nvPr/>
        </p:nvSpPr>
        <p:spPr>
          <a:xfrm>
            <a:off x="5257800" y="3703320"/>
            <a:ext cx="1554480" cy="182880"/>
          </a:xfrm>
          <a:prstGeom prst="rect">
            <a:avLst/>
          </a:prstGeom>
          <a:solidFill>
            <a:srgbClr val="059669"/>
          </a:solidFill>
          <a:ln>
            <a:solidFill>
              <a:srgbClr val="059669">
                <a:alpha val="0"/>
              </a:srgbClr>
            </a:solidFill>
          </a:ln>
        </p:spPr>
        <p:txBody>
          <a:bodyPr wrap="square" lIns="445" tIns="445" rIns="445" bIns="445" rtlCol="0" anchor="ctr"/>
          <a:lstStyle/>
          <a:p>
            <a:pPr algn="ctr" indent="0" marL="0">
              <a:buNone/>
            </a:pPr>
            <a:r>
              <a:rPr lang="en-US" sz="620" b="1" dirty="0">
                <a:solidFill>
                  <a:srgbClr val="FFFFFF"/>
                </a:solidFill>
              </a:rPr>
              <a:t>PRODUCTION</a:t>
            </a:r>
            <a:endParaRPr lang="en-US" sz="620" dirty="0"/>
          </a:p>
        </p:txBody>
      </p:sp>
      <p:sp>
        <p:nvSpPr>
          <p:cNvPr id="15" name="Text 13"/>
          <p:cNvSpPr/>
          <p:nvPr/>
        </p:nvSpPr>
        <p:spPr>
          <a:xfrm>
            <a:off x="7452360" y="2743200"/>
            <a:ext cx="1554480" cy="8686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30" dirty="0">
                <a:solidFill>
                  <a:srgbClr val="0B132B"/>
                </a:solidFill>
                <a:latin typeface="Aptos" pitchFamily="34" charset="0"/>
                <a:ea typeface="Aptos" pitchFamily="34" charset="-122"/>
                <a:cs typeface="Aptos" pitchFamily="34" charset="-120"/>
              </a:rPr>
              <a:t>Stress audits</a:t>
            </a:r>
            <a:endParaRPr lang="en-US" sz="930" dirty="0"/>
          </a:p>
          <a:p>
            <a:pPr algn="ctr" indent="0" marL="0">
              <a:buNone/>
            </a:pPr>
            <a:r>
              <a:rPr lang="en-US" sz="930" dirty="0">
                <a:solidFill>
                  <a:srgbClr val="0B132B"/>
                </a:solidFill>
                <a:latin typeface="Aptos" pitchFamily="34" charset="0"/>
                <a:ea typeface="Aptos" pitchFamily="34" charset="-122"/>
                <a:cs typeface="Aptos" pitchFamily="34" charset="-120"/>
              </a:rPr>
              <a:t>pedestrians</a:t>
            </a:r>
            <a:endParaRPr lang="en-US" sz="930" dirty="0"/>
          </a:p>
          <a:p>
            <a:pPr algn="ctr" indent="0" marL="0">
              <a:buNone/>
            </a:pPr>
            <a:r>
              <a:rPr lang="en-US" sz="930" dirty="0">
                <a:solidFill>
                  <a:srgbClr val="0B132B"/>
                </a:solidFill>
                <a:latin typeface="Aptos" pitchFamily="34" charset="0"/>
                <a:ea typeface="Aptos" pitchFamily="34" charset="-122"/>
                <a:cs typeface="Aptos" pitchFamily="34" charset="-120"/>
              </a:rPr>
              <a:t>longitudinal limits</a:t>
            </a:r>
            <a:endParaRPr lang="en-US" sz="930" dirty="0"/>
          </a:p>
        </p:txBody>
      </p:sp>
      <p:sp>
        <p:nvSpPr>
          <p:cNvPr id="16" name="Text 14"/>
          <p:cNvSpPr/>
          <p:nvPr/>
        </p:nvSpPr>
        <p:spPr>
          <a:xfrm>
            <a:off x="7452360" y="3703320"/>
            <a:ext cx="1554480" cy="182880"/>
          </a:xfrm>
          <a:prstGeom prst="rect">
            <a:avLst/>
          </a:prstGeom>
          <a:solidFill>
            <a:srgbClr val="64748B"/>
          </a:solidFill>
          <a:ln>
            <a:solidFill>
              <a:srgbClr val="64748B">
                <a:alpha val="0"/>
              </a:srgbClr>
            </a:solidFill>
          </a:ln>
        </p:spPr>
        <p:txBody>
          <a:bodyPr wrap="square" lIns="445" tIns="445" rIns="445" bIns="445" rtlCol="0" anchor="ctr"/>
          <a:lstStyle/>
          <a:p>
            <a:pPr algn="ctr" indent="0" marL="0">
              <a:buNone/>
            </a:pPr>
            <a:r>
              <a:rPr lang="en-US" sz="620" b="1" dirty="0">
                <a:solidFill>
                  <a:srgbClr val="FFFFFF"/>
                </a:solidFill>
              </a:rPr>
              <a:t>DIAGNOSTIC_ONLY</a:t>
            </a:r>
            <a:endParaRPr lang="en-US" sz="620" dirty="0"/>
          </a:p>
        </p:txBody>
      </p:sp>
      <p:sp>
        <p:nvSpPr>
          <p:cNvPr id="17" name="Text 15"/>
          <p:cNvSpPr/>
          <p:nvPr/>
        </p:nvSpPr>
        <p:spPr>
          <a:xfrm>
            <a:off x="9646920" y="2743200"/>
            <a:ext cx="1554480" cy="8686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30" dirty="0">
                <a:solidFill>
                  <a:srgbClr val="0B132B"/>
                </a:solidFill>
                <a:latin typeface="Aptos" pitchFamily="34" charset="0"/>
                <a:ea typeface="Aptos" pitchFamily="34" charset="-122"/>
                <a:cs typeface="Aptos" pitchFamily="34" charset="-120"/>
              </a:rPr>
              <a:t>Lane branch</a:t>
            </a:r>
            <a:endParaRPr lang="en-US" sz="930" dirty="0"/>
          </a:p>
          <a:p>
            <a:pPr algn="ctr" indent="0" marL="0">
              <a:buNone/>
            </a:pPr>
            <a:r>
              <a:rPr lang="en-US" sz="930" dirty="0">
                <a:solidFill>
                  <a:srgbClr val="0B132B"/>
                </a:solidFill>
                <a:latin typeface="Aptos" pitchFamily="34" charset="0"/>
                <a:ea typeface="Aptos" pitchFamily="34" charset="-122"/>
                <a:cs typeface="Aptos" pitchFamily="34" charset="-120"/>
              </a:rPr>
              <a:t>V6 merge</a:t>
            </a:r>
            <a:endParaRPr lang="en-US" sz="930" dirty="0"/>
          </a:p>
          <a:p>
            <a:pPr algn="ctr" indent="0" marL="0">
              <a:buNone/>
            </a:pPr>
            <a:r>
              <a:rPr lang="en-US" sz="930" dirty="0">
                <a:solidFill>
                  <a:srgbClr val="0B132B"/>
                </a:solidFill>
                <a:latin typeface="Aptos" pitchFamily="34" charset="0"/>
                <a:ea typeface="Aptos" pitchFamily="34" charset="-122"/>
                <a:cs typeface="Aptos" pitchFamily="34" charset="-120"/>
              </a:rPr>
              <a:t>negative result</a:t>
            </a:r>
            <a:endParaRPr lang="en-US" sz="930" dirty="0"/>
          </a:p>
        </p:txBody>
      </p:sp>
      <p:sp>
        <p:nvSpPr>
          <p:cNvPr id="18" name="Text 16"/>
          <p:cNvSpPr/>
          <p:nvPr/>
        </p:nvSpPr>
        <p:spPr>
          <a:xfrm>
            <a:off x="9646920" y="3703320"/>
            <a:ext cx="155448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620" b="1" dirty="0">
                <a:solidFill>
                  <a:srgbClr val="FFFFFF"/>
                </a:solidFill>
              </a:rPr>
              <a:t>REJECTED_CANDIDATE</a:t>
            </a:r>
            <a:endParaRPr lang="en-US" sz="620" dirty="0"/>
          </a:p>
        </p:txBody>
      </p:sp>
      <p:sp>
        <p:nvSpPr>
          <p:cNvPr id="19" name="Text 17"/>
          <p:cNvSpPr/>
          <p:nvPr/>
        </p:nvSpPr>
        <p:spPr>
          <a:xfrm>
            <a:off x="777240" y="4663440"/>
            <a:ext cx="7863840" cy="1188720"/>
          </a:xfrm>
          <a:prstGeom prst="rect">
            <a:avLst/>
          </a:prstGeom>
          <a:noFill/>
          <a:ln/>
        </p:spPr>
        <p:txBody>
          <a:bodyPr wrap="square" lIns="1016" tIns="1016" rIns="1016" bIns="1016" rtlCol="0" anchor="t">
            <a:normAutofit/>
          </a:bodyPr>
          <a:lstStyle/>
          <a:p>
            <a:pPr indent="0" marL="0">
              <a:buNone/>
            </a:pPr>
            <a:r>
              <a:rPr lang="en-US" sz="1450" dirty="0">
                <a:solidFill>
                  <a:srgbClr val="0B132B"/>
                </a:solidFill>
                <a:latin typeface="Aptos" pitchFamily="34" charset="0"/>
                <a:ea typeface="Aptos" pitchFamily="34" charset="-122"/>
                <a:cs typeface="Aptos" pitchFamily="34" charset="-120"/>
              </a:rPr>
              <a:t>• [PRODUCTION] V5 is the accepted simulator checkpoint, not road deployment.</a:t>
            </a:r>
            <a:endParaRPr lang="en-US" sz="1450" dirty="0"/>
          </a:p>
          <a:p>
            <a:pPr indent="0" marL="0">
              <a:buNone/>
            </a:pPr>
            <a:r>
              <a:rPr lang="en-US" sz="1450" dirty="0">
                <a:solidFill>
                  <a:srgbClr val="0B132B"/>
                </a:solidFill>
                <a:latin typeface="Aptos" pitchFamily="34" charset="0"/>
                <a:ea typeface="Aptos" pitchFamily="34" charset="-122"/>
                <a:cs typeface="Aptos" pitchFamily="34" charset="-120"/>
              </a:rPr>
              <a:t>• [REJECTED_CANDIDATE] Later V5.1/V6 candidates were not promoted.</a:t>
            </a:r>
            <a:endParaRPr lang="en-US" sz="1450" dirty="0"/>
          </a:p>
          <a:p>
            <a:pPr indent="0" marL="0">
              <a:buNone/>
            </a:pPr>
            <a:r>
              <a:rPr lang="en-US" sz="1450" dirty="0">
                <a:solidFill>
                  <a:srgbClr val="0B132B"/>
                </a:solidFill>
                <a:latin typeface="Aptos" pitchFamily="34" charset="0"/>
                <a:ea typeface="Aptos" pitchFamily="34" charset="-122"/>
                <a:cs typeface="Aptos" pitchFamily="34" charset="-120"/>
              </a:rPr>
              <a:t>• [SCRIPTED_ONLY] Merge and pocket demos validate infrastructure, not learned behavior.</a:t>
            </a:r>
            <a:endParaRPr lang="en-US" sz="1450" dirty="0"/>
          </a:p>
        </p:txBody>
      </p:sp>
      <p:sp>
        <p:nvSpPr>
          <p:cNvPr id="20" name="Shape 18"/>
          <p:cNvSpPr/>
          <p:nvPr/>
        </p:nvSpPr>
        <p:spPr>
          <a:xfrm>
            <a:off x="8732520" y="5095951"/>
            <a:ext cx="2381098" cy="0"/>
          </a:xfrm>
          <a:prstGeom prst="line">
            <a:avLst/>
          </a:prstGeom>
          <a:noFill/>
          <a:ln w="267716">
            <a:solidFill>
              <a:srgbClr val="CBD5E1"/>
            </a:solidFill>
            <a:prstDash val="solid"/>
          </a:ln>
        </p:spPr>
      </p:sp>
      <p:sp>
        <p:nvSpPr>
          <p:cNvPr id="21" name="Shape 19"/>
          <p:cNvSpPr/>
          <p:nvPr/>
        </p:nvSpPr>
        <p:spPr>
          <a:xfrm>
            <a:off x="9923069" y="3990442"/>
            <a:ext cx="0" cy="2211019"/>
          </a:xfrm>
          <a:prstGeom prst="line">
            <a:avLst/>
          </a:prstGeom>
          <a:noFill/>
          <a:ln w="267716">
            <a:solidFill>
              <a:srgbClr val="CBD5E1"/>
            </a:solidFill>
            <a:prstDash val="solid"/>
          </a:ln>
        </p:spPr>
      </p:sp>
      <p:sp>
        <p:nvSpPr>
          <p:cNvPr id="22" name="Shape 20"/>
          <p:cNvSpPr/>
          <p:nvPr/>
        </p:nvSpPr>
        <p:spPr>
          <a:xfrm>
            <a:off x="8732520" y="5095951"/>
            <a:ext cx="2381098" cy="0"/>
          </a:xfrm>
          <a:prstGeom prst="line">
            <a:avLst/>
          </a:prstGeom>
          <a:noFill/>
          <a:ln w="15240">
            <a:solidFill>
              <a:srgbClr val="F8FAFC"/>
            </a:solidFill>
            <a:prstDash val="solid"/>
          </a:ln>
        </p:spPr>
      </p:sp>
      <p:sp>
        <p:nvSpPr>
          <p:cNvPr id="23" name="Shape 21"/>
          <p:cNvSpPr/>
          <p:nvPr/>
        </p:nvSpPr>
        <p:spPr>
          <a:xfrm>
            <a:off x="9923069" y="3990442"/>
            <a:ext cx="0" cy="2211019"/>
          </a:xfrm>
          <a:prstGeom prst="line">
            <a:avLst/>
          </a:prstGeom>
          <a:noFill/>
          <a:ln w="15240">
            <a:solidFill>
              <a:srgbClr val="F8FAFC"/>
            </a:solidFill>
            <a:prstDash val="solid"/>
          </a:ln>
        </p:spPr>
      </p:sp>
      <p:sp>
        <p:nvSpPr>
          <p:cNvPr id="24" name="Shape 22"/>
          <p:cNvSpPr/>
          <p:nvPr/>
        </p:nvSpPr>
        <p:spPr>
          <a:xfrm>
            <a:off x="9923069" y="4585716"/>
            <a:ext cx="0" cy="198425"/>
          </a:xfrm>
          <a:prstGeom prst="line">
            <a:avLst/>
          </a:prstGeom>
          <a:noFill/>
          <a:ln w="19050">
            <a:solidFill>
              <a:srgbClr val="0B132B"/>
            </a:solidFill>
            <a:prstDash val="solid"/>
          </a:ln>
        </p:spPr>
      </p:sp>
      <p:sp>
        <p:nvSpPr>
          <p:cNvPr id="25" name="Shape 23"/>
          <p:cNvSpPr/>
          <p:nvPr/>
        </p:nvSpPr>
        <p:spPr>
          <a:xfrm>
            <a:off x="9923069" y="5407762"/>
            <a:ext cx="0" cy="198425"/>
          </a:xfrm>
          <a:prstGeom prst="line">
            <a:avLst/>
          </a:prstGeom>
          <a:noFill/>
          <a:ln w="19050">
            <a:solidFill>
              <a:srgbClr val="0B132B"/>
            </a:solidFill>
            <a:prstDash val="solid"/>
          </a:ln>
        </p:spPr>
      </p:sp>
      <p:sp>
        <p:nvSpPr>
          <p:cNvPr id="26" name="Shape 24"/>
          <p:cNvSpPr/>
          <p:nvPr/>
        </p:nvSpPr>
        <p:spPr>
          <a:xfrm>
            <a:off x="9412834" y="5095951"/>
            <a:ext cx="198425" cy="0"/>
          </a:xfrm>
          <a:prstGeom prst="line">
            <a:avLst/>
          </a:prstGeom>
          <a:noFill/>
          <a:ln w="19050">
            <a:solidFill>
              <a:srgbClr val="0B132B"/>
            </a:solidFill>
            <a:prstDash val="solid"/>
          </a:ln>
        </p:spPr>
      </p:sp>
      <p:sp>
        <p:nvSpPr>
          <p:cNvPr id="27" name="Shape 25"/>
          <p:cNvSpPr/>
          <p:nvPr/>
        </p:nvSpPr>
        <p:spPr>
          <a:xfrm>
            <a:off x="10234879" y="5095951"/>
            <a:ext cx="198425" cy="0"/>
          </a:xfrm>
          <a:prstGeom prst="line">
            <a:avLst/>
          </a:prstGeom>
          <a:noFill/>
          <a:ln w="19050">
            <a:solidFill>
              <a:srgbClr val="0B132B"/>
            </a:solidFill>
            <a:prstDash val="solid"/>
          </a:ln>
        </p:spPr>
      </p:sp>
      <p:sp>
        <p:nvSpPr>
          <p:cNvPr id="28" name="Text 26"/>
          <p:cNvSpPr/>
          <p:nvPr/>
        </p:nvSpPr>
        <p:spPr>
          <a:xfrm>
            <a:off x="9412834" y="4971227"/>
            <a:ext cx="181417" cy="102047"/>
          </a:xfrm>
          <a:prstGeom prst="rect">
            <a:avLst/>
          </a:prstGeom>
          <a:solidFill>
            <a:srgbClr val="1D4ED8"/>
          </a:solidFill>
          <a:ln>
            <a:solidFill>
              <a:srgbClr val="1D4ED8">
                <a:alpha val="0"/>
              </a:srgbClr>
            </a:solidFill>
          </a:ln>
        </p:spPr>
        <p:txBody>
          <a:bodyPr wrap="square" rtlCol="0" anchor="ctr"/>
          <a:lstStyle/>
          <a:p>
            <a:pPr indent="0" marL="0">
              <a:buNone/>
            </a:pPr>
            <a:endParaRPr lang="en-US" dirty="0"/>
          </a:p>
        </p:txBody>
      </p:sp>
      <p:sp>
        <p:nvSpPr>
          <p:cNvPr id="29" name="Text 27"/>
          <p:cNvSpPr/>
          <p:nvPr/>
        </p:nvSpPr>
        <p:spPr>
          <a:xfrm>
            <a:off x="10433304" y="5146975"/>
            <a:ext cx="181417" cy="102047"/>
          </a:xfrm>
          <a:prstGeom prst="rect">
            <a:avLst/>
          </a:prstGeom>
          <a:solidFill>
            <a:srgbClr val="059669"/>
          </a:solidFill>
          <a:ln>
            <a:solidFill>
              <a:srgbClr val="059669">
                <a:alpha val="0"/>
              </a:srgbClr>
            </a:solidFill>
          </a:ln>
        </p:spPr>
        <p:txBody>
          <a:bodyPr wrap="square" rtlCol="0" anchor="ctr"/>
          <a:lstStyle/>
          <a:p>
            <a:pPr indent="0" marL="0">
              <a:buNone/>
            </a:pPr>
            <a:endParaRPr lang="en-US" dirty="0"/>
          </a:p>
        </p:txBody>
      </p:sp>
      <p:sp>
        <p:nvSpPr>
          <p:cNvPr id="30" name="Text 28"/>
          <p:cNvSpPr/>
          <p:nvPr/>
        </p:nvSpPr>
        <p:spPr>
          <a:xfrm>
            <a:off x="9798345" y="4529023"/>
            <a:ext cx="181417" cy="102047"/>
          </a:xfrm>
          <a:prstGeom prst="rect">
            <a:avLst/>
          </a:prstGeom>
          <a:solidFill>
            <a:srgbClr val="F97316"/>
          </a:solidFill>
          <a:ln>
            <a:solidFill>
              <a:srgbClr val="F97316">
                <a:alpha val="0"/>
              </a:srgbClr>
            </a:solidFill>
          </a:ln>
        </p:spPr>
        <p:txBody>
          <a:bodyPr wrap="square" rtlCol="0" anchor="ctr"/>
          <a:lstStyle/>
          <a:p>
            <a:pPr indent="0" marL="0">
              <a:buNone/>
            </a:pPr>
            <a:endParaRPr lang="en-US" dirty="0"/>
          </a:p>
        </p:txBody>
      </p:sp>
      <p:sp>
        <p:nvSpPr>
          <p:cNvPr id="31" name="Text 29"/>
          <p:cNvSpPr/>
          <p:nvPr/>
        </p:nvSpPr>
        <p:spPr>
          <a:xfrm>
            <a:off x="10025116" y="5662879"/>
            <a:ext cx="181417" cy="102047"/>
          </a:xfrm>
          <a:prstGeom prst="rect">
            <a:avLst/>
          </a:prstGeom>
          <a:solidFill>
            <a:srgbClr val="7C3AED"/>
          </a:solidFill>
          <a:ln>
            <a:solidFill>
              <a:srgbClr val="7C3AED">
                <a:alpha val="0"/>
              </a:srgbClr>
            </a:solidFill>
          </a:ln>
        </p:spPr>
        <p:txBody>
          <a:bodyPr wrap="square" rtlCol="0" anchor="ctr"/>
          <a:lstStyle/>
          <a:p>
            <a:pPr indent="0" marL="0">
              <a:buNone/>
            </a:pPr>
            <a:endParaRPr lang="en-US" dirty="0"/>
          </a:p>
        </p:txBody>
      </p:sp>
      <p:sp>
        <p:nvSpPr>
          <p:cNvPr id="32" name="Text 30"/>
          <p:cNvSpPr/>
          <p:nvPr/>
        </p:nvSpPr>
        <p:spPr>
          <a:xfrm>
            <a:off x="9208740" y="4534692"/>
            <a:ext cx="73701" cy="73701"/>
          </a:xfrm>
          <a:prstGeom prst="rect">
            <a:avLst/>
          </a:prstGeom>
          <a:solidFill>
            <a:srgbClr val="DC2626"/>
          </a:solidFill>
          <a:ln>
            <a:solidFill>
              <a:srgbClr val="DC2626">
                <a:alpha val="0"/>
              </a:srgbClr>
            </a:solidFill>
          </a:ln>
        </p:spPr>
        <p:txBody>
          <a:bodyPr wrap="square" rtlCol="0" anchor="ctr"/>
          <a:lstStyle/>
          <a:p>
            <a:pPr indent="0" marL="0">
              <a:buNone/>
            </a:pPr>
            <a:endParaRPr lang="en-US" dirty="0"/>
          </a:p>
        </p:txBody>
      </p:sp>
      <p:sp>
        <p:nvSpPr>
          <p:cNvPr id="33" name="Text 31"/>
          <p:cNvSpPr/>
          <p:nvPr/>
        </p:nvSpPr>
        <p:spPr>
          <a:xfrm>
            <a:off x="8987638" y="4415638"/>
            <a:ext cx="340157" cy="90708"/>
          </a:xfrm>
          <a:prstGeom prst="rect">
            <a:avLst/>
          </a:prstGeom>
          <a:noFill/>
          <a:ln/>
        </p:spPr>
        <p:txBody>
          <a:bodyPr wrap="square" lIns="0" tIns="0" rIns="0" bIns="0" rtlCol="0" anchor="ctr"/>
          <a:lstStyle/>
          <a:p>
            <a:pPr algn="ctr" indent="0" marL="0">
              <a:buNone/>
            </a:pPr>
            <a:r>
              <a:rPr lang="en-US" sz="403" b="1" dirty="0">
                <a:solidFill>
                  <a:srgbClr val="DC2626"/>
                </a:solidFill>
              </a:rPr>
              <a:t>WALK</a:t>
            </a:r>
            <a:endParaRPr lang="en-US" sz="403" dirty="0"/>
          </a:p>
        </p:txBody>
      </p:sp>
      <p:sp>
        <p:nvSpPr>
          <p:cNvPr id="34" name="Text 32"/>
          <p:cNvSpPr/>
          <p:nvPr/>
        </p:nvSpPr>
        <p:spPr>
          <a:xfrm>
            <a:off x="8902598" y="6116422"/>
            <a:ext cx="2097634" cy="102047"/>
          </a:xfrm>
          <a:prstGeom prst="rect">
            <a:avLst/>
          </a:prstGeom>
          <a:noFill/>
          <a:ln/>
        </p:spPr>
        <p:txBody>
          <a:bodyPr wrap="square" lIns="0" tIns="0" rIns="0" bIns="0" rtlCol="0" anchor="ctr"/>
          <a:lstStyle/>
          <a:p>
            <a:pPr algn="ctr" indent="0" marL="0">
              <a:buNone/>
            </a:pPr>
            <a:r>
              <a:rPr lang="en-US" sz="465" dirty="0">
                <a:solidFill>
                  <a:srgbClr val="475569"/>
                </a:solidFill>
              </a:rPr>
              <a:t>traffic signals + pedestrians + queues</a:t>
            </a:r>
            <a:endParaRPr lang="en-US" sz="465" dirty="0"/>
          </a:p>
        </p:txBody>
      </p:sp>
      <p:sp>
        <p:nvSpPr>
          <p:cNvPr id="35" name="Text 33"/>
          <p:cNvSpPr/>
          <p:nvPr/>
        </p:nvSpPr>
        <p:spPr>
          <a:xfrm>
            <a:off x="749808" y="6263640"/>
            <a:ext cx="4297680" cy="201168"/>
          </a:xfrm>
          <a:prstGeom prst="rect">
            <a:avLst/>
          </a:prstGeom>
          <a:noFill/>
          <a:ln/>
        </p:spPr>
        <p:txBody>
          <a:bodyPr wrap="square" lIns="0" tIns="0" rIns="0" bIns="0" rtlCol="0" anchor="ctr"/>
          <a:lstStyle/>
          <a:p>
            <a:pPr indent="0" marL="0">
              <a:buNone/>
            </a:pPr>
            <a:r>
              <a:rPr lang="en-US" sz="920" dirty="0">
                <a:solidFill>
                  <a:srgbClr val="64748B"/>
                </a:solidFill>
              </a:rPr>
              <a:t>15-minute technical research presentation</a:t>
            </a:r>
            <a:endParaRPr lang="en-US" sz="920" dirty="0"/>
          </a:p>
        </p:txBody>
      </p:sp>
      <p:sp>
        <p:nvSpPr>
          <p:cNvPr id="36" name="Text 34"/>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MAIN TALK</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Introduction: the claim is deliberately bounded</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2</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The contribution is a rigorous, auditable simulator-policy program—not a claim of solved autonomous driving.</a:t>
            </a:r>
            <a:endParaRPr lang="en-US" sz="1230" dirty="0"/>
          </a:p>
        </p:txBody>
      </p:sp>
      <p:sp>
        <p:nvSpPr>
          <p:cNvPr id="7" name="Text 5"/>
          <p:cNvSpPr/>
          <p:nvPr/>
        </p:nvSpPr>
        <p:spPr>
          <a:xfrm>
            <a:off x="594360" y="1325880"/>
            <a:ext cx="1280160" cy="182880"/>
          </a:xfrm>
          <a:prstGeom prst="rect">
            <a:avLst/>
          </a:prstGeom>
          <a:solidFill>
            <a:srgbClr val="0F766E"/>
          </a:solidFill>
          <a:ln>
            <a:solidFill>
              <a:srgbClr val="0F766E">
                <a:alpha val="0"/>
              </a:srgbClr>
            </a:solidFill>
          </a:ln>
        </p:spPr>
        <p:txBody>
          <a:bodyPr wrap="square" lIns="445" tIns="445" rIns="445" bIns="445" rtlCol="0" anchor="ctr"/>
          <a:lstStyle/>
          <a:p>
            <a:pPr algn="ctr" indent="0" marL="0">
              <a:buNone/>
            </a:pPr>
            <a:r>
              <a:rPr lang="en-US" sz="720" b="1" dirty="0">
                <a:solidFill>
                  <a:srgbClr val="FFFFFF"/>
                </a:solidFill>
              </a:rPr>
              <a:t>CLAIM DISCIPLINE</a:t>
            </a:r>
            <a:endParaRPr lang="en-US" sz="720" dirty="0"/>
          </a:p>
        </p:txBody>
      </p:sp>
      <p:sp>
        <p:nvSpPr>
          <p:cNvPr id="8" name="Text 6"/>
          <p:cNvSpPr/>
          <p:nvPr/>
        </p:nvSpPr>
        <p:spPr>
          <a:xfrm>
            <a:off x="594360" y="1627632"/>
            <a:ext cx="5120640" cy="3291840"/>
          </a:xfrm>
          <a:prstGeom prst="rect">
            <a:avLst/>
          </a:prstGeom>
          <a:noFill/>
          <a:ln/>
        </p:spPr>
        <p:txBody>
          <a:bodyPr wrap="square" lIns="1016" tIns="1016" rIns="1016" bIns="1016" rtlCol="0" anchor="t">
            <a:normAutofit/>
          </a:bodyPr>
          <a:lstStyle/>
          <a:p>
            <a:pPr indent="0" marL="0">
              <a:buNone/>
            </a:pPr>
            <a:r>
              <a:rPr lang="en-US" sz="1550" dirty="0">
                <a:solidFill>
                  <a:srgbClr val="0B132B"/>
                </a:solidFill>
                <a:latin typeface="Aptos" pitchFamily="34" charset="0"/>
                <a:ea typeface="Aptos" pitchFamily="34" charset="-122"/>
                <a:cs typeface="Aptos" pitchFamily="34" charset="-120"/>
              </a:rPr>
              <a:t>• Every major result is labeled by status: production, training-only, scripted-only, rejected, diagnostic, planned.</a:t>
            </a:r>
            <a:endParaRPr lang="en-US" sz="1550" dirty="0"/>
          </a:p>
          <a:p>
            <a:pPr indent="0" marL="0">
              <a:buNone/>
            </a:pPr>
            <a:r>
              <a:rPr lang="en-US" sz="1550" dirty="0">
                <a:solidFill>
                  <a:srgbClr val="0B132B"/>
                </a:solidFill>
                <a:latin typeface="Aptos" pitchFamily="34" charset="0"/>
                <a:ea typeface="Aptos" pitchFamily="34" charset="-122"/>
                <a:cs typeface="Aptos" pitchFamily="34" charset="-120"/>
              </a:rPr>
              <a:t>• Repository-confirmed results are separated from user-provided narrative and inconclusive history.</a:t>
            </a:r>
            <a:endParaRPr lang="en-US" sz="1550" dirty="0"/>
          </a:p>
          <a:p>
            <a:pPr indent="0" marL="0">
              <a:buNone/>
            </a:pPr>
            <a:r>
              <a:rPr lang="en-US" sz="1550" dirty="0">
                <a:solidFill>
                  <a:srgbClr val="0B132B"/>
                </a:solidFill>
                <a:latin typeface="Aptos" pitchFamily="34" charset="0"/>
                <a:ea typeface="Aptos" pitchFamily="34" charset="-122"/>
                <a:cs typeface="Aptos" pitchFamily="34" charset="-120"/>
              </a:rPr>
              <a:t>• Numerical claims are limited to handoff files and verified result/status matrices.</a:t>
            </a:r>
            <a:endParaRPr lang="en-US" sz="1550" dirty="0"/>
          </a:p>
          <a:p>
            <a:pPr indent="0" marL="0">
              <a:buNone/>
            </a:pPr>
            <a:r>
              <a:rPr lang="en-US" sz="1550" dirty="0">
                <a:solidFill>
                  <a:srgbClr val="0B132B"/>
                </a:solidFill>
                <a:latin typeface="Aptos" pitchFamily="34" charset="0"/>
                <a:ea typeface="Aptos" pitchFamily="34" charset="-122"/>
                <a:cs typeface="Aptos" pitchFamily="34" charset="-120"/>
              </a:rPr>
              <a:t>• Negative results are treated as controlled experiments that localize limits.</a:t>
            </a:r>
            <a:endParaRPr lang="en-US" sz="1550" dirty="0"/>
          </a:p>
        </p:txBody>
      </p:sp>
      <p:sp>
        <p:nvSpPr>
          <p:cNvPr id="9" name="Text 7"/>
          <p:cNvSpPr/>
          <p:nvPr/>
        </p:nvSpPr>
        <p:spPr>
          <a:xfrm>
            <a:off x="6492240" y="1325880"/>
            <a:ext cx="4480560" cy="32004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Status labels used as evidence qualifiers</a:t>
            </a:r>
            <a:endParaRPr lang="en-US" sz="1200" dirty="0"/>
          </a:p>
        </p:txBody>
      </p:sp>
      <p:sp>
        <p:nvSpPr>
          <p:cNvPr id="10" name="Text 8"/>
          <p:cNvSpPr/>
          <p:nvPr/>
        </p:nvSpPr>
        <p:spPr>
          <a:xfrm>
            <a:off x="6492240" y="1892808"/>
            <a:ext cx="2057400" cy="182880"/>
          </a:xfrm>
          <a:prstGeom prst="rect">
            <a:avLst/>
          </a:prstGeom>
          <a:solidFill>
            <a:srgbClr val="059669"/>
          </a:solidFill>
          <a:ln>
            <a:solidFill>
              <a:srgbClr val="059669">
                <a:alpha val="0"/>
              </a:srgbClr>
            </a:solidFill>
          </a:ln>
        </p:spPr>
        <p:txBody>
          <a:bodyPr wrap="square" lIns="445" tIns="445" rIns="445" bIns="445" rtlCol="0" anchor="ctr"/>
          <a:lstStyle/>
          <a:p>
            <a:pPr algn="ctr" indent="0" marL="0">
              <a:buNone/>
            </a:pPr>
            <a:r>
              <a:rPr lang="en-US" sz="680" b="1" dirty="0">
                <a:solidFill>
                  <a:srgbClr val="FFFFFF"/>
                </a:solidFill>
              </a:rPr>
              <a:t>PRODUCTION</a:t>
            </a:r>
            <a:endParaRPr lang="en-US" sz="680" dirty="0"/>
          </a:p>
        </p:txBody>
      </p:sp>
      <p:sp>
        <p:nvSpPr>
          <p:cNvPr id="11" name="Text 9"/>
          <p:cNvSpPr/>
          <p:nvPr/>
        </p:nvSpPr>
        <p:spPr>
          <a:xfrm>
            <a:off x="8823960" y="1892808"/>
            <a:ext cx="2057400" cy="182880"/>
          </a:xfrm>
          <a:prstGeom prst="rect">
            <a:avLst/>
          </a:prstGeom>
          <a:solidFill>
            <a:srgbClr val="7C3AED"/>
          </a:solidFill>
          <a:ln>
            <a:solidFill>
              <a:srgbClr val="7C3AED">
                <a:alpha val="0"/>
              </a:srgbClr>
            </a:solidFill>
          </a:ln>
        </p:spPr>
        <p:txBody>
          <a:bodyPr wrap="square" lIns="445" tIns="445" rIns="445" bIns="445" rtlCol="0" anchor="ctr"/>
          <a:lstStyle/>
          <a:p>
            <a:pPr algn="ctr" indent="0" marL="0">
              <a:buNone/>
            </a:pPr>
            <a:r>
              <a:rPr lang="en-US" sz="680" b="1" dirty="0">
                <a:solidFill>
                  <a:srgbClr val="FFFFFF"/>
                </a:solidFill>
              </a:rPr>
              <a:t>TRAINING_ONLY</a:t>
            </a:r>
            <a:endParaRPr lang="en-US" sz="680" dirty="0"/>
          </a:p>
        </p:txBody>
      </p:sp>
      <p:sp>
        <p:nvSpPr>
          <p:cNvPr id="12" name="Text 10"/>
          <p:cNvSpPr/>
          <p:nvPr/>
        </p:nvSpPr>
        <p:spPr>
          <a:xfrm>
            <a:off x="6492240" y="2377440"/>
            <a:ext cx="2057400" cy="182880"/>
          </a:xfrm>
          <a:prstGeom prst="rect">
            <a:avLst/>
          </a:prstGeom>
          <a:solidFill>
            <a:srgbClr val="F97316"/>
          </a:solidFill>
          <a:ln>
            <a:solidFill>
              <a:srgbClr val="F97316">
                <a:alpha val="0"/>
              </a:srgbClr>
            </a:solidFill>
          </a:ln>
        </p:spPr>
        <p:txBody>
          <a:bodyPr wrap="square" lIns="445" tIns="445" rIns="445" bIns="445" rtlCol="0" anchor="ctr"/>
          <a:lstStyle/>
          <a:p>
            <a:pPr algn="ctr" indent="0" marL="0">
              <a:buNone/>
            </a:pPr>
            <a:r>
              <a:rPr lang="en-US" sz="680" b="1" dirty="0">
                <a:solidFill>
                  <a:srgbClr val="FFFFFF"/>
                </a:solidFill>
              </a:rPr>
              <a:t>SCRIPTED_ONLY</a:t>
            </a:r>
            <a:endParaRPr lang="en-US" sz="680" dirty="0"/>
          </a:p>
        </p:txBody>
      </p:sp>
      <p:sp>
        <p:nvSpPr>
          <p:cNvPr id="13" name="Text 11"/>
          <p:cNvSpPr/>
          <p:nvPr/>
        </p:nvSpPr>
        <p:spPr>
          <a:xfrm>
            <a:off x="8823960" y="2377440"/>
            <a:ext cx="2057400" cy="182880"/>
          </a:xfrm>
          <a:prstGeom prst="rect">
            <a:avLst/>
          </a:prstGeom>
          <a:solidFill>
            <a:srgbClr val="4F46E5"/>
          </a:solidFill>
          <a:ln>
            <a:solidFill>
              <a:srgbClr val="4F46E5">
                <a:alpha val="0"/>
              </a:srgbClr>
            </a:solidFill>
          </a:ln>
        </p:spPr>
        <p:txBody>
          <a:bodyPr wrap="square" lIns="445" tIns="445" rIns="445" bIns="445" rtlCol="0" anchor="ctr"/>
          <a:lstStyle/>
          <a:p>
            <a:pPr algn="ctr" indent="0" marL="0">
              <a:buNone/>
            </a:pPr>
            <a:r>
              <a:rPr lang="en-US" sz="680" b="1" dirty="0">
                <a:solidFill>
                  <a:srgbClr val="FFFFFF"/>
                </a:solidFill>
              </a:rPr>
              <a:t>LEARNED_PARTIAL</a:t>
            </a:r>
            <a:endParaRPr lang="en-US" sz="680" dirty="0"/>
          </a:p>
        </p:txBody>
      </p:sp>
      <p:sp>
        <p:nvSpPr>
          <p:cNvPr id="14" name="Text 12"/>
          <p:cNvSpPr/>
          <p:nvPr/>
        </p:nvSpPr>
        <p:spPr>
          <a:xfrm>
            <a:off x="6492240" y="2862072"/>
            <a:ext cx="205740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680" b="1" dirty="0">
                <a:solidFill>
                  <a:srgbClr val="FFFFFF"/>
                </a:solidFill>
              </a:rPr>
              <a:t>REJECTED_CANDIDATE</a:t>
            </a:r>
            <a:endParaRPr lang="en-US" sz="680" dirty="0"/>
          </a:p>
        </p:txBody>
      </p:sp>
      <p:sp>
        <p:nvSpPr>
          <p:cNvPr id="15" name="Text 13"/>
          <p:cNvSpPr/>
          <p:nvPr/>
        </p:nvSpPr>
        <p:spPr>
          <a:xfrm>
            <a:off x="8823960" y="2862072"/>
            <a:ext cx="2057400" cy="182880"/>
          </a:xfrm>
          <a:prstGeom prst="rect">
            <a:avLst/>
          </a:prstGeom>
          <a:solidFill>
            <a:srgbClr val="64748B"/>
          </a:solidFill>
          <a:ln>
            <a:solidFill>
              <a:srgbClr val="64748B">
                <a:alpha val="0"/>
              </a:srgbClr>
            </a:solidFill>
          </a:ln>
        </p:spPr>
        <p:txBody>
          <a:bodyPr wrap="square" lIns="445" tIns="445" rIns="445" bIns="445" rtlCol="0" anchor="ctr"/>
          <a:lstStyle/>
          <a:p>
            <a:pPr algn="ctr" indent="0" marL="0">
              <a:buNone/>
            </a:pPr>
            <a:r>
              <a:rPr lang="en-US" sz="680" b="1" dirty="0">
                <a:solidFill>
                  <a:srgbClr val="FFFFFF"/>
                </a:solidFill>
              </a:rPr>
              <a:t>DIAGNOSTIC_ONLY</a:t>
            </a:r>
            <a:endParaRPr lang="en-US" sz="680" dirty="0"/>
          </a:p>
        </p:txBody>
      </p:sp>
      <p:sp>
        <p:nvSpPr>
          <p:cNvPr id="16" name="Text 14"/>
          <p:cNvSpPr/>
          <p:nvPr/>
        </p:nvSpPr>
        <p:spPr>
          <a:xfrm>
            <a:off x="6492240" y="3346704"/>
            <a:ext cx="2057400" cy="182880"/>
          </a:xfrm>
          <a:prstGeom prst="rect">
            <a:avLst/>
          </a:prstGeom>
          <a:solidFill>
            <a:srgbClr val="0891B2"/>
          </a:solidFill>
          <a:ln>
            <a:solidFill>
              <a:srgbClr val="0891B2">
                <a:alpha val="0"/>
              </a:srgbClr>
            </a:solidFill>
          </a:ln>
        </p:spPr>
        <p:txBody>
          <a:bodyPr wrap="square" lIns="445" tIns="445" rIns="445" bIns="445" rtlCol="0" anchor="ctr"/>
          <a:lstStyle/>
          <a:p>
            <a:pPr algn="ctr" indent="0" marL="0">
              <a:buNone/>
            </a:pPr>
            <a:r>
              <a:rPr lang="en-US" sz="680" b="1" dirty="0">
                <a:solidFill>
                  <a:srgbClr val="FFFFFF"/>
                </a:solidFill>
              </a:rPr>
              <a:t>PLANNED</a:t>
            </a:r>
            <a:endParaRPr lang="en-US" sz="680" dirty="0"/>
          </a:p>
        </p:txBody>
      </p:sp>
      <p:sp>
        <p:nvSpPr>
          <p:cNvPr id="17" name="Text 15"/>
          <p:cNvSpPr/>
          <p:nvPr/>
        </p:nvSpPr>
        <p:spPr>
          <a:xfrm>
            <a:off x="8823960" y="3346704"/>
            <a:ext cx="2057400" cy="182880"/>
          </a:xfrm>
          <a:prstGeom prst="rect">
            <a:avLst/>
          </a:prstGeom>
          <a:solidFill>
            <a:srgbClr val="94A3B8"/>
          </a:solidFill>
          <a:ln>
            <a:solidFill>
              <a:srgbClr val="94A3B8">
                <a:alpha val="0"/>
              </a:srgbClr>
            </a:solidFill>
          </a:ln>
        </p:spPr>
        <p:txBody>
          <a:bodyPr wrap="square" lIns="445" tIns="445" rIns="445" bIns="445" rtlCol="0" anchor="ctr"/>
          <a:lstStyle/>
          <a:p>
            <a:pPr algn="ctr" indent="0" marL="0">
              <a:buNone/>
            </a:pPr>
            <a:r>
              <a:rPr lang="en-US" sz="680" b="1" dirty="0">
                <a:solidFill>
                  <a:srgbClr val="FFFFFF"/>
                </a:solidFill>
              </a:rPr>
              <a:t>INCONCLUSIVE</a:t>
            </a:r>
            <a:endParaRPr lang="en-US" sz="680" dirty="0"/>
          </a:p>
        </p:txBody>
      </p:sp>
      <p:sp>
        <p:nvSpPr>
          <p:cNvPr id="18" name="Text 16"/>
          <p:cNvSpPr/>
          <p:nvPr/>
        </p:nvSpPr>
        <p:spPr>
          <a:xfrm>
            <a:off x="6492240" y="3767328"/>
            <a:ext cx="4480560" cy="1371600"/>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1400" dirty="0">
                <a:solidFill>
                  <a:srgbClr val="0B132B"/>
                </a:solidFill>
                <a:latin typeface="Aptos" pitchFamily="34" charset="0"/>
                <a:ea typeface="Aptos" pitchFamily="34" charset="-122"/>
                <a:cs typeface="Aptos" pitchFamily="34" charset="-120"/>
              </a:rPr>
              <a:t>Talk thesis</a:t>
            </a:r>
            <a:endParaRPr lang="en-US" sz="1400" dirty="0"/>
          </a:p>
          <a:p>
            <a:pPr algn="l" indent="0" marL="0">
              <a:buNone/>
            </a:pPr>
            <a:endParaRPr lang="en-US" sz="1400" dirty="0"/>
          </a:p>
          <a:p>
            <a:pPr algn="l" indent="0" marL="0">
              <a:buNone/>
            </a:pPr>
            <a:r>
              <a:rPr lang="en-US" sz="1400" dirty="0">
                <a:solidFill>
                  <a:srgbClr val="0B132B"/>
                </a:solidFill>
                <a:latin typeface="Aptos" pitchFamily="34" charset="0"/>
                <a:ea typeface="Aptos" pitchFamily="34" charset="-122"/>
                <a:cs typeface="Aptos" pitchFamily="34" charset="-120"/>
              </a:rPr>
              <a:t>Build the simulator → audit policy ownership → improve realism → reject unsafe candidates → define lane-learning foundation.</a:t>
            </a:r>
            <a:endParaRPr lang="en-US" sz="1400" dirty="0"/>
          </a:p>
        </p:txBody>
      </p:sp>
      <p:sp>
        <p:nvSpPr>
          <p:cNvPr id="19" name="Text 17"/>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Boundary: “production” is accepted simulator checkpoint/configuration, not real-world deployment.</a:t>
            </a:r>
            <a:endParaRPr lang="en-US" sz="7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PRIOR WORK / MOTIVATION</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Background: why world models and adversarial cases were attractive</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3</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World models promise imagined rollouts; safety evaluation needs difficult, rare interaction cases.</a:t>
            </a:r>
            <a:endParaRPr lang="en-US" sz="1230" dirty="0"/>
          </a:p>
        </p:txBody>
      </p:sp>
      <p:sp>
        <p:nvSpPr>
          <p:cNvPr id="7" name="Text 5"/>
          <p:cNvSpPr/>
          <p:nvPr/>
        </p:nvSpPr>
        <p:spPr>
          <a:xfrm>
            <a:off x="594360" y="1325880"/>
            <a:ext cx="5349240" cy="4389120"/>
          </a:xfrm>
          <a:prstGeom prst="rect">
            <a:avLst/>
          </a:prstGeom>
          <a:noFill/>
          <a:ln/>
        </p:spPr>
        <p:txBody>
          <a:bodyPr wrap="square" lIns="1016" tIns="1016" rIns="1016" bIns="1016" rtlCol="0" anchor="t">
            <a:normAutofit/>
          </a:bodyPr>
          <a:lstStyle/>
          <a:p>
            <a:pPr indent="0" marL="0">
              <a:buNone/>
            </a:pPr>
            <a:r>
              <a:rPr lang="en-US" sz="1500" dirty="0">
                <a:solidFill>
                  <a:srgbClr val="0B132B"/>
                </a:solidFill>
                <a:latin typeface="Aptos" pitchFamily="34" charset="0"/>
                <a:ea typeface="Aptos" pitchFamily="34" charset="-122"/>
                <a:cs typeface="Aptos" pitchFamily="34" charset="-120"/>
              </a:rPr>
              <a:t>• DreamerV3 shows the appeal of learning latent dynamics and improving behavior through imagined futures [R1].</a:t>
            </a:r>
            <a:endParaRPr lang="en-US" sz="1500" dirty="0"/>
          </a:p>
          <a:p>
            <a:pPr indent="0" marL="0">
              <a:buNone/>
            </a:pPr>
            <a:r>
              <a:rPr lang="en-US" sz="1500" dirty="0">
                <a:solidFill>
                  <a:srgbClr val="0B132B"/>
                </a:solidFill>
                <a:latin typeface="Aptos" pitchFamily="34" charset="0"/>
                <a:ea typeface="Aptos" pitchFamily="34" charset="-122"/>
                <a:cs typeface="Aptos" pitchFamily="34" charset="-120"/>
              </a:rPr>
              <a:t>• Autonomous-driving safety evaluation often searches for safety-critical scenarios rather than relying only on benign driving [R2].</a:t>
            </a:r>
            <a:endParaRPr lang="en-US" sz="1500" dirty="0"/>
          </a:p>
          <a:p>
            <a:pPr indent="0" marL="0">
              <a:buNone/>
            </a:pPr>
            <a:r>
              <a:rPr lang="en-US" sz="1500" dirty="0">
                <a:solidFill>
                  <a:srgbClr val="0B132B"/>
                </a:solidFill>
                <a:latin typeface="Aptos" pitchFamily="34" charset="0"/>
                <a:ea typeface="Aptos" pitchFamily="34" charset="-122"/>
                <a:cs typeface="Aptos" pitchFamily="34" charset="-120"/>
              </a:rPr>
              <a:t>• The initial internship idea was to combine these: learn a model, imagine futures, and generate adversarial cases.</a:t>
            </a:r>
            <a:endParaRPr lang="en-US" sz="1500" dirty="0"/>
          </a:p>
          <a:p>
            <a:pPr indent="0" marL="0">
              <a:buNone/>
            </a:pPr>
            <a:r>
              <a:rPr lang="en-US" sz="1500" dirty="0">
                <a:solidFill>
                  <a:srgbClr val="0B132B"/>
                </a:solidFill>
                <a:latin typeface="Aptos" pitchFamily="34" charset="0"/>
                <a:ea typeface="Aptos" pitchFamily="34" charset="-122"/>
                <a:cs typeface="Aptos" pitchFamily="34" charset="-120"/>
              </a:rPr>
              <a:t>• The handoff evidence does not verify a completed Dreamer implementation.</a:t>
            </a:r>
            <a:endParaRPr lang="en-US" sz="1500" dirty="0"/>
          </a:p>
        </p:txBody>
      </p:sp>
      <p:sp>
        <p:nvSpPr>
          <p:cNvPr id="8" name="Text 6"/>
          <p:cNvSpPr/>
          <p:nvPr/>
        </p:nvSpPr>
        <p:spPr>
          <a:xfrm>
            <a:off x="6492240" y="1325880"/>
            <a:ext cx="1508760" cy="68580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150" b="1" dirty="0">
                <a:solidFill>
                  <a:srgbClr val="0B132B"/>
                </a:solidFill>
                <a:latin typeface="Aptos" pitchFamily="34" charset="0"/>
                <a:ea typeface="Aptos" pitchFamily="34" charset="-122"/>
                <a:cs typeface="Aptos" pitchFamily="34" charset="-120"/>
              </a:rPr>
              <a:t>World-model RL</a:t>
            </a:r>
            <a:endParaRPr lang="en-US" sz="1150" dirty="0"/>
          </a:p>
          <a:p>
            <a:pPr algn="ctr" indent="0" marL="0">
              <a:buNone/>
            </a:pPr>
            <a:r>
              <a:rPr lang="en-US" sz="1150" b="1" dirty="0">
                <a:solidFill>
                  <a:srgbClr val="0B132B"/>
                </a:solidFill>
                <a:latin typeface="Aptos" pitchFamily="34" charset="0"/>
                <a:ea typeface="Aptos" pitchFamily="34" charset="-122"/>
                <a:cs typeface="Aptos" pitchFamily="34" charset="-120"/>
              </a:rPr>
              <a:t>DreamerV3</a:t>
            </a:r>
            <a:endParaRPr lang="en-US" sz="1150" dirty="0"/>
          </a:p>
        </p:txBody>
      </p:sp>
      <p:sp>
        <p:nvSpPr>
          <p:cNvPr id="9" name="Text 7"/>
          <p:cNvSpPr/>
          <p:nvPr/>
        </p:nvSpPr>
        <p:spPr>
          <a:xfrm>
            <a:off x="8549640" y="1325880"/>
            <a:ext cx="1508760" cy="68580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150" b="1" dirty="0">
                <a:solidFill>
                  <a:srgbClr val="0B132B"/>
                </a:solidFill>
                <a:latin typeface="Aptos" pitchFamily="34" charset="0"/>
                <a:ea typeface="Aptos" pitchFamily="34" charset="-122"/>
                <a:cs typeface="Aptos" pitchFamily="34" charset="-120"/>
              </a:rPr>
              <a:t>Safety-critical</a:t>
            </a:r>
            <a:endParaRPr lang="en-US" sz="1150" dirty="0"/>
          </a:p>
          <a:p>
            <a:pPr algn="ctr" indent="0" marL="0">
              <a:buNone/>
            </a:pPr>
            <a:r>
              <a:rPr lang="en-US" sz="1150" b="1" dirty="0">
                <a:solidFill>
                  <a:srgbClr val="0B132B"/>
                </a:solidFill>
                <a:latin typeface="Aptos" pitchFamily="34" charset="0"/>
                <a:ea typeface="Aptos" pitchFamily="34" charset="-122"/>
                <a:cs typeface="Aptos" pitchFamily="34" charset="-120"/>
              </a:rPr>
              <a:t>scenario search</a:t>
            </a:r>
            <a:endParaRPr lang="en-US" sz="1150" dirty="0"/>
          </a:p>
        </p:txBody>
      </p:sp>
      <p:sp>
        <p:nvSpPr>
          <p:cNvPr id="10" name="Text 8"/>
          <p:cNvSpPr/>
          <p:nvPr/>
        </p:nvSpPr>
        <p:spPr>
          <a:xfrm>
            <a:off x="10607040" y="1325880"/>
            <a:ext cx="1508760" cy="68580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150" b="1" dirty="0">
                <a:solidFill>
                  <a:srgbClr val="0B132B"/>
                </a:solidFill>
                <a:latin typeface="Aptos" pitchFamily="34" charset="0"/>
                <a:ea typeface="Aptos" pitchFamily="34" charset="-122"/>
                <a:cs typeface="Aptos" pitchFamily="34" charset="-120"/>
              </a:rPr>
              <a:t>Closed-loop</a:t>
            </a:r>
            <a:endParaRPr lang="en-US" sz="1150" dirty="0"/>
          </a:p>
          <a:p>
            <a:pPr algn="ctr" indent="0" marL="0">
              <a:buNone/>
            </a:pPr>
            <a:r>
              <a:rPr lang="en-US" sz="1150" b="1" dirty="0">
                <a:solidFill>
                  <a:srgbClr val="0B132B"/>
                </a:solidFill>
                <a:latin typeface="Aptos" pitchFamily="34" charset="0"/>
                <a:ea typeface="Aptos" pitchFamily="34" charset="-122"/>
                <a:cs typeface="Aptos" pitchFamily="34" charset="-120"/>
              </a:rPr>
              <a:t>policy testing</a:t>
            </a:r>
            <a:endParaRPr lang="en-US" sz="1150" dirty="0"/>
          </a:p>
        </p:txBody>
      </p:sp>
      <p:sp>
        <p:nvSpPr>
          <p:cNvPr id="11" name="Shape 9"/>
          <p:cNvSpPr/>
          <p:nvPr/>
        </p:nvSpPr>
        <p:spPr>
          <a:xfrm>
            <a:off x="7223760" y="2103120"/>
            <a:ext cx="1920240" cy="1234440"/>
          </a:xfrm>
          <a:prstGeom prst="line">
            <a:avLst/>
          </a:prstGeom>
          <a:noFill/>
          <a:ln w="13970">
            <a:solidFill>
              <a:srgbClr val="64748B"/>
            </a:solidFill>
            <a:prstDash val="solid"/>
            <a:headEnd type="none"/>
            <a:tailEnd type="triangle"/>
          </a:ln>
        </p:spPr>
      </p:sp>
      <p:sp>
        <p:nvSpPr>
          <p:cNvPr id="12" name="Shape 10"/>
          <p:cNvSpPr/>
          <p:nvPr/>
        </p:nvSpPr>
        <p:spPr>
          <a:xfrm>
            <a:off x="9281160" y="2103120"/>
            <a:ext cx="0" cy="1234440"/>
          </a:xfrm>
          <a:prstGeom prst="line">
            <a:avLst/>
          </a:prstGeom>
          <a:noFill/>
          <a:ln w="13970">
            <a:solidFill>
              <a:srgbClr val="64748B"/>
            </a:solidFill>
            <a:prstDash val="solid"/>
            <a:headEnd type="none"/>
            <a:tailEnd type="triangle"/>
          </a:ln>
        </p:spPr>
      </p:sp>
      <p:sp>
        <p:nvSpPr>
          <p:cNvPr id="13" name="Shape 11"/>
          <p:cNvSpPr/>
          <p:nvPr/>
        </p:nvSpPr>
        <p:spPr>
          <a:xfrm>
            <a:off x="11338560" y="2103120"/>
            <a:ext cx="-1920240" cy="1234440"/>
          </a:xfrm>
          <a:prstGeom prst="line">
            <a:avLst/>
          </a:prstGeom>
          <a:noFill/>
          <a:ln w="13970">
            <a:solidFill>
              <a:srgbClr val="64748B"/>
            </a:solidFill>
            <a:prstDash val="solid"/>
            <a:headEnd type="none"/>
            <a:tailEnd type="triangle"/>
          </a:ln>
        </p:spPr>
      </p:sp>
      <p:sp>
        <p:nvSpPr>
          <p:cNvPr id="14" name="Text 12"/>
          <p:cNvSpPr/>
          <p:nvPr/>
        </p:nvSpPr>
        <p:spPr>
          <a:xfrm>
            <a:off x="8001000" y="3383280"/>
            <a:ext cx="2560320" cy="91440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Initial ambition:</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world-model-based</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adversarial case generation</a:t>
            </a:r>
            <a:endParaRPr lang="en-US" sz="1200" dirty="0"/>
          </a:p>
        </p:txBody>
      </p:sp>
      <p:sp>
        <p:nvSpPr>
          <p:cNvPr id="15" name="Shape 13"/>
          <p:cNvSpPr/>
          <p:nvPr/>
        </p:nvSpPr>
        <p:spPr>
          <a:xfrm>
            <a:off x="9281160" y="4389120"/>
            <a:ext cx="0" cy="960120"/>
          </a:xfrm>
          <a:prstGeom prst="line">
            <a:avLst/>
          </a:prstGeom>
          <a:noFill/>
          <a:ln w="13970">
            <a:solidFill>
              <a:srgbClr val="64748B"/>
            </a:solidFill>
            <a:prstDash val="solid"/>
            <a:headEnd type="none"/>
            <a:tailEnd type="triangle"/>
          </a:ln>
        </p:spPr>
      </p:sp>
      <p:sp>
        <p:nvSpPr>
          <p:cNvPr id="16" name="Text 14"/>
          <p:cNvSpPr/>
          <p:nvPr/>
        </p:nvSpPr>
        <p:spPr>
          <a:xfrm>
            <a:off x="7543800" y="5394960"/>
            <a:ext cx="3474720" cy="731520"/>
          </a:xfrm>
          <a:prstGeom prst="rect">
            <a:avLst/>
          </a:prstGeom>
          <a:solidFill>
            <a:srgbClr val="FFF7ED"/>
          </a:solidFill>
          <a:ln w="12700">
            <a:solidFill>
              <a:srgbClr val="FED7AA"/>
            </a:solidFill>
          </a:ln>
        </p:spPr>
        <p:txBody>
          <a:bodyPr wrap="square" lIns="1016" tIns="1016" rIns="1016" bIns="1016" rtlCol="0" anchor="ctr">
            <a:normAutofit/>
          </a:bodyPr>
          <a:lstStyle/>
          <a:p>
            <a:pPr algn="ctr" indent="0" marL="0">
              <a:buNone/>
            </a:pPr>
            <a:r>
              <a:rPr lang="en-US" sz="1050" dirty="0">
                <a:solidFill>
                  <a:srgbClr val="0B132B"/>
                </a:solidFill>
                <a:latin typeface="Aptos" pitchFamily="34" charset="0"/>
                <a:ea typeface="Aptos" pitchFamily="34" charset="-122"/>
                <a:cs typeface="Aptos" pitchFamily="34" charset="-120"/>
              </a:rPr>
              <a:t>Internship constraint:</a:t>
            </a:r>
            <a:endParaRPr lang="en-US" sz="1050" dirty="0"/>
          </a:p>
          <a:p>
            <a:pPr algn="ctr" indent="0" marL="0">
              <a:buNone/>
            </a:pPr>
            <a:r>
              <a:rPr lang="en-US" sz="1050" dirty="0">
                <a:solidFill>
                  <a:srgbClr val="0B132B"/>
                </a:solidFill>
                <a:latin typeface="Aptos" pitchFamily="34" charset="0"/>
                <a:ea typeface="Aptos" pitchFamily="34" charset="-122"/>
                <a:cs typeface="Aptos" pitchFamily="34" charset="-120"/>
              </a:rPr>
              <a:t>adaptation + training + downstream generator</a:t>
            </a:r>
            <a:endParaRPr lang="en-US" sz="1050" dirty="0"/>
          </a:p>
          <a:p>
            <a:pPr algn="ctr" indent="0" marL="0">
              <a:buNone/>
            </a:pPr>
            <a:r>
              <a:rPr lang="en-US" sz="1050" dirty="0">
                <a:solidFill>
                  <a:srgbClr val="0B132B"/>
                </a:solidFill>
                <a:latin typeface="Aptos" pitchFamily="34" charset="0"/>
                <a:ea typeface="Aptos" pitchFamily="34" charset="-122"/>
                <a:cs typeface="Aptos" pitchFamily="34" charset="-120"/>
              </a:rPr>
              <a:t>was too large for the timeline</a:t>
            </a:r>
            <a:endParaRPr lang="en-US" sz="1050" dirty="0"/>
          </a:p>
        </p:txBody>
      </p:sp>
      <p:sp>
        <p:nvSpPr>
          <p:cNvPr id="17" name="Text 15"/>
          <p:cNvSpPr/>
          <p:nvPr/>
        </p:nvSpPr>
        <p:spPr>
          <a:xfrm>
            <a:off x="8092440" y="6245352"/>
            <a:ext cx="2286000" cy="182880"/>
          </a:xfrm>
          <a:prstGeom prst="rect">
            <a:avLst/>
          </a:prstGeom>
          <a:solidFill>
            <a:srgbClr val="94A3B8"/>
          </a:solidFill>
          <a:ln>
            <a:solidFill>
              <a:srgbClr val="94A3B8">
                <a:alpha val="0"/>
              </a:srgbClr>
            </a:solidFill>
          </a:ln>
        </p:spPr>
        <p:txBody>
          <a:bodyPr wrap="square" lIns="445" tIns="445" rIns="445" bIns="445" rtlCol="0" anchor="ctr"/>
          <a:lstStyle/>
          <a:p>
            <a:pPr algn="ctr" indent="0" marL="0">
              <a:buNone/>
            </a:pPr>
            <a:r>
              <a:rPr lang="en-US" sz="720" b="1" dirty="0">
                <a:solidFill>
                  <a:srgbClr val="FFFFFF"/>
                </a:solidFill>
              </a:rPr>
              <a:t>INCONCLUSIVE</a:t>
            </a:r>
            <a:endParaRPr lang="en-US" sz="720" dirty="0"/>
          </a:p>
        </p:txBody>
      </p:sp>
      <p:sp>
        <p:nvSpPr>
          <p:cNvPr id="18" name="Text 16"/>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References [R1] DreamerV3; [R2] SafeBench. Dreamer implementation details are not repository-confirmed in the handoff.</a:t>
            </a:r>
            <a:endParaRPr lang="en-US" sz="7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PRIOR WORK / MOTIVATION</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Background: multi-agent driving simulators shaped the final scope</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4</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The executed project fits a broader trend: efficient, structured, closed-loop learning environments for interaction.</a:t>
            </a:r>
            <a:endParaRPr lang="en-US" sz="1230" dirty="0"/>
          </a:p>
        </p:txBody>
      </p:sp>
      <p:sp>
        <p:nvSpPr>
          <p:cNvPr id="7" name="Text 5"/>
          <p:cNvSpPr/>
          <p:nvPr/>
        </p:nvSpPr>
        <p:spPr>
          <a:xfrm>
            <a:off x="594360" y="1325880"/>
            <a:ext cx="5349240" cy="4389120"/>
          </a:xfrm>
          <a:prstGeom prst="rect">
            <a:avLst/>
          </a:prstGeom>
          <a:noFill/>
          <a:ln/>
        </p:spPr>
        <p:txBody>
          <a:bodyPr wrap="square" lIns="1016" tIns="1016" rIns="1016" bIns="1016" rtlCol="0" anchor="t">
            <a:normAutofit/>
          </a:bodyPr>
          <a:lstStyle/>
          <a:p>
            <a:pPr indent="0" marL="0">
              <a:buNone/>
            </a:pPr>
            <a:r>
              <a:rPr lang="en-US" sz="1500" dirty="0">
                <a:solidFill>
                  <a:srgbClr val="0B132B"/>
                </a:solidFill>
                <a:latin typeface="Aptos" pitchFamily="34" charset="0"/>
                <a:ea typeface="Aptos" pitchFamily="34" charset="-122"/>
                <a:cs typeface="Aptos" pitchFamily="34" charset="-120"/>
              </a:rPr>
              <a:t>• SMARTS, Nocturne, and Waymax emphasize multi-agent closed-loop interaction as a core AV learning problem [R3–R5].</a:t>
            </a:r>
            <a:endParaRPr lang="en-US" sz="1500" dirty="0"/>
          </a:p>
          <a:p>
            <a:pPr indent="0" marL="0">
              <a:buNone/>
            </a:pPr>
            <a:r>
              <a:rPr lang="en-US" sz="1500" dirty="0">
                <a:solidFill>
                  <a:srgbClr val="0B132B"/>
                </a:solidFill>
                <a:latin typeface="Aptos" pitchFamily="34" charset="0"/>
                <a:ea typeface="Aptos" pitchFamily="34" charset="-122"/>
                <a:cs typeface="Aptos" pitchFamily="34" charset="-120"/>
              </a:rPr>
              <a:t>• Lane-graph representations preserve topology and actor-map relations better than raw flattened summaries [R6].</a:t>
            </a:r>
            <a:endParaRPr lang="en-US" sz="1500" dirty="0"/>
          </a:p>
          <a:p>
            <a:pPr indent="0" marL="0">
              <a:buNone/>
            </a:pPr>
            <a:r>
              <a:rPr lang="en-US" sz="1500" dirty="0">
                <a:solidFill>
                  <a:srgbClr val="0B132B"/>
                </a:solidFill>
                <a:latin typeface="Aptos" pitchFamily="34" charset="0"/>
                <a:ea typeface="Aptos" pitchFamily="34" charset="-122"/>
                <a:cs typeface="Aptos" pitchFamily="34" charset="-120"/>
              </a:rPr>
              <a:t>• PPO is a practical on-policy actor-critic baseline for continuous-control policy optimization [R7].</a:t>
            </a:r>
            <a:endParaRPr lang="en-US" sz="1500" dirty="0"/>
          </a:p>
          <a:p>
            <a:pPr indent="0" marL="0">
              <a:buNone/>
            </a:pPr>
            <a:r>
              <a:rPr lang="en-US" sz="1500" dirty="0">
                <a:solidFill>
                  <a:srgbClr val="0B132B"/>
                </a:solidFill>
                <a:latin typeface="Aptos" pitchFamily="34" charset="0"/>
                <a:ea typeface="Aptos" pitchFamily="34" charset="-122"/>
                <a:cs typeface="Aptos" pitchFamily="34" charset="-120"/>
              </a:rPr>
              <a:t>• This internship intentionally chose a smaller, inspectable simulator instead of a high-fidelity stack.</a:t>
            </a:r>
            <a:endParaRPr lang="en-US" sz="1500" dirty="0"/>
          </a:p>
        </p:txBody>
      </p:sp>
      <p:sp>
        <p:nvSpPr>
          <p:cNvPr id="8" name="Text 6"/>
          <p:cNvSpPr/>
          <p:nvPr/>
        </p:nvSpPr>
        <p:spPr>
          <a:xfrm>
            <a:off x="6400800" y="1234440"/>
            <a:ext cx="1371600" cy="502920"/>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Prior-work axis</a:t>
            </a:r>
            <a:endParaRPr lang="en-US" sz="860" dirty="0"/>
          </a:p>
        </p:txBody>
      </p:sp>
      <p:sp>
        <p:nvSpPr>
          <p:cNvPr id="9" name="Text 7"/>
          <p:cNvSpPr/>
          <p:nvPr/>
        </p:nvSpPr>
        <p:spPr>
          <a:xfrm>
            <a:off x="7772400" y="1234440"/>
            <a:ext cx="1920240" cy="502920"/>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Representative point</a:t>
            </a:r>
            <a:endParaRPr lang="en-US" sz="860" dirty="0"/>
          </a:p>
        </p:txBody>
      </p:sp>
      <p:sp>
        <p:nvSpPr>
          <p:cNvPr id="10" name="Text 8"/>
          <p:cNvSpPr/>
          <p:nvPr/>
        </p:nvSpPr>
        <p:spPr>
          <a:xfrm>
            <a:off x="9692640" y="1234440"/>
            <a:ext cx="1828800" cy="502920"/>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Project choice</a:t>
            </a:r>
            <a:endParaRPr lang="en-US" sz="860" dirty="0"/>
          </a:p>
        </p:txBody>
      </p:sp>
      <p:sp>
        <p:nvSpPr>
          <p:cNvPr id="11" name="Text 9"/>
          <p:cNvSpPr/>
          <p:nvPr/>
        </p:nvSpPr>
        <p:spPr>
          <a:xfrm>
            <a:off x="6400800" y="1737360"/>
            <a:ext cx="137160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Simulator</a:t>
            </a:r>
            <a:endParaRPr lang="en-US" sz="860" dirty="0"/>
          </a:p>
        </p:txBody>
      </p:sp>
      <p:sp>
        <p:nvSpPr>
          <p:cNvPr id="12" name="Text 10"/>
          <p:cNvSpPr/>
          <p:nvPr/>
        </p:nvSpPr>
        <p:spPr>
          <a:xfrm>
            <a:off x="7772400" y="1737360"/>
            <a:ext cx="192024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Waymax / SMARTS / Nocturne</a:t>
            </a:r>
            <a:endParaRPr lang="en-US" sz="860" dirty="0"/>
          </a:p>
        </p:txBody>
      </p:sp>
      <p:sp>
        <p:nvSpPr>
          <p:cNvPr id="13" name="Text 11"/>
          <p:cNvSpPr/>
          <p:nvPr/>
        </p:nvSpPr>
        <p:spPr>
          <a:xfrm>
            <a:off x="9692640" y="1737360"/>
            <a:ext cx="182880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Custom intersection</a:t>
            </a:r>
            <a:endParaRPr lang="en-US" sz="860" dirty="0"/>
          </a:p>
        </p:txBody>
      </p:sp>
      <p:sp>
        <p:nvSpPr>
          <p:cNvPr id="14" name="Text 12"/>
          <p:cNvSpPr/>
          <p:nvPr/>
        </p:nvSpPr>
        <p:spPr>
          <a:xfrm>
            <a:off x="6400800" y="2240280"/>
            <a:ext cx="137160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Scene encoding</a:t>
            </a:r>
            <a:endParaRPr lang="en-US" sz="860" dirty="0"/>
          </a:p>
        </p:txBody>
      </p:sp>
      <p:sp>
        <p:nvSpPr>
          <p:cNvPr id="15" name="Text 13"/>
          <p:cNvSpPr/>
          <p:nvPr/>
        </p:nvSpPr>
        <p:spPr>
          <a:xfrm>
            <a:off x="7772400" y="2240280"/>
            <a:ext cx="192024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Lane graphs / structured features</a:t>
            </a:r>
            <a:endParaRPr lang="en-US" sz="860" dirty="0"/>
          </a:p>
        </p:txBody>
      </p:sp>
      <p:sp>
        <p:nvSpPr>
          <p:cNvPr id="16" name="Text 14"/>
          <p:cNvSpPr/>
          <p:nvPr/>
        </p:nvSpPr>
        <p:spPr>
          <a:xfrm>
            <a:off x="9692640" y="2240280"/>
            <a:ext cx="182880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Ego graph 49/27/25</a:t>
            </a:r>
            <a:endParaRPr lang="en-US" sz="860" dirty="0"/>
          </a:p>
        </p:txBody>
      </p:sp>
      <p:sp>
        <p:nvSpPr>
          <p:cNvPr id="17" name="Text 15"/>
          <p:cNvSpPr/>
          <p:nvPr/>
        </p:nvSpPr>
        <p:spPr>
          <a:xfrm>
            <a:off x="6400800" y="2743200"/>
            <a:ext cx="137160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RL optimizer</a:t>
            </a:r>
            <a:endParaRPr lang="en-US" sz="860" dirty="0"/>
          </a:p>
        </p:txBody>
      </p:sp>
      <p:sp>
        <p:nvSpPr>
          <p:cNvPr id="18" name="Text 16"/>
          <p:cNvSpPr/>
          <p:nvPr/>
        </p:nvSpPr>
        <p:spPr>
          <a:xfrm>
            <a:off x="7772400" y="2743200"/>
            <a:ext cx="192024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PPO / actor-critic</a:t>
            </a:r>
            <a:endParaRPr lang="en-US" sz="860" dirty="0"/>
          </a:p>
        </p:txBody>
      </p:sp>
      <p:sp>
        <p:nvSpPr>
          <p:cNvPr id="19" name="Text 17"/>
          <p:cNvSpPr/>
          <p:nvPr/>
        </p:nvSpPr>
        <p:spPr>
          <a:xfrm>
            <a:off x="9692640" y="2743200"/>
            <a:ext cx="182880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Shared PPO policy</a:t>
            </a:r>
            <a:endParaRPr lang="en-US" sz="860" dirty="0"/>
          </a:p>
        </p:txBody>
      </p:sp>
      <p:sp>
        <p:nvSpPr>
          <p:cNvPr id="20" name="Text 18"/>
          <p:cNvSpPr/>
          <p:nvPr/>
        </p:nvSpPr>
        <p:spPr>
          <a:xfrm>
            <a:off x="6400800" y="3246120"/>
            <a:ext cx="137160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Evaluation</a:t>
            </a:r>
            <a:endParaRPr lang="en-US" sz="860" dirty="0"/>
          </a:p>
        </p:txBody>
      </p:sp>
      <p:sp>
        <p:nvSpPr>
          <p:cNvPr id="21" name="Text 19"/>
          <p:cNvSpPr/>
          <p:nvPr/>
        </p:nvSpPr>
        <p:spPr>
          <a:xfrm>
            <a:off x="7772400" y="3246120"/>
            <a:ext cx="192024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Closed-loop metrics</a:t>
            </a:r>
            <a:endParaRPr lang="en-US" sz="860" dirty="0"/>
          </a:p>
        </p:txBody>
      </p:sp>
      <p:sp>
        <p:nvSpPr>
          <p:cNvPr id="22" name="Text 20"/>
          <p:cNvSpPr/>
          <p:nvPr/>
        </p:nvSpPr>
        <p:spPr>
          <a:xfrm>
            <a:off x="9692640" y="3246120"/>
            <a:ext cx="182880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Hard promotion gates</a:t>
            </a:r>
            <a:endParaRPr lang="en-US" sz="860" dirty="0"/>
          </a:p>
        </p:txBody>
      </p:sp>
      <p:sp>
        <p:nvSpPr>
          <p:cNvPr id="23" name="Text 21"/>
          <p:cNvSpPr/>
          <p:nvPr/>
        </p:nvSpPr>
        <p:spPr>
          <a:xfrm>
            <a:off x="6720840" y="4297680"/>
            <a:ext cx="4343400" cy="1325880"/>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1320" dirty="0">
                <a:solidFill>
                  <a:srgbClr val="0B132B"/>
                </a:solidFill>
                <a:latin typeface="Aptos" pitchFamily="34" charset="0"/>
                <a:ea typeface="Aptos" pitchFamily="34" charset="-122"/>
                <a:cs typeface="Aptos" pitchFamily="34" charset="-120"/>
              </a:rPr>
              <a:t>Design principle used here</a:t>
            </a:r>
            <a:endParaRPr lang="en-US" sz="1320" dirty="0"/>
          </a:p>
          <a:p>
            <a:pPr algn="l" indent="0" marL="0">
              <a:buNone/>
            </a:pPr>
            <a:endParaRPr lang="en-US" sz="1320" dirty="0"/>
          </a:p>
          <a:p>
            <a:pPr algn="l" indent="0" marL="0">
              <a:buNone/>
            </a:pPr>
            <a:r>
              <a:rPr lang="en-US" sz="1320" dirty="0">
                <a:solidFill>
                  <a:srgbClr val="0B132B"/>
                </a:solidFill>
                <a:latin typeface="Aptos" pitchFamily="34" charset="0"/>
                <a:ea typeface="Aptos" pitchFamily="34" charset="-122"/>
                <a:cs typeface="Aptos" pitchFamily="34" charset="-120"/>
              </a:rPr>
              <a:t>Prefer controlled causality and reproducible gates over broad but unevidenced capability claims.</a:t>
            </a:r>
            <a:endParaRPr lang="en-US" sz="1320" dirty="0"/>
          </a:p>
        </p:txBody>
      </p:sp>
      <p:sp>
        <p:nvSpPr>
          <p:cNvPr id="24" name="Text 22"/>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Reference papers are listed in the appendix; they provide context, not claimed baselines for this project.</a:t>
            </a:r>
            <a:endParaRPr lang="en-US" sz="7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PROJECT ARC</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Internship objective and final scope</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5</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The final scope was a tractable version of the original theme: hard interaction cases under a controlled simulator.</a:t>
            </a:r>
            <a:endParaRPr lang="en-US" sz="1230" dirty="0"/>
          </a:p>
        </p:txBody>
      </p:sp>
      <p:sp>
        <p:nvSpPr>
          <p:cNvPr id="7" name="Text 5"/>
          <p:cNvSpPr/>
          <p:nvPr/>
        </p:nvSpPr>
        <p:spPr>
          <a:xfrm>
            <a:off x="594360" y="1325880"/>
            <a:ext cx="5212080" cy="4206240"/>
          </a:xfrm>
          <a:prstGeom prst="rect">
            <a:avLst/>
          </a:prstGeom>
          <a:noFill/>
          <a:ln/>
        </p:spPr>
        <p:txBody>
          <a:bodyPr wrap="square" lIns="1016" tIns="1016" rIns="1016" bIns="1016" rtlCol="0" anchor="t">
            <a:normAutofit/>
          </a:bodyPr>
          <a:lstStyle/>
          <a:p>
            <a:pPr indent="0" marL="0">
              <a:buNone/>
            </a:pPr>
            <a:r>
              <a:rPr lang="en-US" sz="1500" dirty="0">
                <a:solidFill>
                  <a:srgbClr val="0B132B"/>
                </a:solidFill>
                <a:latin typeface="Aptos" pitchFamily="34" charset="0"/>
                <a:ea typeface="Aptos" pitchFamily="34" charset="-122"/>
                <a:cs typeface="Aptos" pitchFamily="34" charset="-120"/>
              </a:rPr>
              <a:t>• [INCONCLUSIVE] Initial goal: world-model adversarial case generation using DreamerV3.</a:t>
            </a:r>
            <a:endParaRPr lang="en-US" sz="1500" dirty="0"/>
          </a:p>
          <a:p>
            <a:pPr indent="0" marL="0">
              <a:buNone/>
            </a:pPr>
            <a:r>
              <a:rPr lang="en-US" sz="1500" dirty="0">
                <a:solidFill>
                  <a:srgbClr val="0B132B"/>
                </a:solidFill>
                <a:latin typeface="Aptos" pitchFamily="34" charset="0"/>
                <a:ea typeface="Aptos" pitchFamily="34" charset="-122"/>
                <a:cs typeface="Aptos" pitchFamily="34" charset="-120"/>
              </a:rPr>
              <a:t>• [IMPLEMENTED_AND_TESTED] Executed scope: four-way intersection simulator + shared PPO control stack.</a:t>
            </a:r>
            <a:endParaRPr lang="en-US" sz="1500" dirty="0"/>
          </a:p>
          <a:p>
            <a:pPr indent="0" marL="0">
              <a:buNone/>
            </a:pPr>
            <a:r>
              <a:rPr lang="en-US" sz="1500" dirty="0">
                <a:solidFill>
                  <a:srgbClr val="0B132B"/>
                </a:solidFill>
                <a:latin typeface="Aptos" pitchFamily="34" charset="0"/>
                <a:ea typeface="Aptos" pitchFamily="34" charset="-122"/>
                <a:cs typeface="Aptos" pitchFamily="34" charset="-120"/>
              </a:rPr>
              <a:t>• [PRODUCTION] Final retained artifact: V5 graph longitudinal policy for declared simulator matrix.</a:t>
            </a:r>
            <a:endParaRPr lang="en-US" sz="1500" dirty="0"/>
          </a:p>
          <a:p>
            <a:pPr indent="0" marL="0">
              <a:buNone/>
            </a:pPr>
            <a:r>
              <a:rPr lang="en-US" sz="1500" dirty="0">
                <a:solidFill>
                  <a:srgbClr val="0B132B"/>
                </a:solidFill>
                <a:latin typeface="Aptos" pitchFamily="34" charset="0"/>
                <a:ea typeface="Aptos" pitchFamily="34" charset="-122"/>
                <a:cs typeface="Aptos" pitchFamily="34" charset="-120"/>
              </a:rPr>
              <a:t>• [IMPLEMENTED_AND_TESTED] Extra foundation: lane topology, merge trajectory, V6 mechanics, and failure evidence.</a:t>
            </a:r>
            <a:endParaRPr lang="en-US" sz="1500" dirty="0"/>
          </a:p>
        </p:txBody>
      </p:sp>
      <p:sp>
        <p:nvSpPr>
          <p:cNvPr id="8" name="Text 6"/>
          <p:cNvSpPr/>
          <p:nvPr/>
        </p:nvSpPr>
        <p:spPr>
          <a:xfrm>
            <a:off x="6446520" y="1234440"/>
            <a:ext cx="1691640" cy="411480"/>
          </a:xfrm>
          <a:prstGeom prst="rect">
            <a:avLst/>
          </a:prstGeom>
          <a:solidFill>
            <a:srgbClr val="F1F5F9"/>
          </a:solidFill>
          <a:ln w="12700">
            <a:solidFill>
              <a:srgbClr val="E2E8F0"/>
            </a:solidFill>
          </a:ln>
        </p:spPr>
        <p:txBody>
          <a:bodyPr wrap="square" lIns="1016" tIns="1016" rIns="1016" bIns="1016" rtlCol="0" anchor="ctr">
            <a:normAutofit/>
          </a:bodyPr>
          <a:lstStyle/>
          <a:p>
            <a:pPr algn="ctr" indent="0" marL="0">
              <a:buNone/>
            </a:pPr>
            <a:r>
              <a:rPr lang="en-US" sz="1100" b="1" dirty="0">
                <a:solidFill>
                  <a:srgbClr val="0B132B"/>
                </a:solidFill>
                <a:latin typeface="Aptos" pitchFamily="34" charset="0"/>
                <a:ea typeface="Aptos" pitchFamily="34" charset="-122"/>
                <a:cs typeface="Aptos" pitchFamily="34" charset="-120"/>
              </a:rPr>
              <a:t>Initial ambition</a:t>
            </a:r>
            <a:endParaRPr lang="en-US" sz="1100" dirty="0"/>
          </a:p>
        </p:txBody>
      </p:sp>
      <p:sp>
        <p:nvSpPr>
          <p:cNvPr id="9" name="Text 7"/>
          <p:cNvSpPr/>
          <p:nvPr/>
        </p:nvSpPr>
        <p:spPr>
          <a:xfrm>
            <a:off x="8321040" y="1234440"/>
            <a:ext cx="1691640" cy="411480"/>
          </a:xfrm>
          <a:prstGeom prst="rect">
            <a:avLst/>
          </a:prstGeom>
          <a:solidFill>
            <a:srgbClr val="ECFDF5"/>
          </a:solidFill>
          <a:ln w="12700">
            <a:solidFill>
              <a:srgbClr val="A7F3D0"/>
            </a:solidFill>
          </a:ln>
        </p:spPr>
        <p:txBody>
          <a:bodyPr wrap="square" lIns="1016" tIns="1016" rIns="1016" bIns="1016" rtlCol="0" anchor="ctr">
            <a:normAutofit/>
          </a:bodyPr>
          <a:lstStyle/>
          <a:p>
            <a:pPr algn="ctr" indent="0" marL="0">
              <a:buNone/>
            </a:pPr>
            <a:r>
              <a:rPr lang="en-US" sz="1100" b="1" dirty="0">
                <a:solidFill>
                  <a:srgbClr val="0B132B"/>
                </a:solidFill>
                <a:latin typeface="Aptos" pitchFamily="34" charset="0"/>
                <a:ea typeface="Aptos" pitchFamily="34" charset="-122"/>
                <a:cs typeface="Aptos" pitchFamily="34" charset="-120"/>
              </a:rPr>
              <a:t>Executed core</a:t>
            </a:r>
            <a:endParaRPr lang="en-US" sz="1100" dirty="0"/>
          </a:p>
        </p:txBody>
      </p:sp>
      <p:sp>
        <p:nvSpPr>
          <p:cNvPr id="10" name="Text 8"/>
          <p:cNvSpPr/>
          <p:nvPr/>
        </p:nvSpPr>
        <p:spPr>
          <a:xfrm>
            <a:off x="10195560" y="1234440"/>
            <a:ext cx="1691640" cy="411480"/>
          </a:xfrm>
          <a:prstGeom prst="rect">
            <a:avLst/>
          </a:prstGeom>
          <a:solidFill>
            <a:srgbClr val="FEF2F2"/>
          </a:solidFill>
          <a:ln w="12700">
            <a:solidFill>
              <a:srgbClr val="FECACA"/>
            </a:solidFill>
          </a:ln>
        </p:spPr>
        <p:txBody>
          <a:bodyPr wrap="square" lIns="1016" tIns="1016" rIns="1016" bIns="1016" rtlCol="0" anchor="ctr">
            <a:normAutofit/>
          </a:bodyPr>
          <a:lstStyle/>
          <a:p>
            <a:pPr algn="ctr" indent="0" marL="0">
              <a:buNone/>
            </a:pPr>
            <a:r>
              <a:rPr lang="en-US" sz="1100" b="1" dirty="0">
                <a:solidFill>
                  <a:srgbClr val="0B132B"/>
                </a:solidFill>
                <a:latin typeface="Aptos" pitchFamily="34" charset="0"/>
                <a:ea typeface="Aptos" pitchFamily="34" charset="-122"/>
                <a:cs typeface="Aptos" pitchFamily="34" charset="-120"/>
              </a:rPr>
              <a:t>Boundary</a:t>
            </a:r>
            <a:endParaRPr lang="en-US" sz="1100" dirty="0"/>
          </a:p>
        </p:txBody>
      </p:sp>
      <p:sp>
        <p:nvSpPr>
          <p:cNvPr id="11" name="Text 9"/>
          <p:cNvSpPr/>
          <p:nvPr/>
        </p:nvSpPr>
        <p:spPr>
          <a:xfrm>
            <a:off x="6446520" y="1965960"/>
            <a:ext cx="1691640" cy="91440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dirty="0">
                <a:solidFill>
                  <a:srgbClr val="0B132B"/>
                </a:solidFill>
                <a:latin typeface="Aptos" pitchFamily="34" charset="0"/>
                <a:ea typeface="Aptos" pitchFamily="34" charset="-122"/>
                <a:cs typeface="Aptos" pitchFamily="34" charset="-120"/>
              </a:rPr>
              <a:t>DreamerV3</a:t>
            </a:r>
            <a:endParaRPr lang="en-US" sz="1000" dirty="0"/>
          </a:p>
          <a:p>
            <a:pPr algn="ctr" indent="0" marL="0">
              <a:buNone/>
            </a:pPr>
            <a:r>
              <a:rPr lang="en-US" sz="1000" dirty="0">
                <a:solidFill>
                  <a:srgbClr val="0B132B"/>
                </a:solidFill>
                <a:latin typeface="Aptos" pitchFamily="34" charset="0"/>
                <a:ea typeface="Aptos" pitchFamily="34" charset="-122"/>
                <a:cs typeface="Aptos" pitchFamily="34" charset="-120"/>
              </a:rPr>
              <a:t>world model</a:t>
            </a:r>
            <a:endParaRPr lang="en-US" sz="1000" dirty="0"/>
          </a:p>
          <a:p>
            <a:pPr algn="ctr" indent="0" marL="0">
              <a:buNone/>
            </a:pPr>
            <a:r>
              <a:rPr lang="en-US" sz="1000" dirty="0">
                <a:solidFill>
                  <a:srgbClr val="0B132B"/>
                </a:solidFill>
                <a:latin typeface="Aptos" pitchFamily="34" charset="0"/>
                <a:ea typeface="Aptos" pitchFamily="34" charset="-122"/>
                <a:cs typeface="Aptos" pitchFamily="34" charset="-120"/>
              </a:rPr>
              <a:t>adversarial cases</a:t>
            </a:r>
            <a:endParaRPr lang="en-US" sz="1000" dirty="0"/>
          </a:p>
        </p:txBody>
      </p:sp>
      <p:sp>
        <p:nvSpPr>
          <p:cNvPr id="12" name="Text 10"/>
          <p:cNvSpPr/>
          <p:nvPr/>
        </p:nvSpPr>
        <p:spPr>
          <a:xfrm>
            <a:off x="8321040" y="1965960"/>
            <a:ext cx="1691640" cy="91440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dirty="0">
                <a:solidFill>
                  <a:srgbClr val="0B132B"/>
                </a:solidFill>
                <a:latin typeface="Aptos" pitchFamily="34" charset="0"/>
                <a:ea typeface="Aptos" pitchFamily="34" charset="-122"/>
                <a:cs typeface="Aptos" pitchFamily="34" charset="-120"/>
              </a:rPr>
              <a:t>Simulator</a:t>
            </a:r>
            <a:endParaRPr lang="en-US" sz="1000" dirty="0"/>
          </a:p>
          <a:p>
            <a:pPr algn="ctr" indent="0" marL="0">
              <a:buNone/>
            </a:pPr>
            <a:r>
              <a:rPr lang="en-US" sz="1000" dirty="0">
                <a:solidFill>
                  <a:srgbClr val="0B132B"/>
                </a:solidFill>
                <a:latin typeface="Aptos" pitchFamily="34" charset="0"/>
                <a:ea typeface="Aptos" pitchFamily="34" charset="-122"/>
                <a:cs typeface="Aptos" pitchFamily="34" charset="-120"/>
              </a:rPr>
              <a:t>PPO</a:t>
            </a:r>
            <a:endParaRPr lang="en-US" sz="1000" dirty="0"/>
          </a:p>
          <a:p>
            <a:pPr algn="ctr" indent="0" marL="0">
              <a:buNone/>
            </a:pPr>
            <a:r>
              <a:rPr lang="en-US" sz="1000" dirty="0">
                <a:solidFill>
                  <a:srgbClr val="0B132B"/>
                </a:solidFill>
                <a:latin typeface="Aptos" pitchFamily="34" charset="0"/>
                <a:ea typeface="Aptos" pitchFamily="34" charset="-122"/>
                <a:cs typeface="Aptos" pitchFamily="34" charset="-120"/>
              </a:rPr>
              <a:t>qualification</a:t>
            </a:r>
            <a:endParaRPr lang="en-US" sz="1000" dirty="0"/>
          </a:p>
        </p:txBody>
      </p:sp>
      <p:sp>
        <p:nvSpPr>
          <p:cNvPr id="13" name="Text 11"/>
          <p:cNvSpPr/>
          <p:nvPr/>
        </p:nvSpPr>
        <p:spPr>
          <a:xfrm>
            <a:off x="10195560" y="1965960"/>
            <a:ext cx="1691640" cy="91440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dirty="0">
                <a:solidFill>
                  <a:srgbClr val="0B132B"/>
                </a:solidFill>
                <a:latin typeface="Aptos" pitchFamily="34" charset="0"/>
                <a:ea typeface="Aptos" pitchFamily="34" charset="-122"/>
                <a:cs typeface="Aptos" pitchFamily="34" charset="-120"/>
              </a:rPr>
              <a:t>No real-road</a:t>
            </a:r>
            <a:endParaRPr lang="en-US" sz="1000" dirty="0"/>
          </a:p>
          <a:p>
            <a:pPr algn="ctr" indent="0" marL="0">
              <a:buNone/>
            </a:pPr>
            <a:r>
              <a:rPr lang="en-US" sz="1000" dirty="0">
                <a:solidFill>
                  <a:srgbClr val="0B132B"/>
                </a:solidFill>
                <a:latin typeface="Aptos" pitchFamily="34" charset="0"/>
                <a:ea typeface="Aptos" pitchFamily="34" charset="-122"/>
                <a:cs typeface="Aptos" pitchFamily="34" charset="-120"/>
              </a:rPr>
              <a:t>no perception</a:t>
            </a:r>
            <a:endParaRPr lang="en-US" sz="1000" dirty="0"/>
          </a:p>
          <a:p>
            <a:pPr algn="ctr" indent="0" marL="0">
              <a:buNone/>
            </a:pPr>
            <a:r>
              <a:rPr lang="en-US" sz="1000" dirty="0">
                <a:solidFill>
                  <a:srgbClr val="0B132B"/>
                </a:solidFill>
                <a:latin typeface="Aptos" pitchFamily="34" charset="0"/>
                <a:ea typeface="Aptos" pitchFamily="34" charset="-122"/>
                <a:cs typeface="Aptos" pitchFamily="34" charset="-120"/>
              </a:rPr>
              <a:t>no V6 promotion</a:t>
            </a:r>
            <a:endParaRPr lang="en-US" sz="1000" dirty="0"/>
          </a:p>
        </p:txBody>
      </p:sp>
      <p:sp>
        <p:nvSpPr>
          <p:cNvPr id="14" name="Shape 12"/>
          <p:cNvSpPr/>
          <p:nvPr/>
        </p:nvSpPr>
        <p:spPr>
          <a:xfrm>
            <a:off x="8165592" y="2423160"/>
            <a:ext cx="109728" cy="0"/>
          </a:xfrm>
          <a:prstGeom prst="line">
            <a:avLst/>
          </a:prstGeom>
          <a:noFill/>
          <a:ln w="13970">
            <a:solidFill>
              <a:srgbClr val="64748B"/>
            </a:solidFill>
            <a:prstDash val="solid"/>
            <a:headEnd type="none"/>
            <a:tailEnd type="triangle"/>
          </a:ln>
        </p:spPr>
      </p:sp>
      <p:sp>
        <p:nvSpPr>
          <p:cNvPr id="15" name="Shape 13"/>
          <p:cNvSpPr/>
          <p:nvPr/>
        </p:nvSpPr>
        <p:spPr>
          <a:xfrm>
            <a:off x="10049256" y="2423160"/>
            <a:ext cx="109728" cy="0"/>
          </a:xfrm>
          <a:prstGeom prst="line">
            <a:avLst/>
          </a:prstGeom>
          <a:noFill/>
          <a:ln w="13970">
            <a:solidFill>
              <a:srgbClr val="64748B"/>
            </a:solidFill>
            <a:prstDash val="solid"/>
            <a:headEnd type="none"/>
            <a:tailEnd type="triangle"/>
          </a:ln>
        </p:spPr>
      </p:sp>
      <p:sp>
        <p:nvSpPr>
          <p:cNvPr id="16" name="Text 14"/>
          <p:cNvSpPr/>
          <p:nvPr/>
        </p:nvSpPr>
        <p:spPr>
          <a:xfrm>
            <a:off x="6446520" y="3108960"/>
            <a:ext cx="1691640" cy="182880"/>
          </a:xfrm>
          <a:prstGeom prst="rect">
            <a:avLst/>
          </a:prstGeom>
          <a:solidFill>
            <a:srgbClr val="94A3B8"/>
          </a:solidFill>
          <a:ln>
            <a:solidFill>
              <a:srgbClr val="94A3B8">
                <a:alpha val="0"/>
              </a:srgbClr>
            </a:solidFill>
          </a:ln>
        </p:spPr>
        <p:txBody>
          <a:bodyPr wrap="square" lIns="445" tIns="445" rIns="445" bIns="445" rtlCol="0" anchor="ctr"/>
          <a:lstStyle/>
          <a:p>
            <a:pPr algn="ctr" indent="0" marL="0">
              <a:buNone/>
            </a:pPr>
            <a:r>
              <a:rPr lang="en-US" sz="570" b="1" dirty="0">
                <a:solidFill>
                  <a:srgbClr val="FFFFFF"/>
                </a:solidFill>
              </a:rPr>
              <a:t>USER-PROVIDED / INCONCLUSIVE</a:t>
            </a:r>
            <a:endParaRPr lang="en-US" sz="570" dirty="0"/>
          </a:p>
        </p:txBody>
      </p:sp>
      <p:sp>
        <p:nvSpPr>
          <p:cNvPr id="17" name="Text 15"/>
          <p:cNvSpPr/>
          <p:nvPr/>
        </p:nvSpPr>
        <p:spPr>
          <a:xfrm>
            <a:off x="8321040" y="3108960"/>
            <a:ext cx="1691640" cy="182880"/>
          </a:xfrm>
          <a:prstGeom prst="rect">
            <a:avLst/>
          </a:prstGeom>
          <a:solidFill>
            <a:srgbClr val="1D4ED8"/>
          </a:solidFill>
          <a:ln>
            <a:solidFill>
              <a:srgbClr val="1D4ED8">
                <a:alpha val="0"/>
              </a:srgbClr>
            </a:solidFill>
          </a:ln>
        </p:spPr>
        <p:txBody>
          <a:bodyPr wrap="square" lIns="445" tIns="445" rIns="445" bIns="445" rtlCol="0" anchor="ctr"/>
          <a:lstStyle/>
          <a:p>
            <a:pPr algn="ctr" indent="0" marL="0">
              <a:buNone/>
            </a:pPr>
            <a:r>
              <a:rPr lang="en-US" sz="560" b="1" dirty="0">
                <a:solidFill>
                  <a:srgbClr val="FFFFFF"/>
                </a:solidFill>
              </a:rPr>
              <a:t>REPOSITORY-CONFIRMED</a:t>
            </a:r>
            <a:endParaRPr lang="en-US" sz="560" dirty="0"/>
          </a:p>
        </p:txBody>
      </p:sp>
      <p:sp>
        <p:nvSpPr>
          <p:cNvPr id="18" name="Text 16"/>
          <p:cNvSpPr/>
          <p:nvPr/>
        </p:nvSpPr>
        <p:spPr>
          <a:xfrm>
            <a:off x="10195560" y="3108960"/>
            <a:ext cx="169164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570" b="1" dirty="0">
                <a:solidFill>
                  <a:srgbClr val="FFFFFF"/>
                </a:solidFill>
              </a:rPr>
              <a:t>NO OVERCLAIM</a:t>
            </a:r>
            <a:endParaRPr lang="en-US" sz="570" dirty="0"/>
          </a:p>
        </p:txBody>
      </p:sp>
      <p:sp>
        <p:nvSpPr>
          <p:cNvPr id="19" name="Text 17"/>
          <p:cNvSpPr/>
          <p:nvPr/>
        </p:nvSpPr>
        <p:spPr>
          <a:xfrm>
            <a:off x="6766560" y="4069080"/>
            <a:ext cx="4800600" cy="1143000"/>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1300" dirty="0">
                <a:solidFill>
                  <a:srgbClr val="FFFFFF"/>
                </a:solidFill>
                <a:latin typeface="Aptos" pitchFamily="34" charset="0"/>
                <a:ea typeface="Aptos" pitchFamily="34" charset="-122"/>
                <a:cs typeface="Aptos" pitchFamily="34" charset="-120"/>
              </a:rPr>
              <a:t>Final research question</a:t>
            </a:r>
            <a:endParaRPr lang="en-US" sz="1300" dirty="0"/>
          </a:p>
          <a:p>
            <a:pPr algn="l" indent="0" marL="0">
              <a:buNone/>
            </a:pPr>
            <a:r>
              <a:rPr lang="en-US" sz="1300" dirty="0">
                <a:solidFill>
                  <a:srgbClr val="FFFFFF"/>
                </a:solidFill>
                <a:latin typeface="Aptos" pitchFamily="34" charset="0"/>
                <a:ea typeface="Aptos" pitchFamily="34" charset="-122"/>
                <a:cs typeface="Aptos" pitchFamily="34" charset="-120"/>
              </a:rPr>
              <a:t>Can one shared learned policy produce longitudinal intersection behavior across vehicles, densities, signals, queues, turns, and pedestrians without a runtime acceleration shield?</a:t>
            </a:r>
            <a:endParaRPr lang="en-US" sz="1300" dirty="0"/>
          </a:p>
        </p:txBody>
      </p:sp>
      <p:sp>
        <p:nvSpPr>
          <p:cNvPr id="20" name="Text 18"/>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Production = accepted simulator checkpoint/configuration, not road deployment.</a:t>
            </a:r>
            <a:endParaRPr lang="en-US" sz="7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PROJECT ARC</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Initial world-model direction and pivot</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6</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The pivot was a scope-control decision: preserve the hard-case theme, change the experimental instrument.</a:t>
            </a:r>
            <a:endParaRPr lang="en-US" sz="1230" dirty="0"/>
          </a:p>
        </p:txBody>
      </p:sp>
      <p:sp>
        <p:nvSpPr>
          <p:cNvPr id="7" name="Text 5"/>
          <p:cNvSpPr/>
          <p:nvPr/>
        </p:nvSpPr>
        <p:spPr>
          <a:xfrm>
            <a:off x="594360" y="1325880"/>
            <a:ext cx="5623560" cy="4251960"/>
          </a:xfrm>
          <a:prstGeom prst="rect">
            <a:avLst/>
          </a:prstGeom>
          <a:noFill/>
          <a:ln/>
        </p:spPr>
        <p:txBody>
          <a:bodyPr wrap="square" lIns="1016" tIns="1016" rIns="1016" bIns="1016" rtlCol="0" anchor="t">
            <a:normAutofit/>
          </a:bodyPr>
          <a:lstStyle/>
          <a:p>
            <a:pPr indent="0" marL="0">
              <a:buNone/>
            </a:pPr>
            <a:r>
              <a:rPr lang="en-US" sz="1470" dirty="0">
                <a:solidFill>
                  <a:srgbClr val="0B132B"/>
                </a:solidFill>
                <a:latin typeface="Aptos" pitchFamily="34" charset="0"/>
                <a:ea typeface="Aptos" pitchFamily="34" charset="-122"/>
                <a:cs typeface="Aptos" pitchFamily="34" charset="-120"/>
              </a:rPr>
              <a:t>• [INCONCLUSIVE] Original workflow: understand/modify DreamerV3, train a world model, use imagined rollouts for hard cases.</a:t>
            </a:r>
            <a:endParaRPr lang="en-US" sz="1470" dirty="0"/>
          </a:p>
          <a:p>
            <a:pPr indent="0" marL="0">
              <a:buNone/>
            </a:pPr>
            <a:r>
              <a:rPr lang="en-US" sz="1470" dirty="0">
                <a:solidFill>
                  <a:srgbClr val="0B132B"/>
                </a:solidFill>
                <a:latin typeface="Aptos" pitchFamily="34" charset="0"/>
                <a:ea typeface="Aptos" pitchFamily="34" charset="-122"/>
                <a:cs typeface="Aptos" pitchFamily="34" charset="-120"/>
              </a:rPr>
              <a:t>• [REPOSITORY-CONFIRMED] Handoff found no DreamerV3 code, checkpoint, training log, or result in inspected workspace.</a:t>
            </a:r>
            <a:endParaRPr lang="en-US" sz="1470" dirty="0"/>
          </a:p>
          <a:p>
            <a:pPr indent="0" marL="0">
              <a:buNone/>
            </a:pPr>
            <a:r>
              <a:rPr lang="en-US" sz="1470" dirty="0">
                <a:solidFill>
                  <a:srgbClr val="0B132B"/>
                </a:solidFill>
                <a:latin typeface="Aptos" pitchFamily="34" charset="0"/>
                <a:ea typeface="Aptos" pitchFamily="34" charset="-122"/>
                <a:cs typeface="Aptos" pitchFamily="34" charset="-120"/>
              </a:rPr>
              <a:t>• [IMPLEMENTED_AND_TESTED] New plan: implement simulator tasks directly and train a policy against explicit evaluation banks.</a:t>
            </a:r>
            <a:endParaRPr lang="en-US" sz="1470" dirty="0"/>
          </a:p>
          <a:p>
            <a:pPr indent="0" marL="0">
              <a:buNone/>
            </a:pPr>
            <a:r>
              <a:rPr lang="en-US" sz="1470" dirty="0">
                <a:solidFill>
                  <a:srgbClr val="0B132B"/>
                </a:solidFill>
                <a:latin typeface="Aptos" pitchFamily="34" charset="0"/>
                <a:ea typeface="Aptos" pitchFamily="34" charset="-122"/>
                <a:cs typeface="Aptos" pitchFamily="34" charset="-120"/>
              </a:rPr>
              <a:t>• Result: every claim could be reproduced, replayed, and rejected under gates.</a:t>
            </a:r>
            <a:endParaRPr lang="en-US" sz="1470" dirty="0"/>
          </a:p>
        </p:txBody>
      </p:sp>
      <p:sp>
        <p:nvSpPr>
          <p:cNvPr id="8" name="Text 6"/>
          <p:cNvSpPr/>
          <p:nvPr/>
        </p:nvSpPr>
        <p:spPr>
          <a:xfrm>
            <a:off x="6400800" y="1325880"/>
            <a:ext cx="1920240" cy="320040"/>
          </a:xfrm>
          <a:prstGeom prst="rect">
            <a:avLst/>
          </a:prstGeom>
          <a:solidFill>
            <a:srgbClr val="F1F5F9"/>
          </a:solidFill>
          <a:ln w="12700">
            <a:solidFill>
              <a:srgbClr val="E2E8F0"/>
            </a:solidFill>
          </a:ln>
        </p:spPr>
        <p:txBody>
          <a:bodyPr wrap="square" lIns="1016" tIns="1016" rIns="1016" bIns="1016" rtlCol="0" anchor="ctr">
            <a:normAutofit/>
          </a:bodyPr>
          <a:lstStyle/>
          <a:p>
            <a:pPr algn="ctr" indent="0" marL="0">
              <a:buNone/>
            </a:pPr>
            <a:r>
              <a:rPr lang="en-US" sz="1050" b="1" dirty="0">
                <a:solidFill>
                  <a:srgbClr val="0B132B"/>
                </a:solidFill>
                <a:latin typeface="Aptos" pitchFamily="34" charset="0"/>
                <a:ea typeface="Aptos" pitchFamily="34" charset="-122"/>
                <a:cs typeface="Aptos" pitchFamily="34" charset="-120"/>
              </a:rPr>
              <a:t>Before pivot</a:t>
            </a:r>
            <a:endParaRPr lang="en-US" sz="1050" dirty="0"/>
          </a:p>
        </p:txBody>
      </p:sp>
      <p:sp>
        <p:nvSpPr>
          <p:cNvPr id="9" name="Text 7"/>
          <p:cNvSpPr/>
          <p:nvPr/>
        </p:nvSpPr>
        <p:spPr>
          <a:xfrm>
            <a:off x="6400800" y="1920240"/>
            <a:ext cx="1920240" cy="5029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dirty="0">
                <a:solidFill>
                  <a:srgbClr val="0B132B"/>
                </a:solidFill>
                <a:latin typeface="Aptos" pitchFamily="34" charset="0"/>
                <a:ea typeface="Aptos" pitchFamily="34" charset="-122"/>
                <a:cs typeface="Aptos" pitchFamily="34" charset="-120"/>
              </a:rPr>
              <a:t>DreamerV3 codebase</a:t>
            </a:r>
            <a:endParaRPr lang="en-US" sz="1000" dirty="0"/>
          </a:p>
        </p:txBody>
      </p:sp>
      <p:sp>
        <p:nvSpPr>
          <p:cNvPr id="10" name="Text 8"/>
          <p:cNvSpPr/>
          <p:nvPr/>
        </p:nvSpPr>
        <p:spPr>
          <a:xfrm>
            <a:off x="6400800" y="2651760"/>
            <a:ext cx="1920240" cy="59436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dirty="0">
                <a:solidFill>
                  <a:srgbClr val="0B132B"/>
                </a:solidFill>
                <a:latin typeface="Aptos" pitchFamily="34" charset="0"/>
                <a:ea typeface="Aptos" pitchFamily="34" charset="-122"/>
                <a:cs typeface="Aptos" pitchFamily="34" charset="-120"/>
              </a:rPr>
              <a:t>Latent world model</a:t>
            </a:r>
            <a:endParaRPr lang="en-US" sz="1000" dirty="0"/>
          </a:p>
          <a:p>
            <a:pPr algn="ctr" indent="0" marL="0">
              <a:buNone/>
            </a:pPr>
            <a:r>
              <a:rPr lang="en-US" sz="1000" dirty="0">
                <a:solidFill>
                  <a:srgbClr val="0B132B"/>
                </a:solidFill>
                <a:latin typeface="Aptos" pitchFamily="34" charset="0"/>
                <a:ea typeface="Aptos" pitchFamily="34" charset="-122"/>
                <a:cs typeface="Aptos" pitchFamily="34" charset="-120"/>
              </a:rPr>
              <a:t>training</a:t>
            </a:r>
            <a:endParaRPr lang="en-US" sz="1000" dirty="0"/>
          </a:p>
        </p:txBody>
      </p:sp>
      <p:sp>
        <p:nvSpPr>
          <p:cNvPr id="11" name="Text 9"/>
          <p:cNvSpPr/>
          <p:nvPr/>
        </p:nvSpPr>
        <p:spPr>
          <a:xfrm>
            <a:off x="6400800" y="3474720"/>
            <a:ext cx="1920240" cy="59436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dirty="0">
                <a:solidFill>
                  <a:srgbClr val="0B132B"/>
                </a:solidFill>
                <a:latin typeface="Aptos" pitchFamily="34" charset="0"/>
                <a:ea typeface="Aptos" pitchFamily="34" charset="-122"/>
                <a:cs typeface="Aptos" pitchFamily="34" charset="-120"/>
              </a:rPr>
              <a:t>Imagined adversarial</a:t>
            </a:r>
            <a:endParaRPr lang="en-US" sz="1000" dirty="0"/>
          </a:p>
          <a:p>
            <a:pPr algn="ctr" indent="0" marL="0">
              <a:buNone/>
            </a:pPr>
            <a:r>
              <a:rPr lang="en-US" sz="1000" dirty="0">
                <a:solidFill>
                  <a:srgbClr val="0B132B"/>
                </a:solidFill>
                <a:latin typeface="Aptos" pitchFamily="34" charset="0"/>
                <a:ea typeface="Aptos" pitchFamily="34" charset="-122"/>
                <a:cs typeface="Aptos" pitchFamily="34" charset="-120"/>
              </a:rPr>
              <a:t>case generator</a:t>
            </a:r>
            <a:endParaRPr lang="en-US" sz="1000" dirty="0"/>
          </a:p>
        </p:txBody>
      </p:sp>
      <p:sp>
        <p:nvSpPr>
          <p:cNvPr id="12" name="Shape 10"/>
          <p:cNvSpPr/>
          <p:nvPr/>
        </p:nvSpPr>
        <p:spPr>
          <a:xfrm>
            <a:off x="7360920" y="2423160"/>
            <a:ext cx="0" cy="228600"/>
          </a:xfrm>
          <a:prstGeom prst="line">
            <a:avLst/>
          </a:prstGeom>
          <a:noFill/>
          <a:ln w="16510">
            <a:solidFill>
              <a:srgbClr val="64748B"/>
            </a:solidFill>
            <a:prstDash val="solid"/>
            <a:headEnd type="none"/>
            <a:tailEnd type="triangle"/>
          </a:ln>
        </p:spPr>
      </p:sp>
      <p:sp>
        <p:nvSpPr>
          <p:cNvPr id="13" name="Shape 11"/>
          <p:cNvSpPr/>
          <p:nvPr/>
        </p:nvSpPr>
        <p:spPr>
          <a:xfrm>
            <a:off x="7360920" y="3246120"/>
            <a:ext cx="0" cy="228600"/>
          </a:xfrm>
          <a:prstGeom prst="line">
            <a:avLst/>
          </a:prstGeom>
          <a:noFill/>
          <a:ln w="16510">
            <a:solidFill>
              <a:srgbClr val="64748B"/>
            </a:solidFill>
            <a:prstDash val="solid"/>
            <a:headEnd type="none"/>
            <a:tailEnd type="triangle"/>
          </a:ln>
        </p:spPr>
      </p:sp>
      <p:sp>
        <p:nvSpPr>
          <p:cNvPr id="14" name="Shape 12"/>
          <p:cNvSpPr/>
          <p:nvPr/>
        </p:nvSpPr>
        <p:spPr>
          <a:xfrm>
            <a:off x="8549640" y="3017520"/>
            <a:ext cx="1188720" cy="0"/>
          </a:xfrm>
          <a:prstGeom prst="line">
            <a:avLst/>
          </a:prstGeom>
          <a:noFill/>
          <a:ln w="19050">
            <a:solidFill>
              <a:srgbClr val="DC2626"/>
            </a:solidFill>
            <a:prstDash val="solid"/>
            <a:headEnd type="none"/>
            <a:tailEnd type="triangle"/>
          </a:ln>
        </p:spPr>
      </p:sp>
      <p:sp>
        <p:nvSpPr>
          <p:cNvPr id="15" name="Text 13"/>
          <p:cNvSpPr/>
          <p:nvPr/>
        </p:nvSpPr>
        <p:spPr>
          <a:xfrm>
            <a:off x="8732520" y="2651760"/>
            <a:ext cx="1097280" cy="685800"/>
          </a:xfrm>
          <a:prstGeom prst="rect">
            <a:avLst/>
          </a:prstGeom>
          <a:solidFill>
            <a:srgbClr val="FEF2F2"/>
          </a:solidFill>
          <a:ln w="12700">
            <a:solidFill>
              <a:srgbClr val="FECACA"/>
            </a:solidFill>
          </a:ln>
        </p:spPr>
        <p:txBody>
          <a:bodyPr wrap="square" lIns="1016" tIns="1016" rIns="1016" bIns="1016" rtlCol="0" anchor="ctr">
            <a:normAutofit/>
          </a:bodyPr>
          <a:lstStyle/>
          <a:p>
            <a:pPr algn="ctr" indent="0" marL="0">
              <a:buNone/>
            </a:pPr>
            <a:r>
              <a:rPr lang="en-US" sz="950" b="1" dirty="0">
                <a:solidFill>
                  <a:srgbClr val="DC2626"/>
                </a:solidFill>
                <a:latin typeface="Aptos" pitchFamily="34" charset="0"/>
                <a:ea typeface="Aptos" pitchFamily="34" charset="-122"/>
                <a:cs typeface="Aptos" pitchFamily="34" charset="-120"/>
              </a:rPr>
              <a:t>Scope too large</a:t>
            </a:r>
            <a:endParaRPr lang="en-US" sz="950" dirty="0"/>
          </a:p>
          <a:p>
            <a:pPr algn="ctr" indent="0" marL="0">
              <a:buNone/>
            </a:pPr>
            <a:r>
              <a:rPr lang="en-US" sz="950" b="1" dirty="0">
                <a:solidFill>
                  <a:srgbClr val="DC2626"/>
                </a:solidFill>
                <a:latin typeface="Aptos" pitchFamily="34" charset="0"/>
                <a:ea typeface="Aptos" pitchFamily="34" charset="-122"/>
                <a:cs typeface="Aptos" pitchFamily="34" charset="-120"/>
              </a:rPr>
              <a:t>for internship window</a:t>
            </a:r>
            <a:endParaRPr lang="en-US" sz="950" dirty="0"/>
          </a:p>
        </p:txBody>
      </p:sp>
      <p:sp>
        <p:nvSpPr>
          <p:cNvPr id="16" name="Text 14"/>
          <p:cNvSpPr/>
          <p:nvPr/>
        </p:nvSpPr>
        <p:spPr>
          <a:xfrm>
            <a:off x="10058400" y="1325880"/>
            <a:ext cx="1920240" cy="320040"/>
          </a:xfrm>
          <a:prstGeom prst="rect">
            <a:avLst/>
          </a:prstGeom>
          <a:solidFill>
            <a:srgbClr val="ECFDF5"/>
          </a:solidFill>
          <a:ln w="12700">
            <a:solidFill>
              <a:srgbClr val="A7F3D0"/>
            </a:solidFill>
          </a:ln>
        </p:spPr>
        <p:txBody>
          <a:bodyPr wrap="square" lIns="1016" tIns="1016" rIns="1016" bIns="1016" rtlCol="0" anchor="ctr">
            <a:normAutofit/>
          </a:bodyPr>
          <a:lstStyle/>
          <a:p>
            <a:pPr algn="ctr" indent="0" marL="0">
              <a:buNone/>
            </a:pPr>
            <a:r>
              <a:rPr lang="en-US" sz="1050" b="1" dirty="0">
                <a:solidFill>
                  <a:srgbClr val="0B132B"/>
                </a:solidFill>
                <a:latin typeface="Aptos" pitchFamily="34" charset="0"/>
                <a:ea typeface="Aptos" pitchFamily="34" charset="-122"/>
                <a:cs typeface="Aptos" pitchFamily="34" charset="-120"/>
              </a:rPr>
              <a:t>After pivot</a:t>
            </a:r>
            <a:endParaRPr lang="en-US" sz="1050" dirty="0"/>
          </a:p>
        </p:txBody>
      </p:sp>
      <p:sp>
        <p:nvSpPr>
          <p:cNvPr id="17" name="Text 15"/>
          <p:cNvSpPr/>
          <p:nvPr/>
        </p:nvSpPr>
        <p:spPr>
          <a:xfrm>
            <a:off x="10058400" y="1920240"/>
            <a:ext cx="1920240" cy="5029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dirty="0">
                <a:solidFill>
                  <a:srgbClr val="0B132B"/>
                </a:solidFill>
                <a:latin typeface="Aptos" pitchFamily="34" charset="0"/>
                <a:ea typeface="Aptos" pitchFamily="34" charset="-122"/>
                <a:cs typeface="Aptos" pitchFamily="34" charset="-120"/>
              </a:rPr>
              <a:t>Controlled simulator</a:t>
            </a:r>
            <a:endParaRPr lang="en-US" sz="1000" dirty="0"/>
          </a:p>
        </p:txBody>
      </p:sp>
      <p:sp>
        <p:nvSpPr>
          <p:cNvPr id="18" name="Text 16"/>
          <p:cNvSpPr/>
          <p:nvPr/>
        </p:nvSpPr>
        <p:spPr>
          <a:xfrm>
            <a:off x="10058400" y="2651760"/>
            <a:ext cx="1920240" cy="59436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dirty="0">
                <a:solidFill>
                  <a:srgbClr val="0B132B"/>
                </a:solidFill>
                <a:latin typeface="Aptos" pitchFamily="34" charset="0"/>
                <a:ea typeface="Aptos" pitchFamily="34" charset="-122"/>
                <a:cs typeface="Aptos" pitchFamily="34" charset="-120"/>
              </a:rPr>
              <a:t>Shared PPO policy</a:t>
            </a:r>
            <a:endParaRPr lang="en-US" sz="1000" dirty="0"/>
          </a:p>
        </p:txBody>
      </p:sp>
      <p:sp>
        <p:nvSpPr>
          <p:cNvPr id="19" name="Text 17"/>
          <p:cNvSpPr/>
          <p:nvPr/>
        </p:nvSpPr>
        <p:spPr>
          <a:xfrm>
            <a:off x="10058400" y="3474720"/>
            <a:ext cx="1920240" cy="59436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dirty="0">
                <a:solidFill>
                  <a:srgbClr val="0B132B"/>
                </a:solidFill>
                <a:latin typeface="Aptos" pitchFamily="34" charset="0"/>
                <a:ea typeface="Aptos" pitchFamily="34" charset="-122"/>
                <a:cs typeface="Aptos" pitchFamily="34" charset="-120"/>
              </a:rPr>
              <a:t>Seeded stress banks</a:t>
            </a:r>
            <a:endParaRPr lang="en-US" sz="1000" dirty="0"/>
          </a:p>
          <a:p>
            <a:pPr algn="ctr" indent="0" marL="0">
              <a:buNone/>
            </a:pPr>
            <a:r>
              <a:rPr lang="en-US" sz="1000" dirty="0">
                <a:solidFill>
                  <a:srgbClr val="0B132B"/>
                </a:solidFill>
                <a:latin typeface="Aptos" pitchFamily="34" charset="0"/>
                <a:ea typeface="Aptos" pitchFamily="34" charset="-122"/>
                <a:cs typeface="Aptos" pitchFamily="34" charset="-120"/>
              </a:rPr>
              <a:t>+ promotion gates</a:t>
            </a:r>
            <a:endParaRPr lang="en-US" sz="1000" dirty="0"/>
          </a:p>
        </p:txBody>
      </p:sp>
      <p:sp>
        <p:nvSpPr>
          <p:cNvPr id="20" name="Shape 18"/>
          <p:cNvSpPr/>
          <p:nvPr/>
        </p:nvSpPr>
        <p:spPr>
          <a:xfrm>
            <a:off x="11018520" y="2423160"/>
            <a:ext cx="0" cy="228600"/>
          </a:xfrm>
          <a:prstGeom prst="line">
            <a:avLst/>
          </a:prstGeom>
          <a:noFill/>
          <a:ln w="16510">
            <a:solidFill>
              <a:srgbClr val="64748B"/>
            </a:solidFill>
            <a:prstDash val="solid"/>
            <a:headEnd type="none"/>
            <a:tailEnd type="triangle"/>
          </a:ln>
        </p:spPr>
      </p:sp>
      <p:sp>
        <p:nvSpPr>
          <p:cNvPr id="21" name="Shape 19"/>
          <p:cNvSpPr/>
          <p:nvPr/>
        </p:nvSpPr>
        <p:spPr>
          <a:xfrm>
            <a:off x="11018520" y="3246120"/>
            <a:ext cx="0" cy="228600"/>
          </a:xfrm>
          <a:prstGeom prst="line">
            <a:avLst/>
          </a:prstGeom>
          <a:noFill/>
          <a:ln w="16510">
            <a:solidFill>
              <a:srgbClr val="64748B"/>
            </a:solidFill>
            <a:prstDash val="solid"/>
            <a:headEnd type="none"/>
            <a:tailEnd type="triangle"/>
          </a:ln>
        </p:spPr>
      </p:sp>
      <p:sp>
        <p:nvSpPr>
          <p:cNvPr id="22" name="Text 20"/>
          <p:cNvSpPr/>
          <p:nvPr/>
        </p:nvSpPr>
        <p:spPr>
          <a:xfrm>
            <a:off x="6583680" y="4480560"/>
            <a:ext cx="1508760" cy="182880"/>
          </a:xfrm>
          <a:prstGeom prst="rect">
            <a:avLst/>
          </a:prstGeom>
          <a:solidFill>
            <a:srgbClr val="94A3B8"/>
          </a:solidFill>
          <a:ln>
            <a:solidFill>
              <a:srgbClr val="94A3B8">
                <a:alpha val="0"/>
              </a:srgbClr>
            </a:solidFill>
          </a:ln>
        </p:spPr>
        <p:txBody>
          <a:bodyPr wrap="square" lIns="445" tIns="445" rIns="445" bIns="445" rtlCol="0" anchor="ctr"/>
          <a:lstStyle/>
          <a:p>
            <a:pPr algn="ctr" indent="0" marL="0">
              <a:buNone/>
            </a:pPr>
            <a:r>
              <a:rPr lang="en-US" sz="720" b="1" dirty="0">
                <a:solidFill>
                  <a:srgbClr val="FFFFFF"/>
                </a:solidFill>
              </a:rPr>
              <a:t>INCONCLUSIVE</a:t>
            </a:r>
            <a:endParaRPr lang="en-US" sz="720" dirty="0"/>
          </a:p>
        </p:txBody>
      </p:sp>
      <p:sp>
        <p:nvSpPr>
          <p:cNvPr id="23" name="Text 21"/>
          <p:cNvSpPr/>
          <p:nvPr/>
        </p:nvSpPr>
        <p:spPr>
          <a:xfrm>
            <a:off x="10195560" y="4480560"/>
            <a:ext cx="1645920" cy="182880"/>
          </a:xfrm>
          <a:prstGeom prst="rect">
            <a:avLst/>
          </a:prstGeom>
          <a:solidFill>
            <a:srgbClr val="0F766E"/>
          </a:solidFill>
          <a:ln>
            <a:solidFill>
              <a:srgbClr val="0F766E">
                <a:alpha val="0"/>
              </a:srgbClr>
            </a:solidFill>
          </a:ln>
        </p:spPr>
        <p:txBody>
          <a:bodyPr wrap="square" lIns="445" tIns="445" rIns="445" bIns="445" rtlCol="0" anchor="ctr"/>
          <a:lstStyle/>
          <a:p>
            <a:pPr algn="ctr" indent="0" marL="0">
              <a:buNone/>
            </a:pPr>
            <a:r>
              <a:rPr lang="en-US" sz="560" b="1" dirty="0">
                <a:solidFill>
                  <a:srgbClr val="FFFFFF"/>
                </a:solidFill>
              </a:rPr>
              <a:t>IMPLEMENTED_AND_TESTED</a:t>
            </a:r>
            <a:endParaRPr lang="en-US" sz="560" dirty="0"/>
          </a:p>
        </p:txBody>
      </p:sp>
      <p:sp>
        <p:nvSpPr>
          <p:cNvPr id="24" name="Text 22"/>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Safe wording: “scope-driven pivot,” not “Dreamer failed.”</a:t>
            </a:r>
            <a:endParaRPr lang="en-US" sz="7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PROBLEM FORMULATION</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Final research problem: parameter-sharing self-play RL</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7</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Each vehicle acts locally, but every vehicle is another copy of the same learned policy.</a:t>
            </a:r>
            <a:endParaRPr lang="en-US" sz="1230" dirty="0"/>
          </a:p>
        </p:txBody>
      </p:sp>
      <p:sp>
        <p:nvSpPr>
          <p:cNvPr id="7" name="Text 5"/>
          <p:cNvSpPr/>
          <p:nvPr/>
        </p:nvSpPr>
        <p:spPr>
          <a:xfrm>
            <a:off x="594360" y="1325880"/>
            <a:ext cx="5303520" cy="4297680"/>
          </a:xfrm>
          <a:prstGeom prst="rect">
            <a:avLst/>
          </a:prstGeom>
          <a:noFill/>
          <a:ln/>
        </p:spPr>
        <p:txBody>
          <a:bodyPr wrap="square" lIns="1016" tIns="1016" rIns="1016" bIns="1016" rtlCol="0" anchor="t">
            <a:normAutofit/>
          </a:bodyPr>
          <a:lstStyle/>
          <a:p>
            <a:pPr indent="0" marL="0">
              <a:buNone/>
            </a:pPr>
            <a:r>
              <a:rPr lang="en-US" sz="1480" dirty="0">
                <a:solidFill>
                  <a:srgbClr val="0B132B"/>
                </a:solidFill>
                <a:latin typeface="Aptos" pitchFamily="34" charset="0"/>
                <a:ea typeface="Aptos" pitchFamily="34" charset="-122"/>
                <a:cs typeface="Aptos" pitchFamily="34" charset="-120"/>
              </a:rPr>
              <a:t>• [PRODUCTION] Each active vehicle receives its own ego-centered observation graph.</a:t>
            </a:r>
            <a:endParaRPr lang="en-US" sz="1480" dirty="0"/>
          </a:p>
          <a:p>
            <a:pPr indent="0" marL="0">
              <a:buNone/>
            </a:pPr>
            <a:r>
              <a:rPr lang="en-US" sz="1480" dirty="0">
                <a:solidFill>
                  <a:srgbClr val="0B132B"/>
                </a:solidFill>
                <a:latin typeface="Aptos" pitchFamily="34" charset="0"/>
                <a:ea typeface="Aptos" pitchFamily="34" charset="-122"/>
                <a:cs typeface="Aptos" pitchFamily="34" charset="-120"/>
              </a:rPr>
              <a:t>• [PRODUCTION] A single stochastic actor and critic are reused for all vehicles.</a:t>
            </a:r>
            <a:endParaRPr lang="en-US" sz="1480" dirty="0"/>
          </a:p>
          <a:p>
            <a:pPr indent="0" marL="0">
              <a:buNone/>
            </a:pPr>
            <a:r>
              <a:rPr lang="en-US" sz="1480" dirty="0">
                <a:solidFill>
                  <a:srgbClr val="0B132B"/>
                </a:solidFill>
                <a:latin typeface="Aptos" pitchFamily="34" charset="0"/>
                <a:ea typeface="Aptos" pitchFamily="34" charset="-122"/>
                <a:cs typeface="Aptos" pitchFamily="34" charset="-120"/>
              </a:rPr>
              <a:t>• [IMPLEMENTED_AND_TESTED] PPO aggregates samples from all active roles: leader, follower, turning, yielding, priority.</a:t>
            </a:r>
            <a:endParaRPr lang="en-US" sz="1480" dirty="0"/>
          </a:p>
          <a:p>
            <a:pPr indent="0" marL="0">
              <a:buNone/>
            </a:pPr>
            <a:r>
              <a:rPr lang="en-US" sz="1480" dirty="0">
                <a:solidFill>
                  <a:srgbClr val="0B132B"/>
                </a:solidFill>
                <a:latin typeface="Aptos" pitchFamily="34" charset="0"/>
                <a:ea typeface="Aptos" pitchFamily="34" charset="-122"/>
                <a:cs typeface="Aptos" pitchFamily="34" charset="-120"/>
              </a:rPr>
              <a:t>• [INCONCLUSIVE] “Self-play” here is shared-policy interaction, not a minimax opponent league.</a:t>
            </a:r>
            <a:endParaRPr lang="en-US" sz="1480" dirty="0"/>
          </a:p>
        </p:txBody>
      </p:sp>
      <p:sp>
        <p:nvSpPr>
          <p:cNvPr id="8" name="Shape 6"/>
          <p:cNvSpPr/>
          <p:nvPr/>
        </p:nvSpPr>
        <p:spPr>
          <a:xfrm>
            <a:off x="6446520" y="2759202"/>
            <a:ext cx="3648456" cy="0"/>
          </a:xfrm>
          <a:prstGeom prst="line">
            <a:avLst/>
          </a:prstGeom>
          <a:noFill/>
          <a:ln w="410210">
            <a:solidFill>
              <a:srgbClr val="CBD5E1"/>
            </a:solidFill>
            <a:prstDash val="solid"/>
          </a:ln>
        </p:spPr>
      </p:sp>
      <p:sp>
        <p:nvSpPr>
          <p:cNvPr id="9" name="Shape 7"/>
          <p:cNvSpPr/>
          <p:nvPr/>
        </p:nvSpPr>
        <p:spPr>
          <a:xfrm>
            <a:off x="8270748" y="1065276"/>
            <a:ext cx="0" cy="3387852"/>
          </a:xfrm>
          <a:prstGeom prst="line">
            <a:avLst/>
          </a:prstGeom>
          <a:noFill/>
          <a:ln w="410210">
            <a:solidFill>
              <a:srgbClr val="CBD5E1"/>
            </a:solidFill>
            <a:prstDash val="solid"/>
          </a:ln>
        </p:spPr>
      </p:sp>
      <p:sp>
        <p:nvSpPr>
          <p:cNvPr id="10" name="Shape 8"/>
          <p:cNvSpPr/>
          <p:nvPr/>
        </p:nvSpPr>
        <p:spPr>
          <a:xfrm>
            <a:off x="6446520" y="2759202"/>
            <a:ext cx="3648456" cy="0"/>
          </a:xfrm>
          <a:prstGeom prst="line">
            <a:avLst/>
          </a:prstGeom>
          <a:noFill/>
          <a:ln w="15240">
            <a:solidFill>
              <a:srgbClr val="F8FAFC"/>
            </a:solidFill>
            <a:prstDash val="solid"/>
          </a:ln>
        </p:spPr>
      </p:sp>
      <p:sp>
        <p:nvSpPr>
          <p:cNvPr id="11" name="Shape 9"/>
          <p:cNvSpPr/>
          <p:nvPr/>
        </p:nvSpPr>
        <p:spPr>
          <a:xfrm>
            <a:off x="8270748" y="1065276"/>
            <a:ext cx="0" cy="3387852"/>
          </a:xfrm>
          <a:prstGeom prst="line">
            <a:avLst/>
          </a:prstGeom>
          <a:noFill/>
          <a:ln w="15240">
            <a:solidFill>
              <a:srgbClr val="F8FAFC"/>
            </a:solidFill>
            <a:prstDash val="solid"/>
          </a:ln>
        </p:spPr>
      </p:sp>
      <p:sp>
        <p:nvSpPr>
          <p:cNvPr id="12" name="Shape 10"/>
          <p:cNvSpPr/>
          <p:nvPr/>
        </p:nvSpPr>
        <p:spPr>
          <a:xfrm>
            <a:off x="8270748" y="1977390"/>
            <a:ext cx="0" cy="304038"/>
          </a:xfrm>
          <a:prstGeom prst="line">
            <a:avLst/>
          </a:prstGeom>
          <a:noFill/>
          <a:ln w="19050">
            <a:solidFill>
              <a:srgbClr val="0B132B"/>
            </a:solidFill>
            <a:prstDash val="solid"/>
          </a:ln>
        </p:spPr>
      </p:sp>
      <p:sp>
        <p:nvSpPr>
          <p:cNvPr id="13" name="Shape 11"/>
          <p:cNvSpPr/>
          <p:nvPr/>
        </p:nvSpPr>
        <p:spPr>
          <a:xfrm>
            <a:off x="8270748" y="3236976"/>
            <a:ext cx="0" cy="304038"/>
          </a:xfrm>
          <a:prstGeom prst="line">
            <a:avLst/>
          </a:prstGeom>
          <a:noFill/>
          <a:ln w="19050">
            <a:solidFill>
              <a:srgbClr val="0B132B"/>
            </a:solidFill>
            <a:prstDash val="solid"/>
          </a:ln>
        </p:spPr>
      </p:sp>
      <p:sp>
        <p:nvSpPr>
          <p:cNvPr id="14" name="Shape 12"/>
          <p:cNvSpPr/>
          <p:nvPr/>
        </p:nvSpPr>
        <p:spPr>
          <a:xfrm>
            <a:off x="7488936" y="2759202"/>
            <a:ext cx="304038" cy="0"/>
          </a:xfrm>
          <a:prstGeom prst="line">
            <a:avLst/>
          </a:prstGeom>
          <a:noFill/>
          <a:ln w="19050">
            <a:solidFill>
              <a:srgbClr val="0B132B"/>
            </a:solidFill>
            <a:prstDash val="solid"/>
          </a:ln>
        </p:spPr>
      </p:sp>
      <p:sp>
        <p:nvSpPr>
          <p:cNvPr id="15" name="Shape 13"/>
          <p:cNvSpPr/>
          <p:nvPr/>
        </p:nvSpPr>
        <p:spPr>
          <a:xfrm>
            <a:off x="8748522" y="2759202"/>
            <a:ext cx="304038" cy="0"/>
          </a:xfrm>
          <a:prstGeom prst="line">
            <a:avLst/>
          </a:prstGeom>
          <a:noFill/>
          <a:ln w="19050">
            <a:solidFill>
              <a:srgbClr val="0B132B"/>
            </a:solidFill>
            <a:prstDash val="solid"/>
          </a:ln>
        </p:spPr>
      </p:sp>
      <p:sp>
        <p:nvSpPr>
          <p:cNvPr id="16" name="Text 14"/>
          <p:cNvSpPr/>
          <p:nvPr/>
        </p:nvSpPr>
        <p:spPr>
          <a:xfrm>
            <a:off x="7488936" y="2568092"/>
            <a:ext cx="277978" cy="156362"/>
          </a:xfrm>
          <a:prstGeom prst="rect">
            <a:avLst/>
          </a:prstGeom>
          <a:solidFill>
            <a:srgbClr val="1D4ED8"/>
          </a:solidFill>
          <a:ln>
            <a:solidFill>
              <a:srgbClr val="1D4ED8">
                <a:alpha val="0"/>
              </a:srgbClr>
            </a:solidFill>
          </a:ln>
        </p:spPr>
        <p:txBody>
          <a:bodyPr wrap="square" rtlCol="0" anchor="ctr"/>
          <a:lstStyle/>
          <a:p>
            <a:pPr indent="0" marL="0">
              <a:buNone/>
            </a:pPr>
            <a:endParaRPr lang="en-US" dirty="0"/>
          </a:p>
        </p:txBody>
      </p:sp>
      <p:sp>
        <p:nvSpPr>
          <p:cNvPr id="17" name="Text 15"/>
          <p:cNvSpPr/>
          <p:nvPr/>
        </p:nvSpPr>
        <p:spPr>
          <a:xfrm>
            <a:off x="9052560" y="2837383"/>
            <a:ext cx="277978" cy="156362"/>
          </a:xfrm>
          <a:prstGeom prst="rect">
            <a:avLst/>
          </a:prstGeom>
          <a:solidFill>
            <a:srgbClr val="059669"/>
          </a:solidFill>
          <a:ln>
            <a:solidFill>
              <a:srgbClr val="059669">
                <a:alpha val="0"/>
              </a:srgbClr>
            </a:solidFill>
          </a:ln>
        </p:spPr>
        <p:txBody>
          <a:bodyPr wrap="square" rtlCol="0" anchor="ctr"/>
          <a:lstStyle/>
          <a:p>
            <a:pPr indent="0" marL="0">
              <a:buNone/>
            </a:pPr>
            <a:endParaRPr lang="en-US" dirty="0"/>
          </a:p>
        </p:txBody>
      </p:sp>
      <p:sp>
        <p:nvSpPr>
          <p:cNvPr id="18" name="Text 16"/>
          <p:cNvSpPr/>
          <p:nvPr/>
        </p:nvSpPr>
        <p:spPr>
          <a:xfrm>
            <a:off x="8079638" y="1890522"/>
            <a:ext cx="277978" cy="156362"/>
          </a:xfrm>
          <a:prstGeom prst="rect">
            <a:avLst/>
          </a:prstGeom>
          <a:solidFill>
            <a:srgbClr val="F97316"/>
          </a:solidFill>
          <a:ln>
            <a:solidFill>
              <a:srgbClr val="F97316">
                <a:alpha val="0"/>
              </a:srgbClr>
            </a:solidFill>
          </a:ln>
        </p:spPr>
        <p:txBody>
          <a:bodyPr wrap="square" rtlCol="0" anchor="ctr"/>
          <a:lstStyle/>
          <a:p>
            <a:pPr indent="0" marL="0">
              <a:buNone/>
            </a:pPr>
            <a:endParaRPr lang="en-US" dirty="0"/>
          </a:p>
        </p:txBody>
      </p:sp>
      <p:sp>
        <p:nvSpPr>
          <p:cNvPr id="19" name="Text 17"/>
          <p:cNvSpPr/>
          <p:nvPr/>
        </p:nvSpPr>
        <p:spPr>
          <a:xfrm>
            <a:off x="8427110" y="3627882"/>
            <a:ext cx="277978" cy="156362"/>
          </a:xfrm>
          <a:prstGeom prst="rect">
            <a:avLst/>
          </a:prstGeom>
          <a:solidFill>
            <a:srgbClr val="7C3AED"/>
          </a:solidFill>
          <a:ln>
            <a:solidFill>
              <a:srgbClr val="7C3AED">
                <a:alpha val="0"/>
              </a:srgbClr>
            </a:solidFill>
          </a:ln>
        </p:spPr>
        <p:txBody>
          <a:bodyPr wrap="square" rtlCol="0" anchor="ctr"/>
          <a:lstStyle/>
          <a:p>
            <a:pPr indent="0" marL="0">
              <a:buNone/>
            </a:pPr>
            <a:endParaRPr lang="en-US" dirty="0"/>
          </a:p>
        </p:txBody>
      </p:sp>
      <p:sp>
        <p:nvSpPr>
          <p:cNvPr id="20" name="Text 18"/>
          <p:cNvSpPr/>
          <p:nvPr/>
        </p:nvSpPr>
        <p:spPr>
          <a:xfrm>
            <a:off x="7176211" y="1899209"/>
            <a:ext cx="112928" cy="112928"/>
          </a:xfrm>
          <a:prstGeom prst="rect">
            <a:avLst/>
          </a:prstGeom>
          <a:solidFill>
            <a:srgbClr val="DC2626"/>
          </a:solidFill>
          <a:ln>
            <a:solidFill>
              <a:srgbClr val="DC2626">
                <a:alpha val="0"/>
              </a:srgbClr>
            </a:solidFill>
          </a:ln>
        </p:spPr>
        <p:txBody>
          <a:bodyPr wrap="square" rtlCol="0" anchor="ctr"/>
          <a:lstStyle/>
          <a:p>
            <a:pPr indent="0" marL="0">
              <a:buNone/>
            </a:pPr>
            <a:endParaRPr lang="en-US" dirty="0"/>
          </a:p>
        </p:txBody>
      </p:sp>
      <p:sp>
        <p:nvSpPr>
          <p:cNvPr id="21" name="Text 19"/>
          <p:cNvSpPr/>
          <p:nvPr/>
        </p:nvSpPr>
        <p:spPr>
          <a:xfrm>
            <a:off x="6837426" y="1716786"/>
            <a:ext cx="521208" cy="138989"/>
          </a:xfrm>
          <a:prstGeom prst="rect">
            <a:avLst/>
          </a:prstGeom>
          <a:noFill/>
          <a:ln/>
        </p:spPr>
        <p:txBody>
          <a:bodyPr wrap="square" lIns="0" tIns="0" rIns="0" bIns="0" rtlCol="0" anchor="ctr"/>
          <a:lstStyle/>
          <a:p>
            <a:pPr algn="ctr" indent="0" marL="0">
              <a:buNone/>
            </a:pPr>
            <a:r>
              <a:rPr lang="en-US" sz="618" b="1" dirty="0">
                <a:solidFill>
                  <a:srgbClr val="DC2626"/>
                </a:solidFill>
              </a:rPr>
              <a:t>WALK</a:t>
            </a:r>
            <a:endParaRPr lang="en-US" sz="618" dirty="0"/>
          </a:p>
        </p:txBody>
      </p:sp>
      <p:sp>
        <p:nvSpPr>
          <p:cNvPr id="22" name="Text 20"/>
          <p:cNvSpPr/>
          <p:nvPr/>
        </p:nvSpPr>
        <p:spPr>
          <a:xfrm>
            <a:off x="6707124" y="4322826"/>
            <a:ext cx="3214116" cy="156362"/>
          </a:xfrm>
          <a:prstGeom prst="rect">
            <a:avLst/>
          </a:prstGeom>
          <a:noFill/>
          <a:ln/>
        </p:spPr>
        <p:txBody>
          <a:bodyPr wrap="square" lIns="0" tIns="0" rIns="0" bIns="0" rtlCol="0" anchor="ctr"/>
          <a:lstStyle/>
          <a:p>
            <a:pPr algn="ctr" indent="0" marL="0">
              <a:buNone/>
            </a:pPr>
            <a:r>
              <a:rPr lang="en-US" sz="713" dirty="0">
                <a:solidFill>
                  <a:srgbClr val="475569"/>
                </a:solidFill>
              </a:rPr>
              <a:t>traffic signals + pedestrians + queues</a:t>
            </a:r>
            <a:endParaRPr lang="en-US" sz="713" dirty="0"/>
          </a:p>
        </p:txBody>
      </p:sp>
      <p:sp>
        <p:nvSpPr>
          <p:cNvPr id="23" name="Text 21"/>
          <p:cNvSpPr/>
          <p:nvPr/>
        </p:nvSpPr>
        <p:spPr>
          <a:xfrm>
            <a:off x="10469880" y="1828800"/>
            <a:ext cx="1325880" cy="68580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πθ(a|o)</a:t>
            </a:r>
            <a:endParaRPr lang="en-US" sz="1300" dirty="0"/>
          </a:p>
          <a:p>
            <a:pPr algn="ctr" indent="0" marL="0">
              <a:buNone/>
            </a:pPr>
            <a:r>
              <a:rPr lang="en-US" sz="1300" b="1" dirty="0">
                <a:solidFill>
                  <a:srgbClr val="FFFFFF"/>
                </a:solidFill>
                <a:latin typeface="Aptos" pitchFamily="34" charset="0"/>
                <a:ea typeface="Aptos" pitchFamily="34" charset="-122"/>
                <a:cs typeface="Aptos" pitchFamily="34" charset="-120"/>
              </a:rPr>
              <a:t>shared actor</a:t>
            </a:r>
            <a:endParaRPr lang="en-US" sz="1300" dirty="0"/>
          </a:p>
        </p:txBody>
      </p:sp>
      <p:sp>
        <p:nvSpPr>
          <p:cNvPr id="24" name="Text 22"/>
          <p:cNvSpPr/>
          <p:nvPr/>
        </p:nvSpPr>
        <p:spPr>
          <a:xfrm>
            <a:off x="10469880" y="2880360"/>
            <a:ext cx="1325880" cy="5029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150" b="1" dirty="0">
                <a:solidFill>
                  <a:srgbClr val="0B132B"/>
                </a:solidFill>
                <a:latin typeface="Aptos" pitchFamily="34" charset="0"/>
                <a:ea typeface="Aptos" pitchFamily="34" charset="-122"/>
                <a:cs typeface="Aptos" pitchFamily="34" charset="-120"/>
              </a:rPr>
              <a:t>Vφ(o)</a:t>
            </a:r>
            <a:endParaRPr lang="en-US" sz="1150" dirty="0"/>
          </a:p>
          <a:p>
            <a:pPr algn="ctr" indent="0" marL="0">
              <a:buNone/>
            </a:pPr>
            <a:r>
              <a:rPr lang="en-US" sz="1150" b="1" dirty="0">
                <a:solidFill>
                  <a:srgbClr val="0B132B"/>
                </a:solidFill>
                <a:latin typeface="Aptos" pitchFamily="34" charset="0"/>
                <a:ea typeface="Aptos" pitchFamily="34" charset="-122"/>
                <a:cs typeface="Aptos" pitchFamily="34" charset="-120"/>
              </a:rPr>
              <a:t>critic</a:t>
            </a:r>
            <a:endParaRPr lang="en-US" sz="1150" dirty="0"/>
          </a:p>
        </p:txBody>
      </p:sp>
      <p:sp>
        <p:nvSpPr>
          <p:cNvPr id="25" name="Shape 23"/>
          <p:cNvSpPr/>
          <p:nvPr/>
        </p:nvSpPr>
        <p:spPr>
          <a:xfrm>
            <a:off x="10012680" y="2468880"/>
            <a:ext cx="365760" cy="-301752"/>
          </a:xfrm>
          <a:prstGeom prst="line">
            <a:avLst/>
          </a:prstGeom>
          <a:noFill/>
          <a:ln w="13970">
            <a:solidFill>
              <a:srgbClr val="64748B"/>
            </a:solidFill>
            <a:prstDash val="solid"/>
            <a:headEnd type="none"/>
            <a:tailEnd type="triangle"/>
          </a:ln>
        </p:spPr>
      </p:sp>
      <p:sp>
        <p:nvSpPr>
          <p:cNvPr id="26" name="Shape 24"/>
          <p:cNvSpPr/>
          <p:nvPr/>
        </p:nvSpPr>
        <p:spPr>
          <a:xfrm>
            <a:off x="10012680" y="2971800"/>
            <a:ext cx="365760" cy="137160"/>
          </a:xfrm>
          <a:prstGeom prst="line">
            <a:avLst/>
          </a:prstGeom>
          <a:noFill/>
          <a:ln w="13970">
            <a:solidFill>
              <a:srgbClr val="64748B"/>
            </a:solidFill>
            <a:prstDash val="solid"/>
            <a:headEnd type="none"/>
            <a:tailEnd type="triangle"/>
          </a:ln>
        </p:spPr>
      </p:sp>
      <p:sp>
        <p:nvSpPr>
          <p:cNvPr id="27" name="Text 25"/>
          <p:cNvSpPr/>
          <p:nvPr/>
        </p:nvSpPr>
        <p:spPr>
          <a:xfrm>
            <a:off x="7315200" y="4937760"/>
            <a:ext cx="2377440" cy="594360"/>
          </a:xfrm>
          <a:prstGeom prst="rect">
            <a:avLst/>
          </a:prstGeom>
          <a:solidFill>
            <a:srgbClr val="EFF6FF"/>
          </a:solidFill>
          <a:ln w="12700">
            <a:solidFill>
              <a:srgbClr val="BFDBFE"/>
            </a:solidFill>
          </a:ln>
        </p:spPr>
        <p:txBody>
          <a:bodyPr wrap="square" lIns="1016" tIns="1016" rIns="1016" bIns="1016" rtlCol="0" anchor="ctr">
            <a:normAutofit/>
          </a:bodyPr>
          <a:lstStyle/>
          <a:p>
            <a:pPr algn="ctr" indent="0" marL="0">
              <a:buNone/>
            </a:pPr>
            <a:r>
              <a:rPr lang="en-US" sz="1100" b="1" dirty="0">
                <a:solidFill>
                  <a:srgbClr val="0B132B"/>
                </a:solidFill>
                <a:latin typeface="Aptos" pitchFamily="34" charset="0"/>
                <a:ea typeface="Aptos" pitchFamily="34" charset="-122"/>
                <a:cs typeface="Aptos" pitchFamily="34" charset="-120"/>
              </a:rPr>
              <a:t>per-ego observation</a:t>
            </a:r>
            <a:endParaRPr lang="en-US" sz="1100" dirty="0"/>
          </a:p>
          <a:p>
            <a:pPr algn="ctr" indent="0" marL="0">
              <a:buNone/>
            </a:pPr>
            <a:r>
              <a:rPr lang="en-US" sz="1100" b="1" dirty="0">
                <a:solidFill>
                  <a:srgbClr val="0B132B"/>
                </a:solidFill>
                <a:latin typeface="Aptos" pitchFamily="34" charset="0"/>
                <a:ea typeface="Aptos" pitchFamily="34" charset="-122"/>
                <a:cs typeface="Aptos" pitchFamily="34" charset="-120"/>
              </a:rPr>
              <a:t>+ per-ego action</a:t>
            </a:r>
            <a:endParaRPr lang="en-US" sz="1100" dirty="0"/>
          </a:p>
        </p:txBody>
      </p:sp>
      <p:sp>
        <p:nvSpPr>
          <p:cNvPr id="28" name="Text 26"/>
          <p:cNvSpPr/>
          <p:nvPr/>
        </p:nvSpPr>
        <p:spPr>
          <a:xfrm>
            <a:off x="10287000" y="4937760"/>
            <a:ext cx="1691640" cy="594360"/>
          </a:xfrm>
          <a:prstGeom prst="rect">
            <a:avLst/>
          </a:prstGeom>
          <a:solidFill>
            <a:srgbClr val="ECFDF5"/>
          </a:solidFill>
          <a:ln w="12700">
            <a:solidFill>
              <a:srgbClr val="A7F3D0"/>
            </a:solidFill>
          </a:ln>
        </p:spPr>
        <p:txBody>
          <a:bodyPr wrap="square" lIns="1016" tIns="1016" rIns="1016" bIns="1016" rtlCol="0" anchor="ctr">
            <a:normAutofit/>
          </a:bodyPr>
          <a:lstStyle/>
          <a:p>
            <a:pPr algn="ctr" indent="0" marL="0">
              <a:buNone/>
            </a:pPr>
            <a:r>
              <a:rPr lang="en-US" sz="1100" b="1" dirty="0">
                <a:solidFill>
                  <a:srgbClr val="0B132B"/>
                </a:solidFill>
                <a:latin typeface="Aptos" pitchFamily="34" charset="0"/>
                <a:ea typeface="Aptos" pitchFamily="34" charset="-122"/>
                <a:cs typeface="Aptos" pitchFamily="34" charset="-120"/>
              </a:rPr>
              <a:t>PPO rollouts</a:t>
            </a:r>
            <a:endParaRPr lang="en-US" sz="1100" dirty="0"/>
          </a:p>
          <a:p>
            <a:pPr algn="ctr" indent="0" marL="0">
              <a:buNone/>
            </a:pPr>
            <a:r>
              <a:rPr lang="en-US" sz="1100" b="1" dirty="0">
                <a:solidFill>
                  <a:srgbClr val="0B132B"/>
                </a:solidFill>
                <a:latin typeface="Aptos" pitchFamily="34" charset="0"/>
                <a:ea typeface="Aptos" pitchFamily="34" charset="-122"/>
                <a:cs typeface="Aptos" pitchFamily="34" charset="-120"/>
              </a:rPr>
              <a:t>all active cars</a:t>
            </a:r>
            <a:endParaRPr lang="en-US" sz="1100" dirty="0"/>
          </a:p>
        </p:txBody>
      </p:sp>
      <p:sp>
        <p:nvSpPr>
          <p:cNvPr id="29" name="Shape 27"/>
          <p:cNvSpPr/>
          <p:nvPr/>
        </p:nvSpPr>
        <p:spPr>
          <a:xfrm>
            <a:off x="9738360" y="5239512"/>
            <a:ext cx="457200" cy="0"/>
          </a:xfrm>
          <a:prstGeom prst="line">
            <a:avLst/>
          </a:prstGeom>
          <a:noFill/>
          <a:ln w="13970">
            <a:solidFill>
              <a:srgbClr val="64748B"/>
            </a:solidFill>
            <a:prstDash val="solid"/>
            <a:headEnd type="none"/>
            <a:tailEnd type="triangle"/>
          </a:ln>
        </p:spPr>
      </p:sp>
      <p:sp>
        <p:nvSpPr>
          <p:cNvPr id="30" name="Text 28"/>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Routes, signals, spawns, pedestrians, and legal/event semantics remain environment-owned.</a:t>
            </a:r>
            <a:endParaRPr lang="en-US" sz="7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SIMULATOR</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Simulator and multi-agent task setup</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8</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The simulator became the experimental instrument: controlled, replayable, and extensible.</a:t>
            </a:r>
            <a:endParaRPr lang="en-US" sz="1230" dirty="0"/>
          </a:p>
        </p:txBody>
      </p:sp>
      <p:sp>
        <p:nvSpPr>
          <p:cNvPr id="7" name="Text 5"/>
          <p:cNvSpPr/>
          <p:nvPr/>
        </p:nvSpPr>
        <p:spPr>
          <a:xfrm>
            <a:off x="594360" y="1325880"/>
            <a:ext cx="5486400" cy="4480560"/>
          </a:xfrm>
          <a:prstGeom prst="rect">
            <a:avLst/>
          </a:prstGeom>
          <a:noFill/>
          <a:ln/>
        </p:spPr>
        <p:txBody>
          <a:bodyPr wrap="square" lIns="1016" tIns="1016" rIns="1016" bIns="1016" rtlCol="0" anchor="t">
            <a:normAutofit/>
          </a:bodyPr>
          <a:lstStyle/>
          <a:p>
            <a:pPr indent="0" marL="0">
              <a:buNone/>
            </a:pPr>
            <a:r>
              <a:rPr lang="en-US" sz="1420" dirty="0">
                <a:solidFill>
                  <a:srgbClr val="0B132B"/>
                </a:solidFill>
                <a:latin typeface="Aptos" pitchFamily="34" charset="0"/>
                <a:ea typeface="Aptos" pitchFamily="34" charset="-122"/>
                <a:cs typeface="Aptos" pitchFamily="34" charset="-120"/>
              </a:rPr>
              <a:t>• [IMPLEMENTED_AND_TESTED] Four-way intersection with route polylines, stop lines, lanes, spawns, and stable vehicle slots.</a:t>
            </a:r>
            <a:endParaRPr lang="en-US" sz="1420" dirty="0"/>
          </a:p>
          <a:p>
            <a:pPr indent="0" marL="0">
              <a:buNone/>
            </a:pPr>
            <a:r>
              <a:rPr lang="en-US" sz="1420" dirty="0">
                <a:solidFill>
                  <a:srgbClr val="0B132B"/>
                </a:solidFill>
                <a:latin typeface="Aptos" pitchFamily="34" charset="0"/>
                <a:ea typeface="Aptos" pitchFamily="34" charset="-122"/>
                <a:cs typeface="Aptos" pitchFamily="34" charset="-120"/>
              </a:rPr>
              <a:t>• [IMPLEMENTED_AND_TESTED] Signals include green, yellow, all-red, protected/permissive left, WALK, and right-on-red context.</a:t>
            </a:r>
            <a:endParaRPr lang="en-US" sz="1420" dirty="0"/>
          </a:p>
          <a:p>
            <a:pPr indent="0" marL="0">
              <a:buNone/>
            </a:pPr>
            <a:r>
              <a:rPr lang="en-US" sz="1420" dirty="0">
                <a:solidFill>
                  <a:srgbClr val="0B132B"/>
                </a:solidFill>
                <a:latin typeface="Aptos" pitchFamily="34" charset="0"/>
                <a:ea typeface="Aptos" pitchFamily="34" charset="-122"/>
                <a:cs typeface="Aptos" pitchFamily="34" charset="-120"/>
              </a:rPr>
              <a:t>• [IMPLEMENTED_AND_TESTED] Interactions include queues, pedestrians, vehicle footprints, collision/proximity events, and failure traces.</a:t>
            </a:r>
            <a:endParaRPr lang="en-US" sz="1420" dirty="0"/>
          </a:p>
          <a:p>
            <a:pPr indent="0" marL="0">
              <a:buNone/>
            </a:pPr>
            <a:r>
              <a:rPr lang="en-US" sz="1420" dirty="0">
                <a:solidFill>
                  <a:srgbClr val="0B132B"/>
                </a:solidFill>
                <a:latin typeface="Aptos" pitchFamily="34" charset="0"/>
                <a:ea typeface="Aptos" pitchFamily="34" charset="-122"/>
                <a:cs typeface="Aptos" pitchFamily="34" charset="-120"/>
              </a:rPr>
              <a:t>• [IMPLEMENTED_AND_TESTED] Supports headless rollouts, deterministic seeds, rendering, telemetry, and grouped qualification.</a:t>
            </a:r>
            <a:endParaRPr lang="en-US" sz="1420" dirty="0"/>
          </a:p>
        </p:txBody>
      </p:sp>
      <p:sp>
        <p:nvSpPr>
          <p:cNvPr id="8" name="Text 6"/>
          <p:cNvSpPr/>
          <p:nvPr/>
        </p:nvSpPr>
        <p:spPr>
          <a:xfrm>
            <a:off x="6720840" y="1005840"/>
            <a:ext cx="4343400" cy="32004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Research-scale intersection simulator</a:t>
            </a:r>
            <a:endParaRPr lang="en-US" sz="1200" dirty="0"/>
          </a:p>
        </p:txBody>
      </p:sp>
      <p:sp>
        <p:nvSpPr>
          <p:cNvPr id="9" name="Shape 7"/>
          <p:cNvSpPr/>
          <p:nvPr/>
        </p:nvSpPr>
        <p:spPr>
          <a:xfrm>
            <a:off x="7086600" y="3291840"/>
            <a:ext cx="3840480" cy="0"/>
          </a:xfrm>
          <a:prstGeom prst="line">
            <a:avLst/>
          </a:prstGeom>
          <a:noFill/>
          <a:ln w="431800">
            <a:solidFill>
              <a:srgbClr val="CBD5E1"/>
            </a:solidFill>
            <a:prstDash val="solid"/>
          </a:ln>
        </p:spPr>
      </p:sp>
      <p:sp>
        <p:nvSpPr>
          <p:cNvPr id="10" name="Shape 8"/>
          <p:cNvSpPr/>
          <p:nvPr/>
        </p:nvSpPr>
        <p:spPr>
          <a:xfrm>
            <a:off x="9006840" y="1508760"/>
            <a:ext cx="0" cy="3566160"/>
          </a:xfrm>
          <a:prstGeom prst="line">
            <a:avLst/>
          </a:prstGeom>
          <a:noFill/>
          <a:ln w="431800">
            <a:solidFill>
              <a:srgbClr val="CBD5E1"/>
            </a:solidFill>
            <a:prstDash val="solid"/>
          </a:ln>
        </p:spPr>
      </p:sp>
      <p:sp>
        <p:nvSpPr>
          <p:cNvPr id="11" name="Shape 9"/>
          <p:cNvSpPr/>
          <p:nvPr/>
        </p:nvSpPr>
        <p:spPr>
          <a:xfrm>
            <a:off x="7086600" y="3291840"/>
            <a:ext cx="3840480" cy="0"/>
          </a:xfrm>
          <a:prstGeom prst="line">
            <a:avLst/>
          </a:prstGeom>
          <a:noFill/>
          <a:ln w="15240">
            <a:solidFill>
              <a:srgbClr val="F8FAFC"/>
            </a:solidFill>
            <a:prstDash val="solid"/>
          </a:ln>
        </p:spPr>
      </p:sp>
      <p:sp>
        <p:nvSpPr>
          <p:cNvPr id="12" name="Shape 10"/>
          <p:cNvSpPr/>
          <p:nvPr/>
        </p:nvSpPr>
        <p:spPr>
          <a:xfrm>
            <a:off x="9006840" y="1508760"/>
            <a:ext cx="0" cy="3566160"/>
          </a:xfrm>
          <a:prstGeom prst="line">
            <a:avLst/>
          </a:prstGeom>
          <a:noFill/>
          <a:ln w="15240">
            <a:solidFill>
              <a:srgbClr val="F8FAFC"/>
            </a:solidFill>
            <a:prstDash val="solid"/>
          </a:ln>
        </p:spPr>
      </p:sp>
      <p:sp>
        <p:nvSpPr>
          <p:cNvPr id="13" name="Shape 11"/>
          <p:cNvSpPr/>
          <p:nvPr/>
        </p:nvSpPr>
        <p:spPr>
          <a:xfrm>
            <a:off x="9006840" y="2468880"/>
            <a:ext cx="0" cy="320040"/>
          </a:xfrm>
          <a:prstGeom prst="line">
            <a:avLst/>
          </a:prstGeom>
          <a:noFill/>
          <a:ln w="19050">
            <a:solidFill>
              <a:srgbClr val="0B132B"/>
            </a:solidFill>
            <a:prstDash val="solid"/>
          </a:ln>
        </p:spPr>
      </p:sp>
      <p:sp>
        <p:nvSpPr>
          <p:cNvPr id="14" name="Shape 12"/>
          <p:cNvSpPr/>
          <p:nvPr/>
        </p:nvSpPr>
        <p:spPr>
          <a:xfrm>
            <a:off x="9006840" y="3794760"/>
            <a:ext cx="0" cy="320040"/>
          </a:xfrm>
          <a:prstGeom prst="line">
            <a:avLst/>
          </a:prstGeom>
          <a:noFill/>
          <a:ln w="19050">
            <a:solidFill>
              <a:srgbClr val="0B132B"/>
            </a:solidFill>
            <a:prstDash val="solid"/>
          </a:ln>
        </p:spPr>
      </p:sp>
      <p:sp>
        <p:nvSpPr>
          <p:cNvPr id="15" name="Shape 13"/>
          <p:cNvSpPr/>
          <p:nvPr/>
        </p:nvSpPr>
        <p:spPr>
          <a:xfrm>
            <a:off x="8183880" y="3291840"/>
            <a:ext cx="320040" cy="0"/>
          </a:xfrm>
          <a:prstGeom prst="line">
            <a:avLst/>
          </a:prstGeom>
          <a:noFill/>
          <a:ln w="19050">
            <a:solidFill>
              <a:srgbClr val="0B132B"/>
            </a:solidFill>
            <a:prstDash val="solid"/>
          </a:ln>
        </p:spPr>
      </p:sp>
      <p:sp>
        <p:nvSpPr>
          <p:cNvPr id="16" name="Shape 14"/>
          <p:cNvSpPr/>
          <p:nvPr/>
        </p:nvSpPr>
        <p:spPr>
          <a:xfrm>
            <a:off x="9509760" y="3291840"/>
            <a:ext cx="320040" cy="0"/>
          </a:xfrm>
          <a:prstGeom prst="line">
            <a:avLst/>
          </a:prstGeom>
          <a:noFill/>
          <a:ln w="19050">
            <a:solidFill>
              <a:srgbClr val="0B132B"/>
            </a:solidFill>
            <a:prstDash val="solid"/>
          </a:ln>
        </p:spPr>
      </p:sp>
      <p:sp>
        <p:nvSpPr>
          <p:cNvPr id="17" name="Text 15"/>
          <p:cNvSpPr/>
          <p:nvPr/>
        </p:nvSpPr>
        <p:spPr>
          <a:xfrm>
            <a:off x="8183880" y="3090672"/>
            <a:ext cx="292608" cy="164592"/>
          </a:xfrm>
          <a:prstGeom prst="rect">
            <a:avLst/>
          </a:prstGeom>
          <a:solidFill>
            <a:srgbClr val="1D4ED8"/>
          </a:solidFill>
          <a:ln>
            <a:solidFill>
              <a:srgbClr val="1D4ED8">
                <a:alpha val="0"/>
              </a:srgbClr>
            </a:solidFill>
          </a:ln>
        </p:spPr>
        <p:txBody>
          <a:bodyPr wrap="square" rtlCol="0" anchor="ctr"/>
          <a:lstStyle/>
          <a:p>
            <a:pPr indent="0" marL="0">
              <a:buNone/>
            </a:pPr>
            <a:endParaRPr lang="en-US" dirty="0"/>
          </a:p>
        </p:txBody>
      </p:sp>
      <p:sp>
        <p:nvSpPr>
          <p:cNvPr id="18" name="Text 16"/>
          <p:cNvSpPr/>
          <p:nvPr/>
        </p:nvSpPr>
        <p:spPr>
          <a:xfrm>
            <a:off x="9829800" y="3374136"/>
            <a:ext cx="292608" cy="164592"/>
          </a:xfrm>
          <a:prstGeom prst="rect">
            <a:avLst/>
          </a:prstGeom>
          <a:solidFill>
            <a:srgbClr val="059669"/>
          </a:solidFill>
          <a:ln>
            <a:solidFill>
              <a:srgbClr val="059669">
                <a:alpha val="0"/>
              </a:srgbClr>
            </a:solidFill>
          </a:ln>
        </p:spPr>
        <p:txBody>
          <a:bodyPr wrap="square" rtlCol="0" anchor="ctr"/>
          <a:lstStyle/>
          <a:p>
            <a:pPr indent="0" marL="0">
              <a:buNone/>
            </a:pPr>
            <a:endParaRPr lang="en-US" dirty="0"/>
          </a:p>
        </p:txBody>
      </p:sp>
      <p:sp>
        <p:nvSpPr>
          <p:cNvPr id="19" name="Text 17"/>
          <p:cNvSpPr/>
          <p:nvPr/>
        </p:nvSpPr>
        <p:spPr>
          <a:xfrm>
            <a:off x="8805672" y="2377440"/>
            <a:ext cx="292608" cy="164592"/>
          </a:xfrm>
          <a:prstGeom prst="rect">
            <a:avLst/>
          </a:prstGeom>
          <a:solidFill>
            <a:srgbClr val="F97316"/>
          </a:solidFill>
          <a:ln>
            <a:solidFill>
              <a:srgbClr val="F97316">
                <a:alpha val="0"/>
              </a:srgbClr>
            </a:solidFill>
          </a:ln>
        </p:spPr>
        <p:txBody>
          <a:bodyPr wrap="square" rtlCol="0" anchor="ctr"/>
          <a:lstStyle/>
          <a:p>
            <a:pPr indent="0" marL="0">
              <a:buNone/>
            </a:pPr>
            <a:endParaRPr lang="en-US" dirty="0"/>
          </a:p>
        </p:txBody>
      </p:sp>
      <p:sp>
        <p:nvSpPr>
          <p:cNvPr id="20" name="Text 18"/>
          <p:cNvSpPr/>
          <p:nvPr/>
        </p:nvSpPr>
        <p:spPr>
          <a:xfrm>
            <a:off x="9171432" y="4206240"/>
            <a:ext cx="292608" cy="164592"/>
          </a:xfrm>
          <a:prstGeom prst="rect">
            <a:avLst/>
          </a:prstGeom>
          <a:solidFill>
            <a:srgbClr val="7C3AED"/>
          </a:solidFill>
          <a:ln>
            <a:solidFill>
              <a:srgbClr val="7C3AED">
                <a:alpha val="0"/>
              </a:srgbClr>
            </a:solidFill>
          </a:ln>
        </p:spPr>
        <p:txBody>
          <a:bodyPr wrap="square" rtlCol="0" anchor="ctr"/>
          <a:lstStyle/>
          <a:p>
            <a:pPr indent="0" marL="0">
              <a:buNone/>
            </a:pPr>
            <a:endParaRPr lang="en-US" dirty="0"/>
          </a:p>
        </p:txBody>
      </p:sp>
      <p:sp>
        <p:nvSpPr>
          <p:cNvPr id="21" name="Text 19"/>
          <p:cNvSpPr/>
          <p:nvPr/>
        </p:nvSpPr>
        <p:spPr>
          <a:xfrm>
            <a:off x="7854696" y="2386584"/>
            <a:ext cx="118872" cy="118872"/>
          </a:xfrm>
          <a:prstGeom prst="rect">
            <a:avLst/>
          </a:prstGeom>
          <a:solidFill>
            <a:srgbClr val="DC2626"/>
          </a:solidFill>
          <a:ln>
            <a:solidFill>
              <a:srgbClr val="DC2626">
                <a:alpha val="0"/>
              </a:srgbClr>
            </a:solidFill>
          </a:ln>
        </p:spPr>
        <p:txBody>
          <a:bodyPr wrap="square" rtlCol="0" anchor="ctr"/>
          <a:lstStyle/>
          <a:p>
            <a:pPr indent="0" marL="0">
              <a:buNone/>
            </a:pPr>
            <a:endParaRPr lang="en-US" dirty="0"/>
          </a:p>
        </p:txBody>
      </p:sp>
      <p:sp>
        <p:nvSpPr>
          <p:cNvPr id="22" name="Text 20"/>
          <p:cNvSpPr/>
          <p:nvPr/>
        </p:nvSpPr>
        <p:spPr>
          <a:xfrm>
            <a:off x="7498080" y="2194560"/>
            <a:ext cx="548640" cy="146304"/>
          </a:xfrm>
          <a:prstGeom prst="rect">
            <a:avLst/>
          </a:prstGeom>
          <a:noFill/>
          <a:ln/>
        </p:spPr>
        <p:txBody>
          <a:bodyPr wrap="square" lIns="0" tIns="0" rIns="0" bIns="0" rtlCol="0" anchor="ctr"/>
          <a:lstStyle/>
          <a:p>
            <a:pPr algn="ctr" indent="0" marL="0">
              <a:buNone/>
            </a:pPr>
            <a:r>
              <a:rPr lang="en-US" sz="650" b="1" dirty="0">
                <a:solidFill>
                  <a:srgbClr val="DC2626"/>
                </a:solidFill>
              </a:rPr>
              <a:t>WALK</a:t>
            </a:r>
            <a:endParaRPr lang="en-US" sz="650" dirty="0"/>
          </a:p>
        </p:txBody>
      </p:sp>
      <p:sp>
        <p:nvSpPr>
          <p:cNvPr id="23" name="Text 21"/>
          <p:cNvSpPr/>
          <p:nvPr/>
        </p:nvSpPr>
        <p:spPr>
          <a:xfrm>
            <a:off x="7360920" y="4937760"/>
            <a:ext cx="3383280" cy="164592"/>
          </a:xfrm>
          <a:prstGeom prst="rect">
            <a:avLst/>
          </a:prstGeom>
          <a:noFill/>
          <a:ln/>
        </p:spPr>
        <p:txBody>
          <a:bodyPr wrap="square" lIns="0" tIns="0" rIns="0" bIns="0" rtlCol="0" anchor="ctr"/>
          <a:lstStyle/>
          <a:p>
            <a:pPr algn="ctr" indent="0" marL="0">
              <a:buNone/>
            </a:pPr>
            <a:r>
              <a:rPr lang="en-US" sz="750" dirty="0">
                <a:solidFill>
                  <a:srgbClr val="475569"/>
                </a:solidFill>
              </a:rPr>
              <a:t>traffic signals + pedestrians + queues</a:t>
            </a:r>
            <a:endParaRPr lang="en-US" sz="750" dirty="0"/>
          </a:p>
        </p:txBody>
      </p:sp>
      <p:sp>
        <p:nvSpPr>
          <p:cNvPr id="24" name="Text 22"/>
          <p:cNvSpPr/>
          <p:nvPr/>
        </p:nvSpPr>
        <p:spPr>
          <a:xfrm>
            <a:off x="6720840" y="5257800"/>
            <a:ext cx="1143000" cy="182880"/>
          </a:xfrm>
          <a:prstGeom prst="rect">
            <a:avLst/>
          </a:prstGeom>
          <a:solidFill>
            <a:srgbClr val="0F766E"/>
          </a:solidFill>
          <a:ln>
            <a:solidFill>
              <a:srgbClr val="0F766E">
                <a:alpha val="0"/>
              </a:srgbClr>
            </a:solidFill>
          </a:ln>
        </p:spPr>
        <p:txBody>
          <a:bodyPr wrap="square" lIns="445" tIns="445" rIns="445" bIns="445" rtlCol="0" anchor="ctr"/>
          <a:lstStyle/>
          <a:p>
            <a:pPr algn="ctr" indent="0" marL="0">
              <a:buNone/>
            </a:pPr>
            <a:r>
              <a:rPr lang="en-US" sz="660" b="1" dirty="0">
                <a:solidFill>
                  <a:srgbClr val="FFFFFF"/>
                </a:solidFill>
              </a:rPr>
              <a:t>Signals</a:t>
            </a:r>
            <a:endParaRPr lang="en-US" sz="660" dirty="0"/>
          </a:p>
        </p:txBody>
      </p:sp>
      <p:sp>
        <p:nvSpPr>
          <p:cNvPr id="25" name="Text 23"/>
          <p:cNvSpPr/>
          <p:nvPr/>
        </p:nvSpPr>
        <p:spPr>
          <a:xfrm>
            <a:off x="8138160" y="5257800"/>
            <a:ext cx="1143000" cy="182880"/>
          </a:xfrm>
          <a:prstGeom prst="rect">
            <a:avLst/>
          </a:prstGeom>
          <a:solidFill>
            <a:srgbClr val="0F766E"/>
          </a:solidFill>
          <a:ln>
            <a:solidFill>
              <a:srgbClr val="0F766E">
                <a:alpha val="0"/>
              </a:srgbClr>
            </a:solidFill>
          </a:ln>
        </p:spPr>
        <p:txBody>
          <a:bodyPr wrap="square" lIns="445" tIns="445" rIns="445" bIns="445" rtlCol="0" anchor="ctr"/>
          <a:lstStyle/>
          <a:p>
            <a:pPr algn="ctr" indent="0" marL="0">
              <a:buNone/>
            </a:pPr>
            <a:r>
              <a:rPr lang="en-US" sz="660" b="1" dirty="0">
                <a:solidFill>
                  <a:srgbClr val="FFFFFF"/>
                </a:solidFill>
              </a:rPr>
              <a:t>Queues</a:t>
            </a:r>
            <a:endParaRPr lang="en-US" sz="660" dirty="0"/>
          </a:p>
        </p:txBody>
      </p:sp>
      <p:sp>
        <p:nvSpPr>
          <p:cNvPr id="26" name="Text 24"/>
          <p:cNvSpPr/>
          <p:nvPr/>
        </p:nvSpPr>
        <p:spPr>
          <a:xfrm>
            <a:off x="9555480" y="5257800"/>
            <a:ext cx="1143000" cy="182880"/>
          </a:xfrm>
          <a:prstGeom prst="rect">
            <a:avLst/>
          </a:prstGeom>
          <a:solidFill>
            <a:srgbClr val="0F766E"/>
          </a:solidFill>
          <a:ln>
            <a:solidFill>
              <a:srgbClr val="0F766E">
                <a:alpha val="0"/>
              </a:srgbClr>
            </a:solidFill>
          </a:ln>
        </p:spPr>
        <p:txBody>
          <a:bodyPr wrap="square" lIns="445" tIns="445" rIns="445" bIns="445" rtlCol="0" anchor="ctr"/>
          <a:lstStyle/>
          <a:p>
            <a:pPr algn="ctr" indent="0" marL="0">
              <a:buNone/>
            </a:pPr>
            <a:r>
              <a:rPr lang="en-US" sz="660" b="1" dirty="0">
                <a:solidFill>
                  <a:srgbClr val="FFFFFF"/>
                </a:solidFill>
              </a:rPr>
              <a:t>Pedestrians</a:t>
            </a:r>
            <a:endParaRPr lang="en-US" sz="660" dirty="0"/>
          </a:p>
        </p:txBody>
      </p:sp>
      <p:sp>
        <p:nvSpPr>
          <p:cNvPr id="27" name="Text 25"/>
          <p:cNvSpPr/>
          <p:nvPr/>
        </p:nvSpPr>
        <p:spPr>
          <a:xfrm>
            <a:off x="6720840" y="5586984"/>
            <a:ext cx="1143000" cy="182880"/>
          </a:xfrm>
          <a:prstGeom prst="rect">
            <a:avLst/>
          </a:prstGeom>
          <a:solidFill>
            <a:srgbClr val="0F766E"/>
          </a:solidFill>
          <a:ln>
            <a:solidFill>
              <a:srgbClr val="0F766E">
                <a:alpha val="0"/>
              </a:srgbClr>
            </a:solidFill>
          </a:ln>
        </p:spPr>
        <p:txBody>
          <a:bodyPr wrap="square" lIns="445" tIns="445" rIns="445" bIns="445" rtlCol="0" anchor="ctr"/>
          <a:lstStyle/>
          <a:p>
            <a:pPr algn="ctr" indent="0" marL="0">
              <a:buNone/>
            </a:pPr>
            <a:r>
              <a:rPr lang="en-US" sz="660" b="1" dirty="0">
                <a:solidFill>
                  <a:srgbClr val="FFFFFF"/>
                </a:solidFill>
              </a:rPr>
              <a:t>Collisions</a:t>
            </a:r>
            <a:endParaRPr lang="en-US" sz="660" dirty="0"/>
          </a:p>
        </p:txBody>
      </p:sp>
      <p:sp>
        <p:nvSpPr>
          <p:cNvPr id="28" name="Text 26"/>
          <p:cNvSpPr/>
          <p:nvPr/>
        </p:nvSpPr>
        <p:spPr>
          <a:xfrm>
            <a:off x="8138160" y="5586984"/>
            <a:ext cx="1143000" cy="182880"/>
          </a:xfrm>
          <a:prstGeom prst="rect">
            <a:avLst/>
          </a:prstGeom>
          <a:solidFill>
            <a:srgbClr val="0F766E"/>
          </a:solidFill>
          <a:ln>
            <a:solidFill>
              <a:srgbClr val="0F766E">
                <a:alpha val="0"/>
              </a:srgbClr>
            </a:solidFill>
          </a:ln>
        </p:spPr>
        <p:txBody>
          <a:bodyPr wrap="square" lIns="445" tIns="445" rIns="445" bIns="445" rtlCol="0" anchor="ctr"/>
          <a:lstStyle/>
          <a:p>
            <a:pPr algn="ctr" indent="0" marL="0">
              <a:buNone/>
            </a:pPr>
            <a:r>
              <a:rPr lang="en-US" sz="660" b="1" dirty="0">
                <a:solidFill>
                  <a:srgbClr val="FFFFFF"/>
                </a:solidFill>
              </a:rPr>
              <a:t>Seeds</a:t>
            </a:r>
            <a:endParaRPr lang="en-US" sz="660" dirty="0"/>
          </a:p>
        </p:txBody>
      </p:sp>
      <p:sp>
        <p:nvSpPr>
          <p:cNvPr id="29" name="Text 27"/>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Research simulator, not photorealistic perception or certified traffic-engineering package.</a:t>
            </a:r>
            <a:endParaRPr lang="en-US" sz="7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SIMULATOR / METHODOLOGY</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System boundary: what decides what?</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9</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Policy ownership was the central methodology correction: safe rollouts must be caused by the actor, not an override.</a:t>
            </a:r>
            <a:endParaRPr lang="en-US" sz="1230" dirty="0"/>
          </a:p>
        </p:txBody>
      </p:sp>
      <p:sp>
        <p:nvSpPr>
          <p:cNvPr id="7" name="Text 5"/>
          <p:cNvSpPr/>
          <p:nvPr/>
        </p:nvSpPr>
        <p:spPr>
          <a:xfrm>
            <a:off x="594360" y="1325880"/>
            <a:ext cx="5349240" cy="4480560"/>
          </a:xfrm>
          <a:prstGeom prst="rect">
            <a:avLst/>
          </a:prstGeom>
          <a:noFill/>
          <a:ln/>
        </p:spPr>
        <p:txBody>
          <a:bodyPr wrap="square" lIns="1016" tIns="1016" rIns="1016" bIns="1016" rtlCol="0" anchor="t">
            <a:normAutofit/>
          </a:bodyPr>
          <a:lstStyle/>
          <a:p>
            <a:pPr indent="0" marL="0">
              <a:buNone/>
            </a:pPr>
            <a:r>
              <a:rPr lang="en-US" sz="1480" dirty="0">
                <a:solidFill>
                  <a:srgbClr val="0B132B"/>
                </a:solidFill>
                <a:latin typeface="Aptos" pitchFamily="34" charset="0"/>
                <a:ea typeface="Aptos" pitchFamily="34" charset="-122"/>
                <a:cs typeface="Aptos" pitchFamily="34" charset="-120"/>
              </a:rPr>
              <a:t>• [IMPLEMENTED_AND_TESTED] Early safety filters/reservation logic helped demonstrations but blurred attribution.</a:t>
            </a:r>
            <a:endParaRPr lang="en-US" sz="1480" dirty="0"/>
          </a:p>
          <a:p>
            <a:pPr indent="0" marL="0">
              <a:buNone/>
            </a:pPr>
            <a:r>
              <a:rPr lang="en-US" sz="1480" dirty="0">
                <a:solidFill>
                  <a:srgbClr val="0B132B"/>
                </a:solidFill>
                <a:latin typeface="Aptos" pitchFamily="34" charset="0"/>
                <a:ea typeface="Aptos" pitchFamily="34" charset="-122"/>
                <a:cs typeface="Aptos" pitchFamily="34" charset="-120"/>
              </a:rPr>
              <a:t>• [PRODUCTION] Formal V5 qualification disables runtime acceleration override.</a:t>
            </a:r>
            <a:endParaRPr lang="en-US" sz="1480" dirty="0"/>
          </a:p>
          <a:p>
            <a:pPr indent="0" marL="0">
              <a:buNone/>
            </a:pPr>
            <a:r>
              <a:rPr lang="en-US" sz="1480" dirty="0">
                <a:solidFill>
                  <a:srgbClr val="0B132B"/>
                </a:solidFill>
                <a:latin typeface="Aptos" pitchFamily="34" charset="0"/>
                <a:ea typeface="Aptos" pitchFamily="34" charset="-122"/>
                <a:cs typeface="Aptos" pitchFamily="34" charset="-120"/>
              </a:rPr>
              <a:t>• [PRODUCTION] Environment owns routes, legal state, event truth, and physics; policy owns acceleration choice.</a:t>
            </a:r>
            <a:endParaRPr lang="en-US" sz="1480" dirty="0"/>
          </a:p>
          <a:p>
            <a:pPr indent="0" marL="0">
              <a:buNone/>
            </a:pPr>
            <a:r>
              <a:rPr lang="en-US" sz="1480" dirty="0">
                <a:solidFill>
                  <a:srgbClr val="0B132B"/>
                </a:solidFill>
                <a:latin typeface="Aptos" pitchFamily="34" charset="0"/>
                <a:ea typeface="Aptos" pitchFamily="34" charset="-122"/>
                <a:cs typeface="Aptos" pitchFamily="34" charset="-120"/>
              </a:rPr>
              <a:t>• [TRAINING_ONLY] Prewarm/auxiliary targets operate only during optimization, not runtime inference.</a:t>
            </a:r>
            <a:endParaRPr lang="en-US" sz="1480" dirty="0"/>
          </a:p>
        </p:txBody>
      </p:sp>
      <p:sp>
        <p:nvSpPr>
          <p:cNvPr id="8" name="Text 6"/>
          <p:cNvSpPr/>
          <p:nvPr/>
        </p:nvSpPr>
        <p:spPr>
          <a:xfrm>
            <a:off x="6355080" y="1097280"/>
            <a:ext cx="2423160" cy="393192"/>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50" dirty="0">
                <a:solidFill>
                  <a:srgbClr val="0B132B"/>
                </a:solidFill>
                <a:latin typeface="Aptos" pitchFamily="34" charset="0"/>
                <a:ea typeface="Aptos" pitchFamily="34" charset="-122"/>
                <a:cs typeface="Aptos" pitchFamily="34" charset="-120"/>
              </a:rPr>
              <a:t>Scenario/task sampler</a:t>
            </a:r>
            <a:endParaRPr lang="en-US" sz="950" dirty="0"/>
          </a:p>
        </p:txBody>
      </p:sp>
      <p:sp>
        <p:nvSpPr>
          <p:cNvPr id="9" name="Text 7"/>
          <p:cNvSpPr/>
          <p:nvPr/>
        </p:nvSpPr>
        <p:spPr>
          <a:xfrm>
            <a:off x="9006840" y="1097280"/>
            <a:ext cx="2240280" cy="393192"/>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80" dirty="0">
                <a:solidFill>
                  <a:srgbClr val="0B132B"/>
                </a:solidFill>
                <a:latin typeface="Aptos" pitchFamily="34" charset="0"/>
                <a:ea typeface="Aptos" pitchFamily="34" charset="-122"/>
                <a:cs typeface="Aptos" pitchFamily="34" charset="-120"/>
              </a:rPr>
              <a:t>exists / initial conditions</a:t>
            </a:r>
            <a:endParaRPr lang="en-US" sz="880" dirty="0"/>
          </a:p>
        </p:txBody>
      </p:sp>
      <p:sp>
        <p:nvSpPr>
          <p:cNvPr id="10" name="Shape 8"/>
          <p:cNvSpPr/>
          <p:nvPr/>
        </p:nvSpPr>
        <p:spPr>
          <a:xfrm>
            <a:off x="8732520" y="1481328"/>
            <a:ext cx="0" cy="804672"/>
          </a:xfrm>
          <a:prstGeom prst="line">
            <a:avLst/>
          </a:prstGeom>
          <a:noFill/>
          <a:ln w="11430">
            <a:solidFill>
              <a:srgbClr val="64748B"/>
            </a:solidFill>
            <a:prstDash val="solid"/>
            <a:headEnd type="none"/>
            <a:tailEnd type="triangle"/>
          </a:ln>
        </p:spPr>
      </p:sp>
      <p:sp>
        <p:nvSpPr>
          <p:cNvPr id="11" name="Text 9"/>
          <p:cNvSpPr/>
          <p:nvPr/>
        </p:nvSpPr>
        <p:spPr>
          <a:xfrm>
            <a:off x="6355080" y="1755648"/>
            <a:ext cx="2423160" cy="393192"/>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50" dirty="0">
                <a:solidFill>
                  <a:srgbClr val="0B132B"/>
                </a:solidFill>
                <a:latin typeface="Aptos" pitchFamily="34" charset="0"/>
                <a:ea typeface="Aptos" pitchFamily="34" charset="-122"/>
                <a:cs typeface="Aptos" pitchFamily="34" charset="-120"/>
              </a:rPr>
              <a:t>Intersection env + legal/event semantics</a:t>
            </a:r>
            <a:endParaRPr lang="en-US" sz="950" dirty="0"/>
          </a:p>
        </p:txBody>
      </p:sp>
      <p:sp>
        <p:nvSpPr>
          <p:cNvPr id="12" name="Text 10"/>
          <p:cNvSpPr/>
          <p:nvPr/>
        </p:nvSpPr>
        <p:spPr>
          <a:xfrm>
            <a:off x="9006840" y="1755648"/>
            <a:ext cx="2240280" cy="393192"/>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80" dirty="0">
                <a:solidFill>
                  <a:srgbClr val="0B132B"/>
                </a:solidFill>
                <a:latin typeface="Aptos" pitchFamily="34" charset="0"/>
                <a:ea typeface="Aptos" pitchFamily="34" charset="-122"/>
                <a:cs typeface="Aptos" pitchFamily="34" charset="-120"/>
              </a:rPr>
              <a:t>what is legal / what happened</a:t>
            </a:r>
            <a:endParaRPr lang="en-US" sz="880" dirty="0"/>
          </a:p>
        </p:txBody>
      </p:sp>
      <p:sp>
        <p:nvSpPr>
          <p:cNvPr id="13" name="Shape 11"/>
          <p:cNvSpPr/>
          <p:nvPr/>
        </p:nvSpPr>
        <p:spPr>
          <a:xfrm>
            <a:off x="8732520" y="2139696"/>
            <a:ext cx="0" cy="804672"/>
          </a:xfrm>
          <a:prstGeom prst="line">
            <a:avLst/>
          </a:prstGeom>
          <a:noFill/>
          <a:ln w="11430">
            <a:solidFill>
              <a:srgbClr val="64748B"/>
            </a:solidFill>
            <a:prstDash val="solid"/>
            <a:headEnd type="none"/>
            <a:tailEnd type="triangle"/>
          </a:ln>
        </p:spPr>
      </p:sp>
      <p:sp>
        <p:nvSpPr>
          <p:cNvPr id="14" name="Text 12"/>
          <p:cNvSpPr/>
          <p:nvPr/>
        </p:nvSpPr>
        <p:spPr>
          <a:xfrm>
            <a:off x="6355080" y="2414016"/>
            <a:ext cx="2423160" cy="393192"/>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50" dirty="0">
                <a:solidFill>
                  <a:srgbClr val="0B132B"/>
                </a:solidFill>
                <a:latin typeface="Aptos" pitchFamily="34" charset="0"/>
                <a:ea typeface="Aptos" pitchFamily="34" charset="-122"/>
                <a:cs typeface="Aptos" pitchFamily="34" charset="-120"/>
              </a:rPr>
              <a:t>Ego graph per active vehicle</a:t>
            </a:r>
            <a:endParaRPr lang="en-US" sz="950" dirty="0"/>
          </a:p>
        </p:txBody>
      </p:sp>
      <p:sp>
        <p:nvSpPr>
          <p:cNvPr id="15" name="Text 13"/>
          <p:cNvSpPr/>
          <p:nvPr/>
        </p:nvSpPr>
        <p:spPr>
          <a:xfrm>
            <a:off x="9006840" y="2414016"/>
            <a:ext cx="2240280" cy="393192"/>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80" dirty="0">
                <a:solidFill>
                  <a:srgbClr val="0B132B"/>
                </a:solidFill>
                <a:latin typeface="Aptos" pitchFamily="34" charset="0"/>
                <a:ea typeface="Aptos" pitchFamily="34" charset="-122"/>
                <a:cs typeface="Aptos" pitchFamily="34" charset="-120"/>
              </a:rPr>
              <a:t>what each agent observes</a:t>
            </a:r>
            <a:endParaRPr lang="en-US" sz="880" dirty="0"/>
          </a:p>
        </p:txBody>
      </p:sp>
      <p:sp>
        <p:nvSpPr>
          <p:cNvPr id="16" name="Shape 14"/>
          <p:cNvSpPr/>
          <p:nvPr/>
        </p:nvSpPr>
        <p:spPr>
          <a:xfrm>
            <a:off x="8732520" y="2798064"/>
            <a:ext cx="0" cy="804672"/>
          </a:xfrm>
          <a:prstGeom prst="line">
            <a:avLst/>
          </a:prstGeom>
          <a:noFill/>
          <a:ln w="11430">
            <a:solidFill>
              <a:srgbClr val="64748B"/>
            </a:solidFill>
            <a:prstDash val="solid"/>
            <a:headEnd type="none"/>
            <a:tailEnd type="triangle"/>
          </a:ln>
        </p:spPr>
      </p:sp>
      <p:sp>
        <p:nvSpPr>
          <p:cNvPr id="17" name="Text 15"/>
          <p:cNvSpPr/>
          <p:nvPr/>
        </p:nvSpPr>
        <p:spPr>
          <a:xfrm>
            <a:off x="6355080" y="3072384"/>
            <a:ext cx="2423160" cy="393192"/>
          </a:xfrm>
          <a:prstGeom prst="rect">
            <a:avLst/>
          </a:prstGeom>
          <a:solidFill>
            <a:srgbClr val="059669"/>
          </a:solidFill>
          <a:ln w="12700">
            <a:solidFill>
              <a:srgbClr val="059669"/>
            </a:solidFill>
          </a:ln>
        </p:spPr>
        <p:txBody>
          <a:bodyPr wrap="square" lIns="1016" tIns="1016" rIns="1016" bIns="1016"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Shared actor-critic policy</a:t>
            </a:r>
            <a:endParaRPr lang="en-US" sz="950" dirty="0"/>
          </a:p>
        </p:txBody>
      </p:sp>
      <p:sp>
        <p:nvSpPr>
          <p:cNvPr id="18" name="Text 16"/>
          <p:cNvSpPr/>
          <p:nvPr/>
        </p:nvSpPr>
        <p:spPr>
          <a:xfrm>
            <a:off x="9006840" y="3072384"/>
            <a:ext cx="2240280" cy="393192"/>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80" dirty="0">
                <a:solidFill>
                  <a:srgbClr val="0B132B"/>
                </a:solidFill>
                <a:latin typeface="Aptos" pitchFamily="34" charset="0"/>
                <a:ea typeface="Aptos" pitchFamily="34" charset="-122"/>
                <a:cs typeface="Aptos" pitchFamily="34" charset="-120"/>
              </a:rPr>
              <a:t>runtime acceleration decision</a:t>
            </a:r>
            <a:endParaRPr lang="en-US" sz="880" dirty="0"/>
          </a:p>
        </p:txBody>
      </p:sp>
      <p:sp>
        <p:nvSpPr>
          <p:cNvPr id="19" name="Shape 17"/>
          <p:cNvSpPr/>
          <p:nvPr/>
        </p:nvSpPr>
        <p:spPr>
          <a:xfrm>
            <a:off x="8732520" y="3456432"/>
            <a:ext cx="0" cy="804672"/>
          </a:xfrm>
          <a:prstGeom prst="line">
            <a:avLst/>
          </a:prstGeom>
          <a:noFill/>
          <a:ln w="11430">
            <a:solidFill>
              <a:srgbClr val="64748B"/>
            </a:solidFill>
            <a:prstDash val="solid"/>
            <a:headEnd type="none"/>
            <a:tailEnd type="triangle"/>
          </a:ln>
        </p:spPr>
      </p:sp>
      <p:sp>
        <p:nvSpPr>
          <p:cNvPr id="20" name="Text 18"/>
          <p:cNvSpPr/>
          <p:nvPr/>
        </p:nvSpPr>
        <p:spPr>
          <a:xfrm>
            <a:off x="6355080" y="3730752"/>
            <a:ext cx="2423160" cy="393192"/>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50" dirty="0">
                <a:solidFill>
                  <a:srgbClr val="0B132B"/>
                </a:solidFill>
                <a:latin typeface="Aptos" pitchFamily="34" charset="0"/>
                <a:ea typeface="Aptos" pitchFamily="34" charset="-122"/>
                <a:cs typeface="Aptos" pitchFamily="34" charset="-120"/>
              </a:rPr>
              <a:t>Action scaling + jerk dynamics</a:t>
            </a:r>
            <a:endParaRPr lang="en-US" sz="950" dirty="0"/>
          </a:p>
        </p:txBody>
      </p:sp>
      <p:sp>
        <p:nvSpPr>
          <p:cNvPr id="21" name="Text 19"/>
          <p:cNvSpPr/>
          <p:nvPr/>
        </p:nvSpPr>
        <p:spPr>
          <a:xfrm>
            <a:off x="9006840" y="3730752"/>
            <a:ext cx="2240280" cy="393192"/>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80" dirty="0">
                <a:solidFill>
                  <a:srgbClr val="0B132B"/>
                </a:solidFill>
                <a:latin typeface="Aptos" pitchFamily="34" charset="0"/>
                <a:ea typeface="Aptos" pitchFamily="34" charset="-122"/>
                <a:cs typeface="Aptos" pitchFamily="34" charset="-120"/>
              </a:rPr>
              <a:t>what motion is feasible</a:t>
            </a:r>
            <a:endParaRPr lang="en-US" sz="880" dirty="0"/>
          </a:p>
        </p:txBody>
      </p:sp>
      <p:sp>
        <p:nvSpPr>
          <p:cNvPr id="22" name="Shape 20"/>
          <p:cNvSpPr/>
          <p:nvPr/>
        </p:nvSpPr>
        <p:spPr>
          <a:xfrm>
            <a:off x="8732520" y="4114800"/>
            <a:ext cx="0" cy="804672"/>
          </a:xfrm>
          <a:prstGeom prst="line">
            <a:avLst/>
          </a:prstGeom>
          <a:noFill/>
          <a:ln w="11430">
            <a:solidFill>
              <a:srgbClr val="64748B"/>
            </a:solidFill>
            <a:prstDash val="solid"/>
            <a:headEnd type="none"/>
            <a:tailEnd type="triangle"/>
          </a:ln>
        </p:spPr>
      </p:sp>
      <p:sp>
        <p:nvSpPr>
          <p:cNvPr id="23" name="Text 21"/>
          <p:cNvSpPr/>
          <p:nvPr/>
        </p:nvSpPr>
        <p:spPr>
          <a:xfrm>
            <a:off x="6355080" y="4389120"/>
            <a:ext cx="2423160" cy="393192"/>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50" dirty="0">
                <a:solidFill>
                  <a:srgbClr val="0B132B"/>
                </a:solidFill>
                <a:latin typeface="Aptos" pitchFamily="34" charset="0"/>
                <a:ea typeface="Aptos" pitchFamily="34" charset="-122"/>
                <a:cs typeface="Aptos" pitchFamily="34" charset="-120"/>
              </a:rPr>
              <a:t>Rewards, telemetry, qualification</a:t>
            </a:r>
            <a:endParaRPr lang="en-US" sz="950" dirty="0"/>
          </a:p>
        </p:txBody>
      </p:sp>
      <p:sp>
        <p:nvSpPr>
          <p:cNvPr id="24" name="Text 22"/>
          <p:cNvSpPr/>
          <p:nvPr/>
        </p:nvSpPr>
        <p:spPr>
          <a:xfrm>
            <a:off x="9006840" y="4389120"/>
            <a:ext cx="2240280" cy="393192"/>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80" dirty="0">
                <a:solidFill>
                  <a:srgbClr val="0B132B"/>
                </a:solidFill>
                <a:latin typeface="Aptos" pitchFamily="34" charset="0"/>
                <a:ea typeface="Aptos" pitchFamily="34" charset="-122"/>
                <a:cs typeface="Aptos" pitchFamily="34" charset="-120"/>
              </a:rPr>
              <a:t>what gets promoted</a:t>
            </a:r>
            <a:endParaRPr lang="en-US" sz="880" dirty="0"/>
          </a:p>
        </p:txBody>
      </p:sp>
      <p:sp>
        <p:nvSpPr>
          <p:cNvPr id="25" name="Text 23"/>
          <p:cNvSpPr/>
          <p:nvPr/>
        </p:nvSpPr>
        <p:spPr>
          <a:xfrm>
            <a:off x="6583680" y="5349240"/>
            <a:ext cx="4434840" cy="685800"/>
          </a:xfrm>
          <a:prstGeom prst="rect">
            <a:avLst/>
          </a:prstGeom>
          <a:solidFill>
            <a:srgbClr val="FFF7ED"/>
          </a:solidFill>
          <a:ln w="12700">
            <a:solidFill>
              <a:srgbClr val="FED7AA"/>
            </a:solidFill>
          </a:ln>
        </p:spPr>
        <p:txBody>
          <a:bodyPr wrap="square" lIns="1016" tIns="1016" rIns="1016" bIns="1016" rtlCol="0" anchor="ctr">
            <a:normAutofit/>
          </a:bodyPr>
          <a:lstStyle/>
          <a:p>
            <a:pPr algn="ctr" indent="0" marL="0">
              <a:buNone/>
            </a:pPr>
            <a:r>
              <a:rPr lang="en-US" sz="1250" b="1" dirty="0">
                <a:solidFill>
                  <a:srgbClr val="0B132B"/>
                </a:solidFill>
                <a:latin typeface="Aptos" pitchFamily="34" charset="0"/>
                <a:ea typeface="Aptos" pitchFamily="34" charset="-122"/>
                <a:cs typeface="Aptos" pitchFamily="34" charset="-120"/>
              </a:rPr>
              <a:t>Claim rule</a:t>
            </a:r>
            <a:endParaRPr lang="en-US" sz="1250" dirty="0"/>
          </a:p>
          <a:p>
            <a:pPr algn="ctr" indent="0" marL="0">
              <a:buNone/>
            </a:pPr>
            <a:r>
              <a:rPr lang="en-US" sz="1250" b="1" dirty="0">
                <a:solidFill>
                  <a:srgbClr val="0B132B"/>
                </a:solidFill>
                <a:latin typeface="Aptos" pitchFamily="34" charset="0"/>
                <a:ea typeface="Aptos" pitchFamily="34" charset="-122"/>
                <a:cs typeface="Aptos" pitchFamily="34" charset="-120"/>
              </a:rPr>
              <a:t>A safe trajectory is not automatically evidence of a safe policy.</a:t>
            </a:r>
            <a:endParaRPr lang="en-US" sz="1250" dirty="0"/>
          </a:p>
        </p:txBody>
      </p:sp>
      <p:sp>
        <p:nvSpPr>
          <p:cNvPr id="26" name="Text 24"/>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Runtime action substitution is disallowed for promoted learned behavior; environment semantics are still engineered.</a:t>
            </a:r>
            <a:endParaRPr lang="en-US" sz="7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TRAINING PROGRESSION</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Training curriculum ladder</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10</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Capability was staged to isolate behaviors and detect retention failures.</a:t>
            </a:r>
            <a:endParaRPr lang="en-US" sz="1230" dirty="0"/>
          </a:p>
        </p:txBody>
      </p:sp>
      <p:sp>
        <p:nvSpPr>
          <p:cNvPr id="7" name="Text 5"/>
          <p:cNvSpPr/>
          <p:nvPr/>
        </p:nvSpPr>
        <p:spPr>
          <a:xfrm>
            <a:off x="594360" y="1325880"/>
            <a:ext cx="5303520" cy="4389120"/>
          </a:xfrm>
          <a:prstGeom prst="rect">
            <a:avLst/>
          </a:prstGeom>
          <a:noFill/>
          <a:ln/>
        </p:spPr>
        <p:txBody>
          <a:bodyPr wrap="square" lIns="1016" tIns="1016" rIns="1016" bIns="1016" rtlCol="0" anchor="t">
            <a:normAutofit/>
          </a:bodyPr>
          <a:lstStyle/>
          <a:p>
            <a:pPr indent="0" marL="0">
              <a:buNone/>
            </a:pPr>
            <a:r>
              <a:rPr lang="en-US" sz="1440" dirty="0">
                <a:solidFill>
                  <a:srgbClr val="0B132B"/>
                </a:solidFill>
                <a:latin typeface="Aptos" pitchFamily="34" charset="0"/>
                <a:ea typeface="Aptos" pitchFamily="34" charset="-122"/>
                <a:cs typeface="Aptos" pitchFamily="34" charset="-120"/>
              </a:rPr>
              <a:t>• [IMPLEMENTED_AND_TESTED] Started with collision/progress, red-green signals, queues, yellow/all-red, stop/creep.</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[PRODUCTION] Promoted V5 combines pedestrian yield, left yield, right-on-red, and combined stress settings.</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[REJECTED_CANDIDATE] Later corridor prediction and V5.1 robustness did not replace V5.</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[SCRIPTED_ONLY]/[REJECTED_CANDIDATE] Lane infrastructure was validated; learned merge remained unsafe.</a:t>
            </a:r>
            <a:endParaRPr lang="en-US" sz="1440" dirty="0"/>
          </a:p>
        </p:txBody>
      </p:sp>
      <p:sp>
        <p:nvSpPr>
          <p:cNvPr id="8" name="Text 6"/>
          <p:cNvSpPr/>
          <p:nvPr/>
        </p:nvSpPr>
        <p:spPr>
          <a:xfrm>
            <a:off x="6446520" y="1097280"/>
            <a:ext cx="1051560" cy="9601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50" b="1" dirty="0">
                <a:solidFill>
                  <a:srgbClr val="0B132B"/>
                </a:solidFill>
                <a:latin typeface="Aptos" pitchFamily="34" charset="0"/>
                <a:ea typeface="Aptos" pitchFamily="34" charset="-122"/>
                <a:cs typeface="Aptos" pitchFamily="34" charset="-120"/>
              </a:rPr>
              <a:t>1</a:t>
            </a:r>
            <a:endParaRPr lang="en-US" sz="850" dirty="0"/>
          </a:p>
          <a:p>
            <a:pPr algn="ctr" indent="0" marL="0">
              <a:buNone/>
            </a:pPr>
            <a:r>
              <a:rPr lang="en-US" sz="850" b="1" dirty="0">
                <a:solidFill>
                  <a:srgbClr val="0B132B"/>
                </a:solidFill>
                <a:latin typeface="Aptos" pitchFamily="34" charset="0"/>
                <a:ea typeface="Aptos" pitchFamily="34" charset="-122"/>
                <a:cs typeface="Aptos" pitchFamily="34" charset="-120"/>
              </a:rPr>
              <a:t>collision</a:t>
            </a:r>
            <a:endParaRPr lang="en-US" sz="850" dirty="0"/>
          </a:p>
          <a:p>
            <a:pPr algn="ctr" indent="0" marL="0">
              <a:buNone/>
            </a:pPr>
            <a:r>
              <a:rPr lang="en-US" sz="850" b="1" dirty="0">
                <a:solidFill>
                  <a:srgbClr val="0B132B"/>
                </a:solidFill>
                <a:latin typeface="Aptos" pitchFamily="34" charset="0"/>
                <a:ea typeface="Aptos" pitchFamily="34" charset="-122"/>
                <a:cs typeface="Aptos" pitchFamily="34" charset="-120"/>
              </a:rPr>
              <a:t>+ progress</a:t>
            </a:r>
            <a:endParaRPr lang="en-US" sz="850" dirty="0"/>
          </a:p>
        </p:txBody>
      </p:sp>
      <p:sp>
        <p:nvSpPr>
          <p:cNvPr id="9" name="Text 7"/>
          <p:cNvSpPr/>
          <p:nvPr/>
        </p:nvSpPr>
        <p:spPr>
          <a:xfrm>
            <a:off x="6400800" y="2121408"/>
            <a:ext cx="1143000" cy="182880"/>
          </a:xfrm>
          <a:prstGeom prst="rect">
            <a:avLst/>
          </a:prstGeom>
          <a:solidFill>
            <a:srgbClr val="0F766E"/>
          </a:solidFill>
          <a:ln>
            <a:solidFill>
              <a:srgbClr val="0F766E">
                <a:alpha val="0"/>
              </a:srgbClr>
            </a:solidFill>
          </a:ln>
        </p:spPr>
        <p:txBody>
          <a:bodyPr wrap="square" lIns="445" tIns="445" rIns="445" bIns="445" rtlCol="0" anchor="ctr"/>
          <a:lstStyle/>
          <a:p>
            <a:pPr algn="ctr" indent="0" marL="0">
              <a:buNone/>
            </a:pPr>
            <a:r>
              <a:rPr lang="en-US" sz="490" b="1" dirty="0">
                <a:solidFill>
                  <a:srgbClr val="FFFFFF"/>
                </a:solidFill>
              </a:rPr>
              <a:t>IMPLEMENTED</a:t>
            </a:r>
            <a:endParaRPr lang="en-US" sz="490" dirty="0"/>
          </a:p>
          <a:p>
            <a:pPr algn="ctr" indent="0" marL="0">
              <a:buNone/>
            </a:pPr>
            <a:r>
              <a:rPr lang="en-US" sz="490" b="1" dirty="0">
                <a:solidFill>
                  <a:srgbClr val="FFFFFF"/>
                </a:solidFill>
              </a:rPr>
              <a:t>AND_TESTED</a:t>
            </a:r>
            <a:endParaRPr lang="en-US" sz="490" dirty="0"/>
          </a:p>
        </p:txBody>
      </p:sp>
      <p:sp>
        <p:nvSpPr>
          <p:cNvPr id="10" name="Shape 8"/>
          <p:cNvSpPr/>
          <p:nvPr/>
        </p:nvSpPr>
        <p:spPr>
          <a:xfrm>
            <a:off x="7543800" y="1508760"/>
            <a:ext cx="182880" cy="0"/>
          </a:xfrm>
          <a:prstGeom prst="line">
            <a:avLst/>
          </a:prstGeom>
          <a:noFill/>
          <a:ln w="12700">
            <a:solidFill>
              <a:srgbClr val="64748B"/>
            </a:solidFill>
            <a:prstDash val="solid"/>
            <a:headEnd type="none"/>
            <a:tailEnd type="triangle"/>
          </a:ln>
        </p:spPr>
      </p:sp>
      <p:sp>
        <p:nvSpPr>
          <p:cNvPr id="11" name="Text 9"/>
          <p:cNvSpPr/>
          <p:nvPr/>
        </p:nvSpPr>
        <p:spPr>
          <a:xfrm>
            <a:off x="7772400" y="1097280"/>
            <a:ext cx="1051560" cy="9601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50" b="1" dirty="0">
                <a:solidFill>
                  <a:srgbClr val="0B132B"/>
                </a:solidFill>
                <a:latin typeface="Aptos" pitchFamily="34" charset="0"/>
                <a:ea typeface="Aptos" pitchFamily="34" charset="-122"/>
                <a:cs typeface="Aptos" pitchFamily="34" charset="-120"/>
              </a:rPr>
              <a:t>2</a:t>
            </a:r>
            <a:endParaRPr lang="en-US" sz="850" dirty="0"/>
          </a:p>
          <a:p>
            <a:pPr algn="ctr" indent="0" marL="0">
              <a:buNone/>
            </a:pPr>
            <a:r>
              <a:rPr lang="en-US" sz="850" b="1" dirty="0">
                <a:solidFill>
                  <a:srgbClr val="0B132B"/>
                </a:solidFill>
                <a:latin typeface="Aptos" pitchFamily="34" charset="0"/>
                <a:ea typeface="Aptos" pitchFamily="34" charset="-122"/>
                <a:cs typeface="Aptos" pitchFamily="34" charset="-120"/>
              </a:rPr>
              <a:t>signals</a:t>
            </a:r>
            <a:endParaRPr lang="en-US" sz="850" dirty="0"/>
          </a:p>
          <a:p>
            <a:pPr algn="ctr" indent="0" marL="0">
              <a:buNone/>
            </a:pPr>
            <a:r>
              <a:rPr lang="en-US" sz="850" b="1" dirty="0">
                <a:solidFill>
                  <a:srgbClr val="0B132B"/>
                </a:solidFill>
                <a:latin typeface="Aptos" pitchFamily="34" charset="0"/>
                <a:ea typeface="Aptos" pitchFamily="34" charset="-122"/>
                <a:cs typeface="Aptos" pitchFamily="34" charset="-120"/>
              </a:rPr>
              <a:t>red/yellow/all-red</a:t>
            </a:r>
            <a:endParaRPr lang="en-US" sz="850" dirty="0"/>
          </a:p>
        </p:txBody>
      </p:sp>
      <p:sp>
        <p:nvSpPr>
          <p:cNvPr id="12" name="Text 10"/>
          <p:cNvSpPr/>
          <p:nvPr/>
        </p:nvSpPr>
        <p:spPr>
          <a:xfrm>
            <a:off x="7726680" y="2121408"/>
            <a:ext cx="1143000" cy="182880"/>
          </a:xfrm>
          <a:prstGeom prst="rect">
            <a:avLst/>
          </a:prstGeom>
          <a:solidFill>
            <a:srgbClr val="059669"/>
          </a:solidFill>
          <a:ln>
            <a:solidFill>
              <a:srgbClr val="059669">
                <a:alpha val="0"/>
              </a:srgbClr>
            </a:solidFill>
          </a:ln>
        </p:spPr>
        <p:txBody>
          <a:bodyPr wrap="square" lIns="445" tIns="445" rIns="445" bIns="445" rtlCol="0" anchor="ctr"/>
          <a:lstStyle/>
          <a:p>
            <a:pPr algn="ctr" indent="0" marL="0">
              <a:buNone/>
            </a:pPr>
            <a:r>
              <a:rPr lang="en-US" sz="490" b="1" dirty="0">
                <a:solidFill>
                  <a:srgbClr val="FFFFFF"/>
                </a:solidFill>
              </a:rPr>
              <a:t>PRODUCTION</a:t>
            </a:r>
            <a:endParaRPr lang="en-US" sz="490" dirty="0"/>
          </a:p>
        </p:txBody>
      </p:sp>
      <p:sp>
        <p:nvSpPr>
          <p:cNvPr id="13" name="Shape 11"/>
          <p:cNvSpPr/>
          <p:nvPr/>
        </p:nvSpPr>
        <p:spPr>
          <a:xfrm>
            <a:off x="8869680" y="1508760"/>
            <a:ext cx="182880" cy="0"/>
          </a:xfrm>
          <a:prstGeom prst="line">
            <a:avLst/>
          </a:prstGeom>
          <a:noFill/>
          <a:ln w="12700">
            <a:solidFill>
              <a:srgbClr val="64748B"/>
            </a:solidFill>
            <a:prstDash val="solid"/>
            <a:headEnd type="none"/>
            <a:tailEnd type="triangle"/>
          </a:ln>
        </p:spPr>
      </p:sp>
      <p:sp>
        <p:nvSpPr>
          <p:cNvPr id="14" name="Text 12"/>
          <p:cNvSpPr/>
          <p:nvPr/>
        </p:nvSpPr>
        <p:spPr>
          <a:xfrm>
            <a:off x="9098280" y="1097280"/>
            <a:ext cx="1051560" cy="9601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50" b="1" dirty="0">
                <a:solidFill>
                  <a:srgbClr val="0B132B"/>
                </a:solidFill>
                <a:latin typeface="Aptos" pitchFamily="34" charset="0"/>
                <a:ea typeface="Aptos" pitchFamily="34" charset="-122"/>
                <a:cs typeface="Aptos" pitchFamily="34" charset="-120"/>
              </a:rPr>
              <a:t>3</a:t>
            </a:r>
            <a:endParaRPr lang="en-US" sz="850" dirty="0"/>
          </a:p>
          <a:p>
            <a:pPr algn="ctr" indent="0" marL="0">
              <a:buNone/>
            </a:pPr>
            <a:r>
              <a:rPr lang="en-US" sz="850" b="1" dirty="0">
                <a:solidFill>
                  <a:srgbClr val="0B132B"/>
                </a:solidFill>
                <a:latin typeface="Aptos" pitchFamily="34" charset="0"/>
                <a:ea typeface="Aptos" pitchFamily="34" charset="-122"/>
                <a:cs typeface="Aptos" pitchFamily="34" charset="-120"/>
              </a:rPr>
              <a:t>queues</a:t>
            </a:r>
            <a:endParaRPr lang="en-US" sz="850" dirty="0"/>
          </a:p>
          <a:p>
            <a:pPr algn="ctr" indent="0" marL="0">
              <a:buNone/>
            </a:pPr>
            <a:r>
              <a:rPr lang="en-US" sz="850" b="1" dirty="0">
                <a:solidFill>
                  <a:srgbClr val="0B132B"/>
                </a:solidFill>
                <a:latin typeface="Aptos" pitchFamily="34" charset="0"/>
                <a:ea typeface="Aptos" pitchFamily="34" charset="-122"/>
                <a:cs typeface="Aptos" pitchFamily="34" charset="-120"/>
              </a:rPr>
              <a:t>+ red creep</a:t>
            </a:r>
            <a:endParaRPr lang="en-US" sz="850" dirty="0"/>
          </a:p>
        </p:txBody>
      </p:sp>
      <p:sp>
        <p:nvSpPr>
          <p:cNvPr id="15" name="Text 13"/>
          <p:cNvSpPr/>
          <p:nvPr/>
        </p:nvSpPr>
        <p:spPr>
          <a:xfrm>
            <a:off x="9052560" y="2121408"/>
            <a:ext cx="1143000" cy="182880"/>
          </a:xfrm>
          <a:prstGeom prst="rect">
            <a:avLst/>
          </a:prstGeom>
          <a:solidFill>
            <a:srgbClr val="059669"/>
          </a:solidFill>
          <a:ln>
            <a:solidFill>
              <a:srgbClr val="059669">
                <a:alpha val="0"/>
              </a:srgbClr>
            </a:solidFill>
          </a:ln>
        </p:spPr>
        <p:txBody>
          <a:bodyPr wrap="square" lIns="445" tIns="445" rIns="445" bIns="445" rtlCol="0" anchor="ctr"/>
          <a:lstStyle/>
          <a:p>
            <a:pPr algn="ctr" indent="0" marL="0">
              <a:buNone/>
            </a:pPr>
            <a:r>
              <a:rPr lang="en-US" sz="490" b="1" dirty="0">
                <a:solidFill>
                  <a:srgbClr val="FFFFFF"/>
                </a:solidFill>
              </a:rPr>
              <a:t>PRODUCTION</a:t>
            </a:r>
            <a:endParaRPr lang="en-US" sz="490" dirty="0"/>
          </a:p>
        </p:txBody>
      </p:sp>
      <p:sp>
        <p:nvSpPr>
          <p:cNvPr id="16" name="Shape 14"/>
          <p:cNvSpPr/>
          <p:nvPr/>
        </p:nvSpPr>
        <p:spPr>
          <a:xfrm>
            <a:off x="10195560" y="1508760"/>
            <a:ext cx="182880" cy="0"/>
          </a:xfrm>
          <a:prstGeom prst="line">
            <a:avLst/>
          </a:prstGeom>
          <a:noFill/>
          <a:ln w="12700">
            <a:solidFill>
              <a:srgbClr val="64748B"/>
            </a:solidFill>
            <a:prstDash val="solid"/>
            <a:headEnd type="none"/>
            <a:tailEnd type="triangle"/>
          </a:ln>
        </p:spPr>
      </p:sp>
      <p:sp>
        <p:nvSpPr>
          <p:cNvPr id="17" name="Text 15"/>
          <p:cNvSpPr/>
          <p:nvPr/>
        </p:nvSpPr>
        <p:spPr>
          <a:xfrm>
            <a:off x="10424160" y="1097280"/>
            <a:ext cx="1051560" cy="9601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50" b="1" dirty="0">
                <a:solidFill>
                  <a:srgbClr val="0B132B"/>
                </a:solidFill>
                <a:latin typeface="Aptos" pitchFamily="34" charset="0"/>
                <a:ea typeface="Aptos" pitchFamily="34" charset="-122"/>
                <a:cs typeface="Aptos" pitchFamily="34" charset="-120"/>
              </a:rPr>
              <a:t>4</a:t>
            </a:r>
            <a:endParaRPr lang="en-US" sz="850" dirty="0"/>
          </a:p>
          <a:p>
            <a:pPr algn="ctr" indent="0" marL="0">
              <a:buNone/>
            </a:pPr>
            <a:r>
              <a:rPr lang="en-US" sz="850" b="1" dirty="0">
                <a:solidFill>
                  <a:srgbClr val="0B132B"/>
                </a:solidFill>
                <a:latin typeface="Aptos" pitchFamily="34" charset="0"/>
                <a:ea typeface="Aptos" pitchFamily="34" charset="-122"/>
                <a:cs typeface="Aptos" pitchFamily="34" charset="-120"/>
              </a:rPr>
              <a:t>pedestrian</a:t>
            </a:r>
            <a:endParaRPr lang="en-US" sz="850" dirty="0"/>
          </a:p>
          <a:p>
            <a:pPr algn="ctr" indent="0" marL="0">
              <a:buNone/>
            </a:pPr>
            <a:r>
              <a:rPr lang="en-US" sz="850" b="1" dirty="0">
                <a:solidFill>
                  <a:srgbClr val="0B132B"/>
                </a:solidFill>
                <a:latin typeface="Aptos" pitchFamily="34" charset="0"/>
                <a:ea typeface="Aptos" pitchFamily="34" charset="-122"/>
                <a:cs typeface="Aptos" pitchFamily="34" charset="-120"/>
              </a:rPr>
              <a:t>yield</a:t>
            </a:r>
            <a:endParaRPr lang="en-US" sz="850" dirty="0"/>
          </a:p>
        </p:txBody>
      </p:sp>
      <p:sp>
        <p:nvSpPr>
          <p:cNvPr id="18" name="Text 16"/>
          <p:cNvSpPr/>
          <p:nvPr/>
        </p:nvSpPr>
        <p:spPr>
          <a:xfrm>
            <a:off x="10378440" y="2121408"/>
            <a:ext cx="1143000" cy="182880"/>
          </a:xfrm>
          <a:prstGeom prst="rect">
            <a:avLst/>
          </a:prstGeom>
          <a:solidFill>
            <a:srgbClr val="059669"/>
          </a:solidFill>
          <a:ln>
            <a:solidFill>
              <a:srgbClr val="059669">
                <a:alpha val="0"/>
              </a:srgbClr>
            </a:solidFill>
          </a:ln>
        </p:spPr>
        <p:txBody>
          <a:bodyPr wrap="square" lIns="445" tIns="445" rIns="445" bIns="445" rtlCol="0" anchor="ctr"/>
          <a:lstStyle/>
          <a:p>
            <a:pPr algn="ctr" indent="0" marL="0">
              <a:buNone/>
            </a:pPr>
            <a:r>
              <a:rPr lang="en-US" sz="490" b="1" dirty="0">
                <a:solidFill>
                  <a:srgbClr val="FFFFFF"/>
                </a:solidFill>
              </a:rPr>
              <a:t>PRODUCTION</a:t>
            </a:r>
            <a:endParaRPr lang="en-US" sz="490" dirty="0"/>
          </a:p>
        </p:txBody>
      </p:sp>
      <p:sp>
        <p:nvSpPr>
          <p:cNvPr id="19" name="Text 17"/>
          <p:cNvSpPr/>
          <p:nvPr/>
        </p:nvSpPr>
        <p:spPr>
          <a:xfrm>
            <a:off x="6446520" y="2514600"/>
            <a:ext cx="1051560" cy="9601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50" b="1" dirty="0">
                <a:solidFill>
                  <a:srgbClr val="0B132B"/>
                </a:solidFill>
                <a:latin typeface="Aptos" pitchFamily="34" charset="0"/>
                <a:ea typeface="Aptos" pitchFamily="34" charset="-122"/>
                <a:cs typeface="Aptos" pitchFamily="34" charset="-120"/>
              </a:rPr>
              <a:t>5</a:t>
            </a:r>
            <a:endParaRPr lang="en-US" sz="850" dirty="0"/>
          </a:p>
          <a:p>
            <a:pPr algn="ctr" indent="0" marL="0">
              <a:buNone/>
            </a:pPr>
            <a:r>
              <a:rPr lang="en-US" sz="850" b="1" dirty="0">
                <a:solidFill>
                  <a:srgbClr val="0B132B"/>
                </a:solidFill>
                <a:latin typeface="Aptos" pitchFamily="34" charset="0"/>
                <a:ea typeface="Aptos" pitchFamily="34" charset="-122"/>
                <a:cs typeface="Aptos" pitchFamily="34" charset="-120"/>
              </a:rPr>
              <a:t>left yield</a:t>
            </a:r>
            <a:endParaRPr lang="en-US" sz="850" dirty="0"/>
          </a:p>
          <a:p>
            <a:pPr algn="ctr" indent="0" marL="0">
              <a:buNone/>
            </a:pPr>
            <a:r>
              <a:rPr lang="en-US" sz="850" b="1" dirty="0">
                <a:solidFill>
                  <a:srgbClr val="0B132B"/>
                </a:solidFill>
                <a:latin typeface="Aptos" pitchFamily="34" charset="0"/>
                <a:ea typeface="Aptos" pitchFamily="34" charset="-122"/>
                <a:cs typeface="Aptos" pitchFamily="34" charset="-120"/>
              </a:rPr>
              <a:t>+ ROR</a:t>
            </a:r>
            <a:endParaRPr lang="en-US" sz="850" dirty="0"/>
          </a:p>
        </p:txBody>
      </p:sp>
      <p:sp>
        <p:nvSpPr>
          <p:cNvPr id="20" name="Text 18"/>
          <p:cNvSpPr/>
          <p:nvPr/>
        </p:nvSpPr>
        <p:spPr>
          <a:xfrm>
            <a:off x="6400800" y="3538728"/>
            <a:ext cx="1143000" cy="182880"/>
          </a:xfrm>
          <a:prstGeom prst="rect">
            <a:avLst/>
          </a:prstGeom>
          <a:solidFill>
            <a:srgbClr val="059669"/>
          </a:solidFill>
          <a:ln>
            <a:solidFill>
              <a:srgbClr val="059669">
                <a:alpha val="0"/>
              </a:srgbClr>
            </a:solidFill>
          </a:ln>
        </p:spPr>
        <p:txBody>
          <a:bodyPr wrap="square" lIns="445" tIns="445" rIns="445" bIns="445" rtlCol="0" anchor="ctr"/>
          <a:lstStyle/>
          <a:p>
            <a:pPr algn="ctr" indent="0" marL="0">
              <a:buNone/>
            </a:pPr>
            <a:r>
              <a:rPr lang="en-US" sz="490" b="1" dirty="0">
                <a:solidFill>
                  <a:srgbClr val="FFFFFF"/>
                </a:solidFill>
              </a:rPr>
              <a:t>PRODUCTION</a:t>
            </a:r>
            <a:endParaRPr lang="en-US" sz="490" dirty="0"/>
          </a:p>
        </p:txBody>
      </p:sp>
      <p:sp>
        <p:nvSpPr>
          <p:cNvPr id="21" name="Shape 19"/>
          <p:cNvSpPr/>
          <p:nvPr/>
        </p:nvSpPr>
        <p:spPr>
          <a:xfrm>
            <a:off x="7543800" y="2926080"/>
            <a:ext cx="182880" cy="0"/>
          </a:xfrm>
          <a:prstGeom prst="line">
            <a:avLst/>
          </a:prstGeom>
          <a:noFill/>
          <a:ln w="12700">
            <a:solidFill>
              <a:srgbClr val="64748B"/>
            </a:solidFill>
            <a:prstDash val="solid"/>
            <a:headEnd type="none"/>
            <a:tailEnd type="triangle"/>
          </a:ln>
        </p:spPr>
      </p:sp>
      <p:sp>
        <p:nvSpPr>
          <p:cNvPr id="22" name="Text 20"/>
          <p:cNvSpPr/>
          <p:nvPr/>
        </p:nvSpPr>
        <p:spPr>
          <a:xfrm>
            <a:off x="7772400" y="2514600"/>
            <a:ext cx="1051560" cy="9601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50" b="1" dirty="0">
                <a:solidFill>
                  <a:srgbClr val="0B132B"/>
                </a:solidFill>
                <a:latin typeface="Aptos" pitchFamily="34" charset="0"/>
                <a:ea typeface="Aptos" pitchFamily="34" charset="-122"/>
                <a:cs typeface="Aptos" pitchFamily="34" charset="-120"/>
              </a:rPr>
              <a:t>6</a:t>
            </a:r>
            <a:endParaRPr lang="en-US" sz="850" dirty="0"/>
          </a:p>
          <a:p>
            <a:pPr algn="ctr" indent="0" marL="0">
              <a:buNone/>
            </a:pPr>
            <a:r>
              <a:rPr lang="en-US" sz="850" b="1" dirty="0">
                <a:solidFill>
                  <a:srgbClr val="0B132B"/>
                </a:solidFill>
                <a:latin typeface="Aptos" pitchFamily="34" charset="0"/>
                <a:ea typeface="Aptos" pitchFamily="34" charset="-122"/>
                <a:cs typeface="Aptos" pitchFamily="34" charset="-120"/>
              </a:rPr>
              <a:t>combined</a:t>
            </a:r>
            <a:endParaRPr lang="en-US" sz="850" dirty="0"/>
          </a:p>
          <a:p>
            <a:pPr algn="ctr" indent="0" marL="0">
              <a:buNone/>
            </a:pPr>
            <a:r>
              <a:rPr lang="en-US" sz="850" b="1" dirty="0">
                <a:solidFill>
                  <a:srgbClr val="0B132B"/>
                </a:solidFill>
                <a:latin typeface="Aptos" pitchFamily="34" charset="0"/>
                <a:ea typeface="Aptos" pitchFamily="34" charset="-122"/>
                <a:cs typeface="Aptos" pitchFamily="34" charset="-120"/>
              </a:rPr>
              <a:t>sparse/dense/stress</a:t>
            </a:r>
            <a:endParaRPr lang="en-US" sz="850" dirty="0"/>
          </a:p>
        </p:txBody>
      </p:sp>
      <p:sp>
        <p:nvSpPr>
          <p:cNvPr id="23" name="Text 21"/>
          <p:cNvSpPr/>
          <p:nvPr/>
        </p:nvSpPr>
        <p:spPr>
          <a:xfrm>
            <a:off x="7726680" y="3538728"/>
            <a:ext cx="1143000" cy="182880"/>
          </a:xfrm>
          <a:prstGeom prst="rect">
            <a:avLst/>
          </a:prstGeom>
          <a:solidFill>
            <a:srgbClr val="059669"/>
          </a:solidFill>
          <a:ln>
            <a:solidFill>
              <a:srgbClr val="059669">
                <a:alpha val="0"/>
              </a:srgbClr>
            </a:solidFill>
          </a:ln>
        </p:spPr>
        <p:txBody>
          <a:bodyPr wrap="square" lIns="445" tIns="445" rIns="445" bIns="445" rtlCol="0" anchor="ctr"/>
          <a:lstStyle/>
          <a:p>
            <a:pPr algn="ctr" indent="0" marL="0">
              <a:buNone/>
            </a:pPr>
            <a:r>
              <a:rPr lang="en-US" sz="490" b="1" dirty="0">
                <a:solidFill>
                  <a:srgbClr val="FFFFFF"/>
                </a:solidFill>
              </a:rPr>
              <a:t>PRODUCTION</a:t>
            </a:r>
            <a:endParaRPr lang="en-US" sz="490" dirty="0"/>
          </a:p>
        </p:txBody>
      </p:sp>
      <p:sp>
        <p:nvSpPr>
          <p:cNvPr id="24" name="Shape 22"/>
          <p:cNvSpPr/>
          <p:nvPr/>
        </p:nvSpPr>
        <p:spPr>
          <a:xfrm>
            <a:off x="8869680" y="2926080"/>
            <a:ext cx="182880" cy="0"/>
          </a:xfrm>
          <a:prstGeom prst="line">
            <a:avLst/>
          </a:prstGeom>
          <a:noFill/>
          <a:ln w="12700">
            <a:solidFill>
              <a:srgbClr val="64748B"/>
            </a:solidFill>
            <a:prstDash val="solid"/>
            <a:headEnd type="none"/>
            <a:tailEnd type="triangle"/>
          </a:ln>
        </p:spPr>
      </p:sp>
      <p:sp>
        <p:nvSpPr>
          <p:cNvPr id="25" name="Text 23"/>
          <p:cNvSpPr/>
          <p:nvPr/>
        </p:nvSpPr>
        <p:spPr>
          <a:xfrm>
            <a:off x="9098280" y="2514600"/>
            <a:ext cx="1051560" cy="960120"/>
          </a:xfrm>
          <a:prstGeom prst="rect">
            <a:avLst/>
          </a:prstGeom>
          <a:solidFill>
            <a:srgbClr val="FFF7ED"/>
          </a:solidFill>
          <a:ln w="12700">
            <a:solidFill>
              <a:srgbClr val="FED7AA"/>
            </a:solidFill>
          </a:ln>
        </p:spPr>
        <p:txBody>
          <a:bodyPr wrap="square" lIns="1016" tIns="1016" rIns="1016" bIns="1016" rtlCol="0" anchor="ctr">
            <a:normAutofit/>
          </a:bodyPr>
          <a:lstStyle/>
          <a:p>
            <a:pPr algn="ctr" indent="0" marL="0">
              <a:buNone/>
            </a:pPr>
            <a:r>
              <a:rPr lang="en-US" sz="850" dirty="0">
                <a:solidFill>
                  <a:srgbClr val="0B132B"/>
                </a:solidFill>
                <a:latin typeface="Aptos" pitchFamily="34" charset="0"/>
                <a:ea typeface="Aptos" pitchFamily="34" charset="-122"/>
                <a:cs typeface="Aptos" pitchFamily="34" charset="-120"/>
              </a:rPr>
              <a:t>7</a:t>
            </a:r>
            <a:endParaRPr lang="en-US" sz="850" dirty="0"/>
          </a:p>
          <a:p>
            <a:pPr algn="ctr" indent="0" marL="0">
              <a:buNone/>
            </a:pPr>
            <a:r>
              <a:rPr lang="en-US" sz="850" dirty="0">
                <a:solidFill>
                  <a:srgbClr val="0B132B"/>
                </a:solidFill>
                <a:latin typeface="Aptos" pitchFamily="34" charset="0"/>
                <a:ea typeface="Aptos" pitchFamily="34" charset="-122"/>
                <a:cs typeface="Aptos" pitchFamily="34" charset="-120"/>
              </a:rPr>
              <a:t>ped/V5.1</a:t>
            </a:r>
            <a:endParaRPr lang="en-US" sz="850" dirty="0"/>
          </a:p>
          <a:p>
            <a:pPr algn="ctr" indent="0" marL="0">
              <a:buNone/>
            </a:pPr>
            <a:r>
              <a:rPr lang="en-US" sz="850" dirty="0">
                <a:solidFill>
                  <a:srgbClr val="0B132B"/>
                </a:solidFill>
                <a:latin typeface="Aptos" pitchFamily="34" charset="0"/>
                <a:ea typeface="Aptos" pitchFamily="34" charset="-122"/>
                <a:cs typeface="Aptos" pitchFamily="34" charset="-120"/>
              </a:rPr>
              <a:t>audits</a:t>
            </a:r>
            <a:endParaRPr lang="en-US" sz="850" dirty="0"/>
          </a:p>
        </p:txBody>
      </p:sp>
      <p:sp>
        <p:nvSpPr>
          <p:cNvPr id="26" name="Text 24"/>
          <p:cNvSpPr/>
          <p:nvPr/>
        </p:nvSpPr>
        <p:spPr>
          <a:xfrm>
            <a:off x="9052560" y="3538728"/>
            <a:ext cx="114300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490" b="1" dirty="0">
                <a:solidFill>
                  <a:srgbClr val="FFFFFF"/>
                </a:solidFill>
              </a:rPr>
              <a:t>REJECTED</a:t>
            </a:r>
            <a:endParaRPr lang="en-US" sz="490" dirty="0"/>
          </a:p>
          <a:p>
            <a:pPr algn="ctr" indent="0" marL="0">
              <a:buNone/>
            </a:pPr>
            <a:r>
              <a:rPr lang="en-US" sz="490" b="1" dirty="0">
                <a:solidFill>
                  <a:srgbClr val="FFFFFF"/>
                </a:solidFill>
              </a:rPr>
              <a:t>CANDIDATE</a:t>
            </a:r>
            <a:endParaRPr lang="en-US" sz="490" dirty="0"/>
          </a:p>
        </p:txBody>
      </p:sp>
      <p:sp>
        <p:nvSpPr>
          <p:cNvPr id="27" name="Shape 25"/>
          <p:cNvSpPr/>
          <p:nvPr/>
        </p:nvSpPr>
        <p:spPr>
          <a:xfrm>
            <a:off x="10195560" y="2926080"/>
            <a:ext cx="182880" cy="0"/>
          </a:xfrm>
          <a:prstGeom prst="line">
            <a:avLst/>
          </a:prstGeom>
          <a:noFill/>
          <a:ln w="12700">
            <a:solidFill>
              <a:srgbClr val="64748B"/>
            </a:solidFill>
            <a:prstDash val="solid"/>
            <a:headEnd type="none"/>
            <a:tailEnd type="triangle"/>
          </a:ln>
        </p:spPr>
      </p:sp>
      <p:sp>
        <p:nvSpPr>
          <p:cNvPr id="28" name="Text 26"/>
          <p:cNvSpPr/>
          <p:nvPr/>
        </p:nvSpPr>
        <p:spPr>
          <a:xfrm>
            <a:off x="10424160" y="2514600"/>
            <a:ext cx="1051560" cy="960120"/>
          </a:xfrm>
          <a:prstGeom prst="rect">
            <a:avLst/>
          </a:prstGeom>
          <a:solidFill>
            <a:srgbClr val="FFF7ED"/>
          </a:solidFill>
          <a:ln w="12700">
            <a:solidFill>
              <a:srgbClr val="FED7AA"/>
            </a:solidFill>
          </a:ln>
        </p:spPr>
        <p:txBody>
          <a:bodyPr wrap="square" lIns="1016" tIns="1016" rIns="1016" bIns="1016" rtlCol="0" anchor="ctr">
            <a:normAutofit/>
          </a:bodyPr>
          <a:lstStyle/>
          <a:p>
            <a:pPr algn="ctr" indent="0" marL="0">
              <a:buNone/>
            </a:pPr>
            <a:r>
              <a:rPr lang="en-US" sz="850" dirty="0">
                <a:solidFill>
                  <a:srgbClr val="0B132B"/>
                </a:solidFill>
                <a:latin typeface="Aptos" pitchFamily="34" charset="0"/>
                <a:ea typeface="Aptos" pitchFamily="34" charset="-122"/>
                <a:cs typeface="Aptos" pitchFamily="34" charset="-120"/>
              </a:rPr>
              <a:t>8</a:t>
            </a:r>
            <a:endParaRPr lang="en-US" sz="850" dirty="0"/>
          </a:p>
          <a:p>
            <a:pPr algn="ctr" indent="0" marL="0">
              <a:buNone/>
            </a:pPr>
            <a:r>
              <a:rPr lang="en-US" sz="850" dirty="0">
                <a:solidFill>
                  <a:srgbClr val="0B132B"/>
                </a:solidFill>
                <a:latin typeface="Aptos" pitchFamily="34" charset="0"/>
                <a:ea typeface="Aptos" pitchFamily="34" charset="-122"/>
                <a:cs typeface="Aptos" pitchFamily="34" charset="-120"/>
              </a:rPr>
              <a:t>lane/merge</a:t>
            </a:r>
            <a:endParaRPr lang="en-US" sz="850" dirty="0"/>
          </a:p>
          <a:p>
            <a:pPr algn="ctr" indent="0" marL="0">
              <a:buNone/>
            </a:pPr>
            <a:r>
              <a:rPr lang="en-US" sz="850" dirty="0">
                <a:solidFill>
                  <a:srgbClr val="0B132B"/>
                </a:solidFill>
                <a:latin typeface="Aptos" pitchFamily="34" charset="0"/>
                <a:ea typeface="Aptos" pitchFamily="34" charset="-122"/>
                <a:cs typeface="Aptos" pitchFamily="34" charset="-120"/>
              </a:rPr>
              <a:t>V6 attempt</a:t>
            </a:r>
            <a:endParaRPr lang="en-US" sz="850" dirty="0"/>
          </a:p>
        </p:txBody>
      </p:sp>
      <p:sp>
        <p:nvSpPr>
          <p:cNvPr id="29" name="Text 27"/>
          <p:cNvSpPr/>
          <p:nvPr/>
        </p:nvSpPr>
        <p:spPr>
          <a:xfrm>
            <a:off x="10378440" y="3538728"/>
            <a:ext cx="114300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490" b="1" dirty="0">
                <a:solidFill>
                  <a:srgbClr val="FFFFFF"/>
                </a:solidFill>
              </a:rPr>
              <a:t>REJECTED</a:t>
            </a:r>
            <a:endParaRPr lang="en-US" sz="490" dirty="0"/>
          </a:p>
          <a:p>
            <a:pPr algn="ctr" indent="0" marL="0">
              <a:buNone/>
            </a:pPr>
            <a:r>
              <a:rPr lang="en-US" sz="490" b="1" dirty="0">
                <a:solidFill>
                  <a:srgbClr val="FFFFFF"/>
                </a:solidFill>
              </a:rPr>
              <a:t>CANDIDATE</a:t>
            </a:r>
            <a:endParaRPr lang="en-US" sz="490" dirty="0"/>
          </a:p>
        </p:txBody>
      </p:sp>
      <p:sp>
        <p:nvSpPr>
          <p:cNvPr id="30" name="Text 28"/>
          <p:cNvSpPr/>
          <p:nvPr/>
        </p:nvSpPr>
        <p:spPr>
          <a:xfrm>
            <a:off x="6583680" y="4251960"/>
            <a:ext cx="4983480" cy="658368"/>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Promotion hierarchy</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training-only / learned partial / rejected / production</a:t>
            </a:r>
            <a:endParaRPr lang="en-US" sz="1200" dirty="0"/>
          </a:p>
        </p:txBody>
      </p:sp>
      <p:sp>
        <p:nvSpPr>
          <p:cNvPr id="31" name="Text 29"/>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Candidate usefulness ≠ promotion; failing any required group means non-promotion.</a:t>
            </a:r>
            <a:endParaRPr lang="en-US" sz="7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EVALUATION</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Evaluation protocol and qualification gates</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11</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Promotion required deterministic evaluation, separated seeds, no runtime action shield, and hard per-group gates.</a:t>
            </a:r>
            <a:endParaRPr lang="en-US" sz="1230" dirty="0"/>
          </a:p>
        </p:txBody>
      </p:sp>
      <p:sp>
        <p:nvSpPr>
          <p:cNvPr id="7" name="Text 5"/>
          <p:cNvSpPr/>
          <p:nvPr/>
        </p:nvSpPr>
        <p:spPr>
          <a:xfrm>
            <a:off x="594360" y="1325880"/>
            <a:ext cx="5349240" cy="4389120"/>
          </a:xfrm>
          <a:prstGeom prst="rect">
            <a:avLst/>
          </a:prstGeom>
          <a:noFill/>
          <a:ln/>
        </p:spPr>
        <p:txBody>
          <a:bodyPr wrap="square" lIns="1016" tIns="1016" rIns="1016" bIns="1016" rtlCol="0" anchor="t">
            <a:normAutofit/>
          </a:bodyPr>
          <a:lstStyle/>
          <a:p>
            <a:pPr indent="0" marL="0">
              <a:buNone/>
            </a:pPr>
            <a:r>
              <a:rPr lang="en-US" sz="1450" dirty="0">
                <a:solidFill>
                  <a:srgbClr val="0B132B"/>
                </a:solidFill>
                <a:latin typeface="Aptos" pitchFamily="34" charset="0"/>
                <a:ea typeface="Aptos" pitchFamily="34" charset="-122"/>
                <a:cs typeface="Aptos" pitchFamily="34" charset="-120"/>
              </a:rPr>
              <a:t>• [PRODUCTION] Completion ≥ 90%; collision-event ≤ 1%; involved-vehicle ≤ 2%; other-violation ≤ 3%.</a:t>
            </a:r>
            <a:endParaRPr lang="en-US" sz="1450" dirty="0"/>
          </a:p>
          <a:p>
            <a:pPr indent="0" marL="0">
              <a:buNone/>
            </a:pPr>
            <a:r>
              <a:rPr lang="en-US" sz="1450" dirty="0">
                <a:solidFill>
                  <a:srgbClr val="0B132B"/>
                </a:solidFill>
                <a:latin typeface="Aptos" pitchFamily="34" charset="0"/>
                <a:ea typeface="Aptos" pitchFamily="34" charset="-122"/>
                <a:cs typeface="Aptos" pitchFamily="34" charset="-120"/>
              </a:rPr>
              <a:t>• [PRODUCTION] All 30 release-claim groups had to pass; not just average reward or completion.</a:t>
            </a:r>
            <a:endParaRPr lang="en-US" sz="1450" dirty="0"/>
          </a:p>
          <a:p>
            <a:pPr indent="0" marL="0">
              <a:buNone/>
            </a:pPr>
            <a:r>
              <a:rPr lang="en-US" sz="1450" dirty="0">
                <a:solidFill>
                  <a:srgbClr val="0B132B"/>
                </a:solidFill>
                <a:latin typeface="Aptos" pitchFamily="34" charset="0"/>
                <a:ea typeface="Aptos" pitchFamily="34" charset="-122"/>
                <a:cs typeface="Aptos" pitchFamily="34" charset="-120"/>
              </a:rPr>
              <a:t>• [IMPLEMENTED_AND_TESTED] Instrumentation parity and seed inventories protected replay and bank separation.</a:t>
            </a:r>
            <a:endParaRPr lang="en-US" sz="1450" dirty="0"/>
          </a:p>
          <a:p>
            <a:pPr indent="0" marL="0">
              <a:buNone/>
            </a:pPr>
            <a:r>
              <a:rPr lang="en-US" sz="1450" dirty="0">
                <a:solidFill>
                  <a:srgbClr val="0B132B"/>
                </a:solidFill>
                <a:latin typeface="Aptos" pitchFamily="34" charset="0"/>
                <a:ea typeface="Aptos" pitchFamily="34" charset="-122"/>
                <a:cs typeface="Aptos" pitchFamily="34" charset="-120"/>
              </a:rPr>
              <a:t>• [INCONCLUSIVE] Final reserved banks were not run for candidates that failed earlier gates.</a:t>
            </a:r>
            <a:endParaRPr lang="en-US" sz="1450" dirty="0"/>
          </a:p>
        </p:txBody>
      </p:sp>
      <p:sp>
        <p:nvSpPr>
          <p:cNvPr id="8" name="Text 6"/>
          <p:cNvSpPr/>
          <p:nvPr/>
        </p:nvSpPr>
        <p:spPr>
          <a:xfrm>
            <a:off x="6446520" y="1143000"/>
            <a:ext cx="1554480" cy="530352"/>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Metric gate</a:t>
            </a:r>
            <a:endParaRPr lang="en-US" sz="860" dirty="0"/>
          </a:p>
        </p:txBody>
      </p:sp>
      <p:sp>
        <p:nvSpPr>
          <p:cNvPr id="9" name="Text 7"/>
          <p:cNvSpPr/>
          <p:nvPr/>
        </p:nvSpPr>
        <p:spPr>
          <a:xfrm>
            <a:off x="8001000" y="1143000"/>
            <a:ext cx="1097280" cy="530352"/>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Threshold</a:t>
            </a:r>
            <a:endParaRPr lang="en-US" sz="860" dirty="0"/>
          </a:p>
        </p:txBody>
      </p:sp>
      <p:sp>
        <p:nvSpPr>
          <p:cNvPr id="10" name="Text 8"/>
          <p:cNvSpPr/>
          <p:nvPr/>
        </p:nvSpPr>
        <p:spPr>
          <a:xfrm>
            <a:off x="9098280" y="1143000"/>
            <a:ext cx="2103120" cy="530352"/>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Meaning</a:t>
            </a:r>
            <a:endParaRPr lang="en-US" sz="860" dirty="0"/>
          </a:p>
        </p:txBody>
      </p:sp>
      <p:sp>
        <p:nvSpPr>
          <p:cNvPr id="11" name="Text 9"/>
          <p:cNvSpPr/>
          <p:nvPr/>
        </p:nvSpPr>
        <p:spPr>
          <a:xfrm>
            <a:off x="6446520" y="1673352"/>
            <a:ext cx="1554480" cy="53035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Completion</a:t>
            </a:r>
            <a:endParaRPr lang="en-US" sz="860" dirty="0"/>
          </a:p>
        </p:txBody>
      </p:sp>
      <p:sp>
        <p:nvSpPr>
          <p:cNvPr id="12" name="Text 10"/>
          <p:cNvSpPr/>
          <p:nvPr/>
        </p:nvSpPr>
        <p:spPr>
          <a:xfrm>
            <a:off x="8001000" y="1673352"/>
            <a:ext cx="1097280" cy="53035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 90%</a:t>
            </a:r>
            <a:endParaRPr lang="en-US" sz="860" dirty="0"/>
          </a:p>
        </p:txBody>
      </p:sp>
      <p:sp>
        <p:nvSpPr>
          <p:cNvPr id="13" name="Text 11"/>
          <p:cNvSpPr/>
          <p:nvPr/>
        </p:nvSpPr>
        <p:spPr>
          <a:xfrm>
            <a:off x="9098280" y="1673352"/>
            <a:ext cx="2103120" cy="53035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task success</a:t>
            </a:r>
            <a:endParaRPr lang="en-US" sz="860" dirty="0"/>
          </a:p>
        </p:txBody>
      </p:sp>
      <p:sp>
        <p:nvSpPr>
          <p:cNvPr id="14" name="Text 12"/>
          <p:cNvSpPr/>
          <p:nvPr/>
        </p:nvSpPr>
        <p:spPr>
          <a:xfrm>
            <a:off x="6446520" y="2203704"/>
            <a:ext cx="1554480" cy="53035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Collision event</a:t>
            </a:r>
            <a:endParaRPr lang="en-US" sz="860" dirty="0"/>
          </a:p>
        </p:txBody>
      </p:sp>
      <p:sp>
        <p:nvSpPr>
          <p:cNvPr id="15" name="Text 13"/>
          <p:cNvSpPr/>
          <p:nvPr/>
        </p:nvSpPr>
        <p:spPr>
          <a:xfrm>
            <a:off x="8001000" y="2203704"/>
            <a:ext cx="1097280" cy="53035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 1%</a:t>
            </a:r>
            <a:endParaRPr lang="en-US" sz="860" dirty="0"/>
          </a:p>
        </p:txBody>
      </p:sp>
      <p:sp>
        <p:nvSpPr>
          <p:cNvPr id="16" name="Text 14"/>
          <p:cNvSpPr/>
          <p:nvPr/>
        </p:nvSpPr>
        <p:spPr>
          <a:xfrm>
            <a:off x="9098280" y="2203704"/>
            <a:ext cx="2103120" cy="53035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one-shot crash pairs</a:t>
            </a:r>
            <a:endParaRPr lang="en-US" sz="860" dirty="0"/>
          </a:p>
        </p:txBody>
      </p:sp>
      <p:sp>
        <p:nvSpPr>
          <p:cNvPr id="17" name="Text 15"/>
          <p:cNvSpPr/>
          <p:nvPr/>
        </p:nvSpPr>
        <p:spPr>
          <a:xfrm>
            <a:off x="6446520" y="2734056"/>
            <a:ext cx="1554480" cy="53035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Involved vehicles</a:t>
            </a:r>
            <a:endParaRPr lang="en-US" sz="860" dirty="0"/>
          </a:p>
        </p:txBody>
      </p:sp>
      <p:sp>
        <p:nvSpPr>
          <p:cNvPr id="18" name="Text 16"/>
          <p:cNvSpPr/>
          <p:nvPr/>
        </p:nvSpPr>
        <p:spPr>
          <a:xfrm>
            <a:off x="8001000" y="2734056"/>
            <a:ext cx="1097280" cy="53035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 2%</a:t>
            </a:r>
            <a:endParaRPr lang="en-US" sz="860" dirty="0"/>
          </a:p>
        </p:txBody>
      </p:sp>
      <p:sp>
        <p:nvSpPr>
          <p:cNvPr id="19" name="Text 17"/>
          <p:cNvSpPr/>
          <p:nvPr/>
        </p:nvSpPr>
        <p:spPr>
          <a:xfrm>
            <a:off x="9098280" y="2734056"/>
            <a:ext cx="2103120" cy="53035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vehicle impact footprint</a:t>
            </a:r>
            <a:endParaRPr lang="en-US" sz="860" dirty="0"/>
          </a:p>
        </p:txBody>
      </p:sp>
      <p:sp>
        <p:nvSpPr>
          <p:cNvPr id="20" name="Text 18"/>
          <p:cNvSpPr/>
          <p:nvPr/>
        </p:nvSpPr>
        <p:spPr>
          <a:xfrm>
            <a:off x="6446520" y="3264408"/>
            <a:ext cx="1554480" cy="53035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Other violations</a:t>
            </a:r>
            <a:endParaRPr lang="en-US" sz="860" dirty="0"/>
          </a:p>
        </p:txBody>
      </p:sp>
      <p:sp>
        <p:nvSpPr>
          <p:cNvPr id="21" name="Text 19"/>
          <p:cNvSpPr/>
          <p:nvPr/>
        </p:nvSpPr>
        <p:spPr>
          <a:xfrm>
            <a:off x="8001000" y="3264408"/>
            <a:ext cx="1097280" cy="53035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 3%</a:t>
            </a:r>
            <a:endParaRPr lang="en-US" sz="860" dirty="0"/>
          </a:p>
        </p:txBody>
      </p:sp>
      <p:sp>
        <p:nvSpPr>
          <p:cNvPr id="22" name="Text 20"/>
          <p:cNvSpPr/>
          <p:nvPr/>
        </p:nvSpPr>
        <p:spPr>
          <a:xfrm>
            <a:off x="9098280" y="3264408"/>
            <a:ext cx="2103120" cy="53035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red/yield/timeout etc.</a:t>
            </a:r>
            <a:endParaRPr lang="en-US" sz="860" dirty="0"/>
          </a:p>
        </p:txBody>
      </p:sp>
      <p:sp>
        <p:nvSpPr>
          <p:cNvPr id="23" name="Text 21"/>
          <p:cNvSpPr/>
          <p:nvPr/>
        </p:nvSpPr>
        <p:spPr>
          <a:xfrm>
            <a:off x="6675120" y="4297680"/>
            <a:ext cx="4297680" cy="914400"/>
          </a:xfrm>
          <a:prstGeom prst="rect">
            <a:avLst/>
          </a:prstGeom>
          <a:solidFill>
            <a:srgbClr val="ECFDF5"/>
          </a:solidFill>
          <a:ln w="12700">
            <a:solidFill>
              <a:srgbClr val="A7F3D0"/>
            </a:solidFill>
          </a:ln>
        </p:spPr>
        <p:txBody>
          <a:bodyPr wrap="square" lIns="1016" tIns="1016" rIns="1016" bIns="1016" rtlCol="0" anchor="ctr">
            <a:normAutofit/>
          </a:bodyPr>
          <a:lstStyle/>
          <a:p>
            <a:pPr algn="ctr" indent="0" marL="0">
              <a:buNone/>
            </a:pPr>
            <a:r>
              <a:rPr lang="en-US" sz="1250" b="1" dirty="0">
                <a:solidFill>
                  <a:srgbClr val="0B132B"/>
                </a:solidFill>
                <a:latin typeface="Aptos" pitchFamily="34" charset="0"/>
                <a:ea typeface="Aptos" pitchFamily="34" charset="-122"/>
                <a:cs typeface="Aptos" pitchFamily="34" charset="-120"/>
              </a:rPr>
              <a:t>Promotion logic</a:t>
            </a:r>
            <a:endParaRPr lang="en-US" sz="1250" dirty="0"/>
          </a:p>
          <a:p>
            <a:pPr algn="ctr" indent="0" marL="0">
              <a:buNone/>
            </a:pPr>
            <a:r>
              <a:rPr lang="en-US" sz="1250" b="1" dirty="0">
                <a:solidFill>
                  <a:srgbClr val="0B132B"/>
                </a:solidFill>
                <a:latin typeface="Aptos" pitchFamily="34" charset="0"/>
                <a:ea typeface="Aptos" pitchFamily="34" charset="-122"/>
                <a:cs typeface="Aptos" pitchFamily="34" charset="-120"/>
              </a:rPr>
              <a:t>Candidate must pass every required group under the exact runtime contract.</a:t>
            </a:r>
            <a:endParaRPr lang="en-US" sz="1250" dirty="0"/>
          </a:p>
        </p:txBody>
      </p:sp>
      <p:sp>
        <p:nvSpPr>
          <p:cNvPr id="24" name="Text 22"/>
          <p:cNvSpPr/>
          <p:nvPr/>
        </p:nvSpPr>
        <p:spPr>
          <a:xfrm>
            <a:off x="7178040" y="5532120"/>
            <a:ext cx="3291840" cy="182880"/>
          </a:xfrm>
          <a:prstGeom prst="rect">
            <a:avLst/>
          </a:prstGeom>
          <a:solidFill>
            <a:srgbClr val="059669"/>
          </a:solidFill>
          <a:ln>
            <a:solidFill>
              <a:srgbClr val="059669">
                <a:alpha val="0"/>
              </a:srgbClr>
            </a:solidFill>
          </a:ln>
        </p:spPr>
        <p:txBody>
          <a:bodyPr wrap="square" lIns="445" tIns="445" rIns="445" bIns="445" rtlCol="0" anchor="ctr"/>
          <a:lstStyle/>
          <a:p>
            <a:pPr algn="ctr" indent="0" marL="0">
              <a:buNone/>
            </a:pPr>
            <a:r>
              <a:rPr lang="en-US" sz="680" b="1" dirty="0">
                <a:solidFill>
                  <a:srgbClr val="FFFFFF"/>
                </a:solidFill>
              </a:rPr>
              <a:t>NO SHIELD IN FORMAL V5 QUALIFICATION</a:t>
            </a:r>
            <a:endParaRPr lang="en-US" sz="680" dirty="0"/>
          </a:p>
        </p:txBody>
      </p:sp>
      <p:sp>
        <p:nvSpPr>
          <p:cNvPr id="25" name="Text 23"/>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Hard gates prevent a high reward or completion rate from masking category regressions.</a:t>
            </a:r>
            <a:endParaRPr lang="en-US" sz="7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ARCHITECTURE</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Architecture evolution: MLP to graph actor-critic</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12</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Variable traffic structure drove the move from flat vectors to typed graph attention and specialized modes.</a:t>
            </a:r>
            <a:endParaRPr lang="en-US" sz="1230" dirty="0"/>
          </a:p>
        </p:txBody>
      </p:sp>
      <p:sp>
        <p:nvSpPr>
          <p:cNvPr id="7" name="Text 5"/>
          <p:cNvSpPr/>
          <p:nvPr/>
        </p:nvSpPr>
        <p:spPr>
          <a:xfrm>
            <a:off x="594360" y="1325880"/>
            <a:ext cx="5440680" cy="4526280"/>
          </a:xfrm>
          <a:prstGeom prst="rect">
            <a:avLst/>
          </a:prstGeom>
          <a:noFill/>
          <a:ln/>
        </p:spPr>
        <p:txBody>
          <a:bodyPr wrap="square" lIns="1016" tIns="1016" rIns="1016" bIns="1016" rtlCol="0" anchor="t">
            <a:normAutofit/>
          </a:bodyPr>
          <a:lstStyle/>
          <a:p>
            <a:pPr indent="0" marL="0">
              <a:buNone/>
            </a:pPr>
            <a:r>
              <a:rPr lang="en-US" sz="1410" dirty="0">
                <a:solidFill>
                  <a:srgbClr val="0B132B"/>
                </a:solidFill>
                <a:latin typeface="Aptos" pitchFamily="34" charset="0"/>
                <a:ea typeface="Aptos" pitchFamily="34" charset="-122"/>
                <a:cs typeface="Aptos" pitchFamily="34" charset="-120"/>
              </a:rPr>
              <a:t>• [IMPLEMENTED_AND_TESTED] Early shared two-layer tanh MLP consumed fixed per-car vectors.</a:t>
            </a:r>
            <a:endParaRPr lang="en-US" sz="1410" dirty="0"/>
          </a:p>
          <a:p>
            <a:pPr indent="0" marL="0">
              <a:buNone/>
            </a:pPr>
            <a:r>
              <a:rPr lang="en-US" sz="1410" dirty="0">
                <a:solidFill>
                  <a:srgbClr val="0B132B"/>
                </a:solidFill>
                <a:latin typeface="Aptos" pitchFamily="34" charset="0"/>
                <a:ea typeface="Aptos" pitchFamily="34" charset="-122"/>
                <a:cs typeface="Aptos" pitchFamily="34" charset="-120"/>
              </a:rPr>
              <a:t>• [PRODUCTION] V5 uses ego-centric graph observations and a custom typed graph-attention actor-critic.</a:t>
            </a:r>
            <a:endParaRPr lang="en-US" sz="1410" dirty="0"/>
          </a:p>
          <a:p>
            <a:pPr indent="0" marL="0">
              <a:buNone/>
            </a:pPr>
            <a:r>
              <a:rPr lang="en-US" sz="1410" dirty="0">
                <a:solidFill>
                  <a:srgbClr val="0B132B"/>
                </a:solidFill>
                <a:latin typeface="Aptos" pitchFamily="34" charset="0"/>
                <a:ea typeface="Aptos" pitchFamily="34" charset="-122"/>
                <a:cs typeface="Aptos" pitchFamily="34" charset="-120"/>
              </a:rPr>
              <a:t>• [PRODUCTION] Actor evolved to brake/creep/go mixture with residual adapters.</a:t>
            </a:r>
            <a:endParaRPr lang="en-US" sz="1410" dirty="0"/>
          </a:p>
          <a:p>
            <a:pPr indent="0" marL="0">
              <a:buNone/>
            </a:pPr>
            <a:r>
              <a:rPr lang="en-US" sz="1410" dirty="0">
                <a:solidFill>
                  <a:srgbClr val="0B132B"/>
                </a:solidFill>
                <a:latin typeface="Aptos" pitchFamily="34" charset="0"/>
                <a:ea typeface="Aptos" pitchFamily="34" charset="-122"/>
                <a:cs typeface="Aptos" pitchFamily="34" charset="-120"/>
              </a:rPr>
              <a:t>• [INCONCLUSIVE] No repository-confirmed Transformer policy stage.</a:t>
            </a:r>
            <a:endParaRPr lang="en-US" sz="1410" dirty="0"/>
          </a:p>
          <a:p>
            <a:pPr indent="0" marL="0">
              <a:buNone/>
            </a:pPr>
            <a:r>
              <a:rPr lang="en-US" sz="1410" dirty="0">
                <a:solidFill>
                  <a:srgbClr val="0B132B"/>
                </a:solidFill>
                <a:latin typeface="Aptos" pitchFamily="34" charset="0"/>
                <a:ea typeface="Aptos" pitchFamily="34" charset="-122"/>
                <a:cs typeface="Aptos" pitchFamily="34" charset="-120"/>
              </a:rPr>
              <a:t>• [REJECTED_CANDIDATE] V6 adds categorical lane intent over frozen V5 but was not promoted.</a:t>
            </a:r>
            <a:endParaRPr lang="en-US" sz="1410" dirty="0"/>
          </a:p>
        </p:txBody>
      </p:sp>
      <p:sp>
        <p:nvSpPr>
          <p:cNvPr id="8" name="Text 6"/>
          <p:cNvSpPr/>
          <p:nvPr/>
        </p:nvSpPr>
        <p:spPr>
          <a:xfrm>
            <a:off x="6400800" y="1143000"/>
            <a:ext cx="868680" cy="4114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80" b="1" dirty="0">
                <a:solidFill>
                  <a:srgbClr val="0B132B"/>
                </a:solidFill>
                <a:latin typeface="Aptos" pitchFamily="34" charset="0"/>
                <a:ea typeface="Aptos" pitchFamily="34" charset="-122"/>
                <a:cs typeface="Aptos" pitchFamily="34" charset="-120"/>
              </a:rPr>
              <a:t>Discrete</a:t>
            </a:r>
            <a:endParaRPr lang="en-US" sz="880" dirty="0"/>
          </a:p>
          <a:p>
            <a:pPr algn="ctr" indent="0" marL="0">
              <a:buNone/>
            </a:pPr>
            <a:r>
              <a:rPr lang="en-US" sz="880" b="1" dirty="0">
                <a:solidFill>
                  <a:srgbClr val="0B132B"/>
                </a:solidFill>
                <a:latin typeface="Aptos" pitchFamily="34" charset="0"/>
                <a:ea typeface="Aptos" pitchFamily="34" charset="-122"/>
                <a:cs typeface="Aptos" pitchFamily="34" charset="-120"/>
              </a:rPr>
              <a:t>concept</a:t>
            </a:r>
            <a:endParaRPr lang="en-US" sz="880" dirty="0"/>
          </a:p>
        </p:txBody>
      </p:sp>
      <p:sp>
        <p:nvSpPr>
          <p:cNvPr id="9" name="Text 7"/>
          <p:cNvSpPr/>
          <p:nvPr/>
        </p:nvSpPr>
        <p:spPr>
          <a:xfrm>
            <a:off x="6400800" y="1645920"/>
            <a:ext cx="868680" cy="8686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760" dirty="0">
                <a:solidFill>
                  <a:srgbClr val="0B132B"/>
                </a:solidFill>
                <a:latin typeface="Aptos" pitchFamily="34" charset="0"/>
                <a:ea typeface="Aptos" pitchFamily="34" charset="-122"/>
                <a:cs typeface="Aptos" pitchFamily="34" charset="-120"/>
              </a:rPr>
              <a:t>longitudinal</a:t>
            </a:r>
            <a:endParaRPr lang="en-US" sz="760" dirty="0"/>
          </a:p>
          <a:p>
            <a:pPr algn="ctr" indent="0" marL="0">
              <a:buNone/>
            </a:pPr>
            <a:r>
              <a:rPr lang="en-US" sz="760" dirty="0">
                <a:solidFill>
                  <a:srgbClr val="0B132B"/>
                </a:solidFill>
                <a:latin typeface="Aptos" pitchFamily="34" charset="0"/>
                <a:ea typeface="Aptos" pitchFamily="34" charset="-122"/>
                <a:cs typeface="Aptos" pitchFamily="34" charset="-120"/>
              </a:rPr>
              <a:t>+ lateral choices</a:t>
            </a:r>
            <a:endParaRPr lang="en-US" sz="760" dirty="0"/>
          </a:p>
        </p:txBody>
      </p:sp>
      <p:sp>
        <p:nvSpPr>
          <p:cNvPr id="10" name="Text 8"/>
          <p:cNvSpPr/>
          <p:nvPr/>
        </p:nvSpPr>
        <p:spPr>
          <a:xfrm>
            <a:off x="6382512" y="2651760"/>
            <a:ext cx="914400" cy="182880"/>
          </a:xfrm>
          <a:prstGeom prst="rect">
            <a:avLst/>
          </a:prstGeom>
          <a:solidFill>
            <a:srgbClr val="0F766E"/>
          </a:solidFill>
          <a:ln>
            <a:solidFill>
              <a:srgbClr val="0F766E">
                <a:alpha val="0"/>
              </a:srgbClr>
            </a:solidFill>
          </a:ln>
        </p:spPr>
        <p:txBody>
          <a:bodyPr wrap="square" lIns="445" tIns="445" rIns="445" bIns="445" rtlCol="0" anchor="ctr"/>
          <a:lstStyle/>
          <a:p>
            <a:pPr algn="ctr" indent="0" marL="0">
              <a:buNone/>
            </a:pPr>
            <a:r>
              <a:rPr lang="en-US" sz="480" b="1" dirty="0">
                <a:solidFill>
                  <a:srgbClr val="FFFFFF"/>
                </a:solidFill>
              </a:rPr>
              <a:t>IMPLEMENTED</a:t>
            </a:r>
            <a:endParaRPr lang="en-US" sz="480" dirty="0"/>
          </a:p>
        </p:txBody>
      </p:sp>
      <p:sp>
        <p:nvSpPr>
          <p:cNvPr id="11" name="Shape 9"/>
          <p:cNvSpPr/>
          <p:nvPr/>
        </p:nvSpPr>
        <p:spPr>
          <a:xfrm>
            <a:off x="7242048" y="2075688"/>
            <a:ext cx="128016" cy="0"/>
          </a:xfrm>
          <a:prstGeom prst="line">
            <a:avLst/>
          </a:prstGeom>
          <a:noFill/>
          <a:ln w="11430">
            <a:solidFill>
              <a:srgbClr val="64748B"/>
            </a:solidFill>
            <a:prstDash val="solid"/>
            <a:headEnd type="none"/>
            <a:tailEnd type="triangle"/>
          </a:ln>
        </p:spPr>
      </p:sp>
      <p:sp>
        <p:nvSpPr>
          <p:cNvPr id="12" name="Text 10"/>
          <p:cNvSpPr/>
          <p:nvPr/>
        </p:nvSpPr>
        <p:spPr>
          <a:xfrm>
            <a:off x="7406640" y="1143000"/>
            <a:ext cx="868680" cy="4114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80" b="1" dirty="0">
                <a:solidFill>
                  <a:srgbClr val="0B132B"/>
                </a:solidFill>
                <a:latin typeface="Aptos" pitchFamily="34" charset="0"/>
                <a:ea typeface="Aptos" pitchFamily="34" charset="-122"/>
                <a:cs typeface="Aptos" pitchFamily="34" charset="-120"/>
              </a:rPr>
              <a:t>Shared MLP</a:t>
            </a:r>
            <a:endParaRPr lang="en-US" sz="880" dirty="0"/>
          </a:p>
        </p:txBody>
      </p:sp>
      <p:sp>
        <p:nvSpPr>
          <p:cNvPr id="13" name="Text 11"/>
          <p:cNvSpPr/>
          <p:nvPr/>
        </p:nvSpPr>
        <p:spPr>
          <a:xfrm>
            <a:off x="7406640" y="1645920"/>
            <a:ext cx="868680" cy="8686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760" dirty="0">
                <a:solidFill>
                  <a:srgbClr val="0B132B"/>
                </a:solidFill>
                <a:latin typeface="Aptos" pitchFamily="34" charset="0"/>
                <a:ea typeface="Aptos" pitchFamily="34" charset="-122"/>
                <a:cs typeface="Aptos" pitchFamily="34" charset="-120"/>
              </a:rPr>
              <a:t>2-layer tanh</a:t>
            </a:r>
            <a:endParaRPr lang="en-US" sz="760" dirty="0"/>
          </a:p>
          <a:p>
            <a:pPr algn="ctr" indent="0" marL="0">
              <a:buNone/>
            </a:pPr>
            <a:r>
              <a:rPr lang="en-US" sz="760" dirty="0">
                <a:solidFill>
                  <a:srgbClr val="0B132B"/>
                </a:solidFill>
                <a:latin typeface="Aptos" pitchFamily="34" charset="0"/>
                <a:ea typeface="Aptos" pitchFamily="34" charset="-122"/>
                <a:cs typeface="Aptos" pitchFamily="34" charset="-120"/>
              </a:rPr>
              <a:t>Gaussian actor</a:t>
            </a:r>
            <a:endParaRPr lang="en-US" sz="760" dirty="0"/>
          </a:p>
        </p:txBody>
      </p:sp>
      <p:sp>
        <p:nvSpPr>
          <p:cNvPr id="14" name="Text 12"/>
          <p:cNvSpPr/>
          <p:nvPr/>
        </p:nvSpPr>
        <p:spPr>
          <a:xfrm>
            <a:off x="7388352" y="2651760"/>
            <a:ext cx="914400" cy="182880"/>
          </a:xfrm>
          <a:prstGeom prst="rect">
            <a:avLst/>
          </a:prstGeom>
          <a:solidFill>
            <a:srgbClr val="0F766E"/>
          </a:solidFill>
          <a:ln>
            <a:solidFill>
              <a:srgbClr val="0F766E">
                <a:alpha val="0"/>
              </a:srgbClr>
            </a:solidFill>
          </a:ln>
        </p:spPr>
        <p:txBody>
          <a:bodyPr wrap="square" lIns="445" tIns="445" rIns="445" bIns="445" rtlCol="0" anchor="ctr"/>
          <a:lstStyle/>
          <a:p>
            <a:pPr algn="ctr" indent="0" marL="0">
              <a:buNone/>
            </a:pPr>
            <a:r>
              <a:rPr lang="en-US" sz="480" b="1" dirty="0">
                <a:solidFill>
                  <a:srgbClr val="FFFFFF"/>
                </a:solidFill>
              </a:rPr>
              <a:t>IMPLEMENTED</a:t>
            </a:r>
            <a:endParaRPr lang="en-US" sz="480" dirty="0"/>
          </a:p>
        </p:txBody>
      </p:sp>
      <p:sp>
        <p:nvSpPr>
          <p:cNvPr id="15" name="Shape 13"/>
          <p:cNvSpPr/>
          <p:nvPr/>
        </p:nvSpPr>
        <p:spPr>
          <a:xfrm>
            <a:off x="8247888" y="2075688"/>
            <a:ext cx="128016" cy="0"/>
          </a:xfrm>
          <a:prstGeom prst="line">
            <a:avLst/>
          </a:prstGeom>
          <a:noFill/>
          <a:ln w="11430">
            <a:solidFill>
              <a:srgbClr val="64748B"/>
            </a:solidFill>
            <a:prstDash val="solid"/>
            <a:headEnd type="none"/>
            <a:tailEnd type="triangle"/>
          </a:ln>
        </p:spPr>
      </p:sp>
      <p:sp>
        <p:nvSpPr>
          <p:cNvPr id="16" name="Text 14"/>
          <p:cNvSpPr/>
          <p:nvPr/>
        </p:nvSpPr>
        <p:spPr>
          <a:xfrm>
            <a:off x="8412480" y="1143000"/>
            <a:ext cx="868680" cy="411480"/>
          </a:xfrm>
          <a:prstGeom prst="rect">
            <a:avLst/>
          </a:prstGeom>
          <a:solidFill>
            <a:srgbClr val="102A43"/>
          </a:solidFill>
          <a:ln w="12700">
            <a:solidFill>
              <a:srgbClr val="102A43"/>
            </a:solidFill>
          </a:ln>
        </p:spPr>
        <p:txBody>
          <a:bodyPr wrap="square" lIns="1016" tIns="1016" rIns="1016" bIns="1016"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Graph AC</a:t>
            </a:r>
            <a:endParaRPr lang="en-US" sz="880" dirty="0"/>
          </a:p>
        </p:txBody>
      </p:sp>
      <p:sp>
        <p:nvSpPr>
          <p:cNvPr id="17" name="Text 15"/>
          <p:cNvSpPr/>
          <p:nvPr/>
        </p:nvSpPr>
        <p:spPr>
          <a:xfrm>
            <a:off x="8412480" y="1645920"/>
            <a:ext cx="868680" cy="8686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760" dirty="0">
                <a:solidFill>
                  <a:srgbClr val="0B132B"/>
                </a:solidFill>
                <a:latin typeface="Aptos" pitchFamily="34" charset="0"/>
                <a:ea typeface="Aptos" pitchFamily="34" charset="-122"/>
                <a:cs typeface="Aptos" pitchFamily="34" charset="-120"/>
              </a:rPr>
              <a:t>49/27/25</a:t>
            </a:r>
            <a:endParaRPr lang="en-US" sz="760" dirty="0"/>
          </a:p>
          <a:p>
            <a:pPr algn="ctr" indent="0" marL="0">
              <a:buNone/>
            </a:pPr>
            <a:r>
              <a:rPr lang="en-US" sz="760" dirty="0">
                <a:solidFill>
                  <a:srgbClr val="0B132B"/>
                </a:solidFill>
                <a:latin typeface="Aptos" pitchFamily="34" charset="0"/>
                <a:ea typeface="Aptos" pitchFamily="34" charset="-122"/>
                <a:cs typeface="Aptos" pitchFamily="34" charset="-120"/>
              </a:rPr>
              <a:t>typed attention</a:t>
            </a:r>
            <a:endParaRPr lang="en-US" sz="760" dirty="0"/>
          </a:p>
        </p:txBody>
      </p:sp>
      <p:sp>
        <p:nvSpPr>
          <p:cNvPr id="18" name="Text 16"/>
          <p:cNvSpPr/>
          <p:nvPr/>
        </p:nvSpPr>
        <p:spPr>
          <a:xfrm>
            <a:off x="8394192" y="2651760"/>
            <a:ext cx="914400" cy="182880"/>
          </a:xfrm>
          <a:prstGeom prst="rect">
            <a:avLst/>
          </a:prstGeom>
          <a:solidFill>
            <a:srgbClr val="059669"/>
          </a:solidFill>
          <a:ln>
            <a:solidFill>
              <a:srgbClr val="059669">
                <a:alpha val="0"/>
              </a:srgbClr>
            </a:solidFill>
          </a:ln>
        </p:spPr>
        <p:txBody>
          <a:bodyPr wrap="square" lIns="445" tIns="445" rIns="445" bIns="445" rtlCol="0" anchor="ctr"/>
          <a:lstStyle/>
          <a:p>
            <a:pPr algn="ctr" indent="0" marL="0">
              <a:buNone/>
            </a:pPr>
            <a:r>
              <a:rPr lang="en-US" sz="480" b="1" dirty="0">
                <a:solidFill>
                  <a:srgbClr val="FFFFFF"/>
                </a:solidFill>
              </a:rPr>
              <a:t>PRODUCTION</a:t>
            </a:r>
            <a:endParaRPr lang="en-US" sz="480" dirty="0"/>
          </a:p>
        </p:txBody>
      </p:sp>
      <p:sp>
        <p:nvSpPr>
          <p:cNvPr id="19" name="Shape 17"/>
          <p:cNvSpPr/>
          <p:nvPr/>
        </p:nvSpPr>
        <p:spPr>
          <a:xfrm>
            <a:off x="9253728" y="2075688"/>
            <a:ext cx="128016" cy="0"/>
          </a:xfrm>
          <a:prstGeom prst="line">
            <a:avLst/>
          </a:prstGeom>
          <a:noFill/>
          <a:ln w="11430">
            <a:solidFill>
              <a:srgbClr val="64748B"/>
            </a:solidFill>
            <a:prstDash val="solid"/>
            <a:headEnd type="none"/>
            <a:tailEnd type="triangle"/>
          </a:ln>
        </p:spPr>
      </p:sp>
      <p:sp>
        <p:nvSpPr>
          <p:cNvPr id="20" name="Text 18"/>
          <p:cNvSpPr/>
          <p:nvPr/>
        </p:nvSpPr>
        <p:spPr>
          <a:xfrm>
            <a:off x="9418320" y="1143000"/>
            <a:ext cx="868680" cy="411480"/>
          </a:xfrm>
          <a:prstGeom prst="rect">
            <a:avLst/>
          </a:prstGeom>
          <a:solidFill>
            <a:srgbClr val="102A43"/>
          </a:solidFill>
          <a:ln w="12700">
            <a:solidFill>
              <a:srgbClr val="102A43"/>
            </a:solidFill>
          </a:ln>
        </p:spPr>
        <p:txBody>
          <a:bodyPr wrap="square" lIns="1016" tIns="1016" rIns="1016" bIns="1016"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V5 mixture</a:t>
            </a:r>
            <a:endParaRPr lang="en-US" sz="880" dirty="0"/>
          </a:p>
        </p:txBody>
      </p:sp>
      <p:sp>
        <p:nvSpPr>
          <p:cNvPr id="21" name="Text 19"/>
          <p:cNvSpPr/>
          <p:nvPr/>
        </p:nvSpPr>
        <p:spPr>
          <a:xfrm>
            <a:off x="9418320" y="1645920"/>
            <a:ext cx="868680" cy="8686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760" dirty="0">
                <a:solidFill>
                  <a:srgbClr val="0B132B"/>
                </a:solidFill>
                <a:latin typeface="Aptos" pitchFamily="34" charset="0"/>
                <a:ea typeface="Aptos" pitchFamily="34" charset="-122"/>
                <a:cs typeface="Aptos" pitchFamily="34" charset="-120"/>
              </a:rPr>
              <a:t>brake / creep / go</a:t>
            </a:r>
            <a:endParaRPr lang="en-US" sz="760" dirty="0"/>
          </a:p>
          <a:p>
            <a:pPr algn="ctr" indent="0" marL="0">
              <a:buNone/>
            </a:pPr>
            <a:r>
              <a:rPr lang="en-US" sz="760" dirty="0">
                <a:solidFill>
                  <a:srgbClr val="0B132B"/>
                </a:solidFill>
                <a:latin typeface="Aptos" pitchFamily="34" charset="0"/>
                <a:ea typeface="Aptos" pitchFamily="34" charset="-122"/>
                <a:cs typeface="Aptos" pitchFamily="34" charset="-120"/>
              </a:rPr>
              <a:t>residual adapters</a:t>
            </a:r>
            <a:endParaRPr lang="en-US" sz="760" dirty="0"/>
          </a:p>
        </p:txBody>
      </p:sp>
      <p:sp>
        <p:nvSpPr>
          <p:cNvPr id="22" name="Text 20"/>
          <p:cNvSpPr/>
          <p:nvPr/>
        </p:nvSpPr>
        <p:spPr>
          <a:xfrm>
            <a:off x="9400032" y="2651760"/>
            <a:ext cx="914400" cy="182880"/>
          </a:xfrm>
          <a:prstGeom prst="rect">
            <a:avLst/>
          </a:prstGeom>
          <a:solidFill>
            <a:srgbClr val="059669"/>
          </a:solidFill>
          <a:ln>
            <a:solidFill>
              <a:srgbClr val="059669">
                <a:alpha val="0"/>
              </a:srgbClr>
            </a:solidFill>
          </a:ln>
        </p:spPr>
        <p:txBody>
          <a:bodyPr wrap="square" lIns="445" tIns="445" rIns="445" bIns="445" rtlCol="0" anchor="ctr"/>
          <a:lstStyle/>
          <a:p>
            <a:pPr algn="ctr" indent="0" marL="0">
              <a:buNone/>
            </a:pPr>
            <a:r>
              <a:rPr lang="en-US" sz="480" b="1" dirty="0">
                <a:solidFill>
                  <a:srgbClr val="FFFFFF"/>
                </a:solidFill>
              </a:rPr>
              <a:t>PRODUCTION</a:t>
            </a:r>
            <a:endParaRPr lang="en-US" sz="480" dirty="0"/>
          </a:p>
        </p:txBody>
      </p:sp>
      <p:sp>
        <p:nvSpPr>
          <p:cNvPr id="23" name="Shape 21"/>
          <p:cNvSpPr/>
          <p:nvPr/>
        </p:nvSpPr>
        <p:spPr>
          <a:xfrm>
            <a:off x="10259568" y="2075688"/>
            <a:ext cx="128016" cy="0"/>
          </a:xfrm>
          <a:prstGeom prst="line">
            <a:avLst/>
          </a:prstGeom>
          <a:noFill/>
          <a:ln w="11430">
            <a:solidFill>
              <a:srgbClr val="64748B"/>
            </a:solidFill>
            <a:prstDash val="solid"/>
            <a:headEnd type="none"/>
            <a:tailEnd type="triangle"/>
          </a:ln>
        </p:spPr>
      </p:sp>
      <p:sp>
        <p:nvSpPr>
          <p:cNvPr id="24" name="Text 22"/>
          <p:cNvSpPr/>
          <p:nvPr/>
        </p:nvSpPr>
        <p:spPr>
          <a:xfrm>
            <a:off x="10424160" y="1143000"/>
            <a:ext cx="868680" cy="4114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80" b="1" dirty="0">
                <a:solidFill>
                  <a:srgbClr val="0B132B"/>
                </a:solidFill>
                <a:latin typeface="Aptos" pitchFamily="34" charset="0"/>
                <a:ea typeface="Aptos" pitchFamily="34" charset="-122"/>
                <a:cs typeface="Aptos" pitchFamily="34" charset="-120"/>
              </a:rPr>
              <a:t>V6 hybrid</a:t>
            </a:r>
            <a:endParaRPr lang="en-US" sz="880" dirty="0"/>
          </a:p>
        </p:txBody>
      </p:sp>
      <p:sp>
        <p:nvSpPr>
          <p:cNvPr id="25" name="Text 23"/>
          <p:cNvSpPr/>
          <p:nvPr/>
        </p:nvSpPr>
        <p:spPr>
          <a:xfrm>
            <a:off x="10424160" y="1645920"/>
            <a:ext cx="868680" cy="8686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760" dirty="0">
                <a:solidFill>
                  <a:srgbClr val="0B132B"/>
                </a:solidFill>
                <a:latin typeface="Aptos" pitchFamily="34" charset="0"/>
                <a:ea typeface="Aptos" pitchFamily="34" charset="-122"/>
                <a:cs typeface="Aptos" pitchFamily="34" charset="-120"/>
              </a:rPr>
              <a:t>LEFT/KEEP/RIGHT</a:t>
            </a:r>
            <a:endParaRPr lang="en-US" sz="760" dirty="0"/>
          </a:p>
          <a:p>
            <a:pPr algn="ctr" indent="0" marL="0">
              <a:buNone/>
            </a:pPr>
            <a:r>
              <a:rPr lang="en-US" sz="760" dirty="0">
                <a:solidFill>
                  <a:srgbClr val="0B132B"/>
                </a:solidFill>
                <a:latin typeface="Aptos" pitchFamily="34" charset="0"/>
                <a:ea typeface="Aptos" pitchFamily="34" charset="-122"/>
                <a:cs typeface="Aptos" pitchFamily="34" charset="-120"/>
              </a:rPr>
              <a:t>+ residual</a:t>
            </a:r>
            <a:endParaRPr lang="en-US" sz="760" dirty="0"/>
          </a:p>
        </p:txBody>
      </p:sp>
      <p:sp>
        <p:nvSpPr>
          <p:cNvPr id="26" name="Text 24"/>
          <p:cNvSpPr/>
          <p:nvPr/>
        </p:nvSpPr>
        <p:spPr>
          <a:xfrm>
            <a:off x="10405872" y="2651760"/>
            <a:ext cx="91440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480" b="1" dirty="0">
                <a:solidFill>
                  <a:srgbClr val="FFFFFF"/>
                </a:solidFill>
              </a:rPr>
              <a:t>REJECTED</a:t>
            </a:r>
            <a:endParaRPr lang="en-US" sz="480" dirty="0"/>
          </a:p>
        </p:txBody>
      </p:sp>
      <p:sp>
        <p:nvSpPr>
          <p:cNvPr id="27" name="Text 25"/>
          <p:cNvSpPr/>
          <p:nvPr/>
        </p:nvSpPr>
        <p:spPr>
          <a:xfrm>
            <a:off x="6583680" y="4160520"/>
            <a:ext cx="4480560" cy="1325880"/>
          </a:xfrm>
          <a:prstGeom prst="rect">
            <a:avLst/>
          </a:prstGeom>
          <a:solidFill>
            <a:srgbClr val="EFF6FF"/>
          </a:solidFill>
          <a:ln w="12700">
            <a:solidFill>
              <a:srgbClr val="BFDBFE"/>
            </a:solidFill>
          </a:ln>
        </p:spPr>
        <p:txBody>
          <a:bodyPr wrap="square" lIns="1016" tIns="1016" rIns="1016" bIns="1016" rtlCol="0" anchor="ctr">
            <a:normAutofit/>
          </a:bodyPr>
          <a:lstStyle/>
          <a:p>
            <a:pPr algn="l" indent="0" marL="0">
              <a:buNone/>
            </a:pPr>
            <a:r>
              <a:rPr lang="en-US" sz="1200" dirty="0">
                <a:solidFill>
                  <a:srgbClr val="0B132B"/>
                </a:solidFill>
                <a:latin typeface="Aptos" pitchFamily="34" charset="0"/>
                <a:ea typeface="Aptos" pitchFamily="34" charset="-122"/>
                <a:cs typeface="Aptos" pitchFamily="34" charset="-120"/>
              </a:rPr>
              <a:t>Why graph?</a:t>
            </a:r>
            <a:endParaRPr lang="en-US" sz="1200" dirty="0"/>
          </a:p>
          <a:p>
            <a:pPr algn="l" indent="0" marL="0">
              <a:buNone/>
            </a:pPr>
            <a:r>
              <a:rPr lang="en-US" sz="1200" dirty="0">
                <a:solidFill>
                  <a:srgbClr val="0B132B"/>
                </a:solidFill>
                <a:latin typeface="Aptos" pitchFamily="34" charset="0"/>
                <a:ea typeface="Aptos" pitchFamily="34" charset="-122"/>
                <a:cs typeface="Aptos" pitchFamily="34" charset="-120"/>
              </a:rPr>
              <a:t>• traffic count varies</a:t>
            </a:r>
            <a:endParaRPr lang="en-US" sz="1200" dirty="0"/>
          </a:p>
          <a:p>
            <a:pPr algn="l" indent="0" marL="0">
              <a:buNone/>
            </a:pPr>
            <a:r>
              <a:rPr lang="en-US" sz="1200" dirty="0">
                <a:solidFill>
                  <a:srgbClr val="0B132B"/>
                </a:solidFill>
                <a:latin typeface="Aptos" pitchFamily="34" charset="0"/>
                <a:ea typeface="Aptos" pitchFamily="34" charset="-122"/>
                <a:cs typeface="Aptos" pitchFamily="34" charset="-120"/>
              </a:rPr>
              <a:t>• more than one neighbor can matter</a:t>
            </a:r>
            <a:endParaRPr lang="en-US" sz="1200" dirty="0"/>
          </a:p>
          <a:p>
            <a:pPr algn="l" indent="0" marL="0">
              <a:buNone/>
            </a:pPr>
            <a:r>
              <a:rPr lang="en-US" sz="1200" dirty="0">
                <a:solidFill>
                  <a:srgbClr val="0B132B"/>
                </a:solidFill>
                <a:latin typeface="Aptos" pitchFamily="34" charset="0"/>
                <a:ea typeface="Aptos" pitchFamily="34" charset="-122"/>
                <a:cs typeface="Aptos" pitchFamily="34" charset="-120"/>
              </a:rPr>
              <a:t>• front, conflict, route, signal relations differ</a:t>
            </a:r>
            <a:endParaRPr lang="en-US" sz="1200" dirty="0"/>
          </a:p>
        </p:txBody>
      </p:sp>
      <p:sp>
        <p:nvSpPr>
          <p:cNvPr id="28" name="Text 26"/>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Custom graph-attention readout is not the same as a Transformer stage.</a:t>
            </a:r>
            <a:endParaRPr lang="en-US" sz="7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ARCHITECTURE</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V5 graph observation schema: 49 / 27 / 25</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13</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Each controlled car sees an ego-centric, masked graph—not raw sensors and not full simulator state.</a:t>
            </a:r>
            <a:endParaRPr lang="en-US" sz="1230" dirty="0"/>
          </a:p>
        </p:txBody>
      </p:sp>
      <p:sp>
        <p:nvSpPr>
          <p:cNvPr id="7" name="Text 5"/>
          <p:cNvSpPr/>
          <p:nvPr/>
        </p:nvSpPr>
        <p:spPr>
          <a:xfrm>
            <a:off x="594360" y="1325880"/>
            <a:ext cx="5440680" cy="4389120"/>
          </a:xfrm>
          <a:prstGeom prst="rect">
            <a:avLst/>
          </a:prstGeom>
          <a:noFill/>
          <a:ln/>
        </p:spPr>
        <p:txBody>
          <a:bodyPr wrap="square" lIns="1016" tIns="1016" rIns="1016" bIns="1016" rtlCol="0" anchor="t">
            <a:normAutofit/>
          </a:bodyPr>
          <a:lstStyle/>
          <a:p>
            <a:pPr indent="0" marL="0">
              <a:buNone/>
            </a:pPr>
            <a:r>
              <a:rPr lang="en-US" sz="1440" dirty="0">
                <a:solidFill>
                  <a:srgbClr val="0B132B"/>
                </a:solidFill>
                <a:latin typeface="Aptos" pitchFamily="34" charset="0"/>
                <a:ea typeface="Aptos" pitchFamily="34" charset="-122"/>
                <a:cs typeface="Aptos" pitchFamily="34" charset="-120"/>
              </a:rPr>
              <a:t>• [PRODUCTION] Ego vector: 49 features for motion, route, signal/legal, front-gap, yield and pedestrian timing.</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[PRODUCTION] Node features: up to 52 nodes × 27 features for vehicles and context entities.</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[PRODUCTION] Edge features: 25-D typed relations for front/back/adjacent/conflict/priority context.</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[PRODUCTION] Exact future signal countdown is not exposed; observation is structured, noise-free simulator state.</a:t>
            </a:r>
            <a:endParaRPr lang="en-US" sz="1440" dirty="0"/>
          </a:p>
        </p:txBody>
      </p:sp>
      <p:sp>
        <p:nvSpPr>
          <p:cNvPr id="8" name="Shape 6"/>
          <p:cNvSpPr/>
          <p:nvPr/>
        </p:nvSpPr>
        <p:spPr>
          <a:xfrm>
            <a:off x="7909560" y="2057400"/>
            <a:ext cx="914400" cy="-274320"/>
          </a:xfrm>
          <a:prstGeom prst="line">
            <a:avLst/>
          </a:prstGeom>
          <a:noFill/>
          <a:ln w="12700">
            <a:solidFill>
              <a:srgbClr val="64748B"/>
            </a:solidFill>
            <a:prstDash val="solid"/>
            <a:headEnd type="none"/>
            <a:tailEnd type="triangle"/>
          </a:ln>
        </p:spPr>
      </p:sp>
      <p:sp>
        <p:nvSpPr>
          <p:cNvPr id="9" name="Shape 7"/>
          <p:cNvSpPr/>
          <p:nvPr/>
        </p:nvSpPr>
        <p:spPr>
          <a:xfrm>
            <a:off x="7909560" y="2057400"/>
            <a:ext cx="914400" cy="320040"/>
          </a:xfrm>
          <a:prstGeom prst="line">
            <a:avLst/>
          </a:prstGeom>
          <a:noFill/>
          <a:ln w="12700">
            <a:solidFill>
              <a:srgbClr val="64748B"/>
            </a:solidFill>
            <a:prstDash val="solid"/>
            <a:headEnd type="none"/>
            <a:tailEnd type="triangle"/>
          </a:ln>
        </p:spPr>
      </p:sp>
      <p:sp>
        <p:nvSpPr>
          <p:cNvPr id="10" name="Shape 8"/>
          <p:cNvSpPr/>
          <p:nvPr/>
        </p:nvSpPr>
        <p:spPr>
          <a:xfrm>
            <a:off x="7909560" y="2057400"/>
            <a:ext cx="914400" cy="868680"/>
          </a:xfrm>
          <a:prstGeom prst="line">
            <a:avLst/>
          </a:prstGeom>
          <a:noFill/>
          <a:ln w="12700">
            <a:solidFill>
              <a:srgbClr val="64748B"/>
            </a:solidFill>
            <a:prstDash val="solid"/>
            <a:headEnd type="none"/>
            <a:tailEnd type="triangle"/>
          </a:ln>
        </p:spPr>
      </p:sp>
      <p:sp>
        <p:nvSpPr>
          <p:cNvPr id="11" name="Shape 9"/>
          <p:cNvSpPr/>
          <p:nvPr/>
        </p:nvSpPr>
        <p:spPr>
          <a:xfrm>
            <a:off x="7909560" y="2057400"/>
            <a:ext cx="914400" cy="1417320"/>
          </a:xfrm>
          <a:prstGeom prst="line">
            <a:avLst/>
          </a:prstGeom>
          <a:noFill/>
          <a:ln w="12700">
            <a:solidFill>
              <a:srgbClr val="64748B"/>
            </a:solidFill>
            <a:prstDash val="solid"/>
            <a:headEnd type="none"/>
            <a:tailEnd type="triangle"/>
          </a:ln>
        </p:spPr>
      </p:sp>
      <p:sp>
        <p:nvSpPr>
          <p:cNvPr id="12" name="Text 10"/>
          <p:cNvSpPr/>
          <p:nvPr/>
        </p:nvSpPr>
        <p:spPr>
          <a:xfrm>
            <a:off x="7132320" y="1673352"/>
            <a:ext cx="731520" cy="658368"/>
          </a:xfrm>
          <a:prstGeom prst="rect">
            <a:avLst/>
          </a:prstGeom>
          <a:solidFill>
            <a:srgbClr val="1D4ED8"/>
          </a:solidFill>
          <a:ln w="9525">
            <a:solidFill>
              <a:srgbClr val="1D4ED8"/>
            </a:solidFill>
          </a:ln>
        </p:spPr>
        <p:txBody>
          <a:bodyPr wrap="square" lIns="1016" tIns="1016" rIns="1016" bIns="1016"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ego</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49-D</a:t>
            </a:r>
            <a:endParaRPr lang="en-US" sz="950" dirty="0"/>
          </a:p>
        </p:txBody>
      </p:sp>
      <p:sp>
        <p:nvSpPr>
          <p:cNvPr id="13" name="Text 11"/>
          <p:cNvSpPr/>
          <p:nvPr/>
        </p:nvSpPr>
        <p:spPr>
          <a:xfrm>
            <a:off x="8869680" y="1463040"/>
            <a:ext cx="960120" cy="45720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770" dirty="0">
                <a:solidFill>
                  <a:srgbClr val="0B132B"/>
                </a:solidFill>
                <a:latin typeface="Aptos" pitchFamily="34" charset="0"/>
                <a:ea typeface="Aptos" pitchFamily="34" charset="-122"/>
                <a:cs typeface="Aptos" pitchFamily="34" charset="-120"/>
              </a:rPr>
              <a:t>vehicle</a:t>
            </a:r>
            <a:endParaRPr lang="en-US" sz="770" dirty="0"/>
          </a:p>
          <a:p>
            <a:pPr algn="ctr" indent="0" marL="0">
              <a:buNone/>
            </a:pPr>
            <a:r>
              <a:rPr lang="en-US" sz="770" dirty="0">
                <a:solidFill>
                  <a:srgbClr val="0B132B"/>
                </a:solidFill>
                <a:latin typeface="Aptos" pitchFamily="34" charset="0"/>
                <a:ea typeface="Aptos" pitchFamily="34" charset="-122"/>
                <a:cs typeface="Aptos" pitchFamily="34" charset="-120"/>
              </a:rPr>
              <a:t>node 27-D</a:t>
            </a:r>
            <a:endParaRPr lang="en-US" sz="770" dirty="0"/>
          </a:p>
        </p:txBody>
      </p:sp>
      <p:sp>
        <p:nvSpPr>
          <p:cNvPr id="14" name="Text 12"/>
          <p:cNvSpPr/>
          <p:nvPr/>
        </p:nvSpPr>
        <p:spPr>
          <a:xfrm>
            <a:off x="8869680" y="2075688"/>
            <a:ext cx="960120" cy="45720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770" dirty="0">
                <a:solidFill>
                  <a:srgbClr val="0B132B"/>
                </a:solidFill>
                <a:latin typeface="Aptos" pitchFamily="34" charset="0"/>
                <a:ea typeface="Aptos" pitchFamily="34" charset="-122"/>
                <a:cs typeface="Aptos" pitchFamily="34" charset="-120"/>
              </a:rPr>
              <a:t>front / TTC</a:t>
            </a:r>
            <a:endParaRPr lang="en-US" sz="770" dirty="0"/>
          </a:p>
          <a:p>
            <a:pPr algn="ctr" indent="0" marL="0">
              <a:buNone/>
            </a:pPr>
            <a:r>
              <a:rPr lang="en-US" sz="770" dirty="0">
                <a:solidFill>
                  <a:srgbClr val="0B132B"/>
                </a:solidFill>
                <a:latin typeface="Aptos" pitchFamily="34" charset="0"/>
                <a:ea typeface="Aptos" pitchFamily="34" charset="-122"/>
                <a:cs typeface="Aptos" pitchFamily="34" charset="-120"/>
              </a:rPr>
              <a:t>edge 25-D</a:t>
            </a:r>
            <a:endParaRPr lang="en-US" sz="770" dirty="0"/>
          </a:p>
        </p:txBody>
      </p:sp>
      <p:sp>
        <p:nvSpPr>
          <p:cNvPr id="15" name="Text 13"/>
          <p:cNvSpPr/>
          <p:nvPr/>
        </p:nvSpPr>
        <p:spPr>
          <a:xfrm>
            <a:off x="8869680" y="2642616"/>
            <a:ext cx="960120" cy="45720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770" dirty="0">
                <a:solidFill>
                  <a:srgbClr val="0B132B"/>
                </a:solidFill>
                <a:latin typeface="Aptos" pitchFamily="34" charset="0"/>
                <a:ea typeface="Aptos" pitchFamily="34" charset="-122"/>
                <a:cs typeface="Aptos" pitchFamily="34" charset="-120"/>
              </a:rPr>
              <a:t>lane/map</a:t>
            </a:r>
            <a:endParaRPr lang="en-US" sz="770" dirty="0"/>
          </a:p>
          <a:p>
            <a:pPr algn="ctr" indent="0" marL="0">
              <a:buNone/>
            </a:pPr>
            <a:r>
              <a:rPr lang="en-US" sz="770" dirty="0">
                <a:solidFill>
                  <a:srgbClr val="0B132B"/>
                </a:solidFill>
                <a:latin typeface="Aptos" pitchFamily="34" charset="0"/>
                <a:ea typeface="Aptos" pitchFamily="34" charset="-122"/>
                <a:cs typeface="Aptos" pitchFamily="34" charset="-120"/>
              </a:rPr>
              <a:t>context</a:t>
            </a:r>
            <a:endParaRPr lang="en-US" sz="770" dirty="0"/>
          </a:p>
        </p:txBody>
      </p:sp>
      <p:sp>
        <p:nvSpPr>
          <p:cNvPr id="16" name="Text 14"/>
          <p:cNvSpPr/>
          <p:nvPr/>
        </p:nvSpPr>
        <p:spPr>
          <a:xfrm>
            <a:off x="8869680" y="3200400"/>
            <a:ext cx="960120" cy="45720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770" dirty="0">
                <a:solidFill>
                  <a:srgbClr val="0B132B"/>
                </a:solidFill>
                <a:latin typeface="Aptos" pitchFamily="34" charset="0"/>
                <a:ea typeface="Aptos" pitchFamily="34" charset="-122"/>
                <a:cs typeface="Aptos" pitchFamily="34" charset="-120"/>
              </a:rPr>
              <a:t>signal/legal</a:t>
            </a:r>
            <a:endParaRPr lang="en-US" sz="770" dirty="0"/>
          </a:p>
          <a:p>
            <a:pPr algn="ctr" indent="0" marL="0">
              <a:buNone/>
            </a:pPr>
            <a:r>
              <a:rPr lang="en-US" sz="770" dirty="0">
                <a:solidFill>
                  <a:srgbClr val="0B132B"/>
                </a:solidFill>
                <a:latin typeface="Aptos" pitchFamily="34" charset="0"/>
                <a:ea typeface="Aptos" pitchFamily="34" charset="-122"/>
                <a:cs typeface="Aptos" pitchFamily="34" charset="-120"/>
              </a:rPr>
              <a:t>context</a:t>
            </a:r>
            <a:endParaRPr lang="en-US" sz="770" dirty="0"/>
          </a:p>
        </p:txBody>
      </p:sp>
      <p:sp>
        <p:nvSpPr>
          <p:cNvPr id="17" name="Text 15"/>
          <p:cNvSpPr/>
          <p:nvPr/>
        </p:nvSpPr>
        <p:spPr>
          <a:xfrm>
            <a:off x="6720840" y="3931920"/>
            <a:ext cx="3383280" cy="201168"/>
          </a:xfrm>
          <a:prstGeom prst="rect">
            <a:avLst/>
          </a:prstGeom>
          <a:noFill/>
          <a:ln/>
        </p:spPr>
        <p:txBody>
          <a:bodyPr wrap="square" lIns="0" tIns="0" rIns="0" bIns="0" rtlCol="0" anchor="ctr"/>
          <a:lstStyle/>
          <a:p>
            <a:pPr algn="ctr" indent="0" marL="0">
              <a:buNone/>
            </a:pPr>
            <a:r>
              <a:rPr lang="en-US" sz="820" dirty="0">
                <a:solidFill>
                  <a:srgbClr val="475569"/>
                </a:solidFill>
              </a:rPr>
              <a:t>masked padded graph, max 52 nodes</a:t>
            </a:r>
            <a:endParaRPr lang="en-US" sz="820" dirty="0"/>
          </a:p>
        </p:txBody>
      </p:sp>
      <p:sp>
        <p:nvSpPr>
          <p:cNvPr id="18" name="Text 16"/>
          <p:cNvSpPr/>
          <p:nvPr/>
        </p:nvSpPr>
        <p:spPr>
          <a:xfrm>
            <a:off x="6537960" y="4526280"/>
            <a:ext cx="1051560" cy="384048"/>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30" b="1" dirty="0">
                <a:solidFill>
                  <a:srgbClr val="FFFFFF"/>
                </a:solidFill>
                <a:latin typeface="Aptos" pitchFamily="34" charset="0"/>
                <a:ea typeface="Aptos" pitchFamily="34" charset="-122"/>
                <a:cs typeface="Aptos" pitchFamily="34" charset="-120"/>
              </a:rPr>
              <a:t>Tensor</a:t>
            </a:r>
            <a:endParaRPr lang="en-US" sz="830" dirty="0"/>
          </a:p>
        </p:txBody>
      </p:sp>
      <p:sp>
        <p:nvSpPr>
          <p:cNvPr id="19" name="Text 17"/>
          <p:cNvSpPr/>
          <p:nvPr/>
        </p:nvSpPr>
        <p:spPr>
          <a:xfrm>
            <a:off x="7589520" y="4526280"/>
            <a:ext cx="1143000" cy="384048"/>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30" b="1" dirty="0">
                <a:solidFill>
                  <a:srgbClr val="FFFFFF"/>
                </a:solidFill>
                <a:latin typeface="Aptos" pitchFamily="34" charset="0"/>
                <a:ea typeface="Aptos" pitchFamily="34" charset="-122"/>
                <a:cs typeface="Aptos" pitchFamily="34" charset="-120"/>
              </a:rPr>
              <a:t>Dimension</a:t>
            </a:r>
            <a:endParaRPr lang="en-US" sz="830" dirty="0"/>
          </a:p>
        </p:txBody>
      </p:sp>
      <p:sp>
        <p:nvSpPr>
          <p:cNvPr id="20" name="Text 18"/>
          <p:cNvSpPr/>
          <p:nvPr/>
        </p:nvSpPr>
        <p:spPr>
          <a:xfrm>
            <a:off x="8732520" y="4526280"/>
            <a:ext cx="2194560" cy="384048"/>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30" b="1" dirty="0">
                <a:solidFill>
                  <a:srgbClr val="FFFFFF"/>
                </a:solidFill>
                <a:latin typeface="Aptos" pitchFamily="34" charset="0"/>
                <a:ea typeface="Aptos" pitchFamily="34" charset="-122"/>
                <a:cs typeface="Aptos" pitchFamily="34" charset="-120"/>
              </a:rPr>
              <a:t>Role</a:t>
            </a:r>
            <a:endParaRPr lang="en-US" sz="830" dirty="0"/>
          </a:p>
        </p:txBody>
      </p:sp>
      <p:sp>
        <p:nvSpPr>
          <p:cNvPr id="21" name="Text 19"/>
          <p:cNvSpPr/>
          <p:nvPr/>
        </p:nvSpPr>
        <p:spPr>
          <a:xfrm>
            <a:off x="6537960" y="4910328"/>
            <a:ext cx="10515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ego</a:t>
            </a:r>
            <a:endParaRPr lang="en-US" sz="830" dirty="0"/>
          </a:p>
        </p:txBody>
      </p:sp>
      <p:sp>
        <p:nvSpPr>
          <p:cNvPr id="22" name="Text 20"/>
          <p:cNvSpPr/>
          <p:nvPr/>
        </p:nvSpPr>
        <p:spPr>
          <a:xfrm>
            <a:off x="7589520" y="4910328"/>
            <a:ext cx="114300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49</a:t>
            </a:r>
            <a:endParaRPr lang="en-US" sz="830" dirty="0"/>
          </a:p>
        </p:txBody>
      </p:sp>
      <p:sp>
        <p:nvSpPr>
          <p:cNvPr id="23" name="Text 21"/>
          <p:cNvSpPr/>
          <p:nvPr/>
        </p:nvSpPr>
        <p:spPr>
          <a:xfrm>
            <a:off x="8732520" y="4910328"/>
            <a:ext cx="21945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motion + route + legal</a:t>
            </a:r>
            <a:endParaRPr lang="en-US" sz="830" dirty="0"/>
          </a:p>
        </p:txBody>
      </p:sp>
      <p:sp>
        <p:nvSpPr>
          <p:cNvPr id="24" name="Text 22"/>
          <p:cNvSpPr/>
          <p:nvPr/>
        </p:nvSpPr>
        <p:spPr>
          <a:xfrm>
            <a:off x="6537960" y="5294376"/>
            <a:ext cx="10515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node</a:t>
            </a:r>
            <a:endParaRPr lang="en-US" sz="830" dirty="0"/>
          </a:p>
        </p:txBody>
      </p:sp>
      <p:sp>
        <p:nvSpPr>
          <p:cNvPr id="25" name="Text 23"/>
          <p:cNvSpPr/>
          <p:nvPr/>
        </p:nvSpPr>
        <p:spPr>
          <a:xfrm>
            <a:off x="7589520" y="5294376"/>
            <a:ext cx="114300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52 × 27</a:t>
            </a:r>
            <a:endParaRPr lang="en-US" sz="830" dirty="0"/>
          </a:p>
        </p:txBody>
      </p:sp>
      <p:sp>
        <p:nvSpPr>
          <p:cNvPr id="26" name="Text 24"/>
          <p:cNvSpPr/>
          <p:nvPr/>
        </p:nvSpPr>
        <p:spPr>
          <a:xfrm>
            <a:off x="8732520" y="5294376"/>
            <a:ext cx="21945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agents + context</a:t>
            </a:r>
            <a:endParaRPr lang="en-US" sz="830" dirty="0"/>
          </a:p>
        </p:txBody>
      </p:sp>
      <p:sp>
        <p:nvSpPr>
          <p:cNvPr id="27" name="Text 25"/>
          <p:cNvSpPr/>
          <p:nvPr/>
        </p:nvSpPr>
        <p:spPr>
          <a:xfrm>
            <a:off x="6537960" y="5678424"/>
            <a:ext cx="10515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edge</a:t>
            </a:r>
            <a:endParaRPr lang="en-US" sz="830" dirty="0"/>
          </a:p>
        </p:txBody>
      </p:sp>
      <p:sp>
        <p:nvSpPr>
          <p:cNvPr id="28" name="Text 26"/>
          <p:cNvSpPr/>
          <p:nvPr/>
        </p:nvSpPr>
        <p:spPr>
          <a:xfrm>
            <a:off x="7589520" y="5678424"/>
            <a:ext cx="114300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25</a:t>
            </a:r>
            <a:endParaRPr lang="en-US" sz="830" dirty="0"/>
          </a:p>
        </p:txBody>
      </p:sp>
      <p:sp>
        <p:nvSpPr>
          <p:cNvPr id="29" name="Text 27"/>
          <p:cNvSpPr/>
          <p:nvPr/>
        </p:nvSpPr>
        <p:spPr>
          <a:xfrm>
            <a:off x="8732520" y="5678424"/>
            <a:ext cx="21945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typed relation</a:t>
            </a:r>
            <a:endParaRPr lang="en-US" sz="830" dirty="0"/>
          </a:p>
        </p:txBody>
      </p:sp>
      <p:sp>
        <p:nvSpPr>
          <p:cNvPr id="30" name="Text 28"/>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This is a privileged simulator abstraction, not camera/LiDAR perception.</a:t>
            </a:r>
            <a:endParaRPr lang="en-US" sz="7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ARCHITECTURE</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V5 policy architecture and action interface</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14</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V5 is a graph actor-critic with specialized longitudinal modes; steering exists but is behaviorally inert.</a:t>
            </a:r>
            <a:endParaRPr lang="en-US" sz="1230" dirty="0"/>
          </a:p>
        </p:txBody>
      </p:sp>
      <p:sp>
        <p:nvSpPr>
          <p:cNvPr id="7" name="Text 5"/>
          <p:cNvSpPr/>
          <p:nvPr/>
        </p:nvSpPr>
        <p:spPr>
          <a:xfrm>
            <a:off x="594360" y="1325880"/>
            <a:ext cx="5440680" cy="4480560"/>
          </a:xfrm>
          <a:prstGeom prst="rect">
            <a:avLst/>
          </a:prstGeom>
          <a:noFill/>
          <a:ln/>
        </p:spPr>
        <p:txBody>
          <a:bodyPr wrap="square" lIns="1016" tIns="1016" rIns="1016" bIns="1016" rtlCol="0" anchor="t">
            <a:normAutofit/>
          </a:bodyPr>
          <a:lstStyle/>
          <a:p>
            <a:pPr indent="0" marL="0">
              <a:buNone/>
            </a:pPr>
            <a:r>
              <a:rPr lang="en-US" sz="1410" dirty="0">
                <a:solidFill>
                  <a:srgbClr val="0B132B"/>
                </a:solidFill>
                <a:latin typeface="Aptos" pitchFamily="34" charset="0"/>
                <a:ea typeface="Aptos" pitchFamily="34" charset="-122"/>
                <a:cs typeface="Aptos" pitchFamily="34" charset="-120"/>
              </a:rPr>
              <a:t>• [PRODUCTION] Encoders map ego/node/edge inputs to 128-D embeddings; two graph-attention blocks update ego context.</a:t>
            </a:r>
            <a:endParaRPr lang="en-US" sz="1410" dirty="0"/>
          </a:p>
          <a:p>
            <a:pPr indent="0" marL="0">
              <a:buNone/>
            </a:pPr>
            <a:r>
              <a:rPr lang="en-US" sz="1410" dirty="0">
                <a:solidFill>
                  <a:srgbClr val="0B132B"/>
                </a:solidFill>
                <a:latin typeface="Aptos" pitchFamily="34" charset="0"/>
                <a:ea typeface="Aptos" pitchFamily="34" charset="-122"/>
                <a:cs typeface="Aptos" pitchFamily="34" charset="-120"/>
              </a:rPr>
              <a:t>• [PRODUCTION] Actor uses tanh-squashed brake/creep/go mixture with learned gate and residual adapters.</a:t>
            </a:r>
            <a:endParaRPr lang="en-US" sz="1410" dirty="0"/>
          </a:p>
          <a:p>
            <a:pPr indent="0" marL="0">
              <a:buNone/>
            </a:pPr>
            <a:r>
              <a:rPr lang="en-US" sz="1410" dirty="0">
                <a:solidFill>
                  <a:srgbClr val="0B132B"/>
                </a:solidFill>
                <a:latin typeface="Aptos" pitchFamily="34" charset="0"/>
                <a:ea typeface="Aptos" pitchFamily="34" charset="-122"/>
                <a:cs typeface="Aptos" pitchFamily="34" charset="-120"/>
              </a:rPr>
              <a:t>• [PRODUCTION] Deterministic evaluation selects gate argmax and component mean, not an average of incompatible modes.</a:t>
            </a:r>
            <a:endParaRPr lang="en-US" sz="1410" dirty="0"/>
          </a:p>
          <a:p>
            <a:pPr indent="0" marL="0">
              <a:buNone/>
            </a:pPr>
            <a:r>
              <a:rPr lang="en-US" sz="1410" dirty="0">
                <a:solidFill>
                  <a:srgbClr val="0B132B"/>
                </a:solidFill>
                <a:latin typeface="Aptos" pitchFamily="34" charset="0"/>
                <a:ea typeface="Aptos" pitchFamily="34" charset="-122"/>
                <a:cs typeface="Aptos" pitchFamily="34" charset="-120"/>
              </a:rPr>
              <a:t>• [PRODUCTION] Action 0 controls longitudinal acceleration; action 1 steering is retained but path-locked to zero at runtime.</a:t>
            </a:r>
            <a:endParaRPr lang="en-US" sz="1410" dirty="0"/>
          </a:p>
        </p:txBody>
      </p:sp>
      <p:sp>
        <p:nvSpPr>
          <p:cNvPr id="8" name="Shape 6"/>
          <p:cNvSpPr/>
          <p:nvPr/>
        </p:nvSpPr>
        <p:spPr>
          <a:xfrm>
            <a:off x="7315200" y="2057400"/>
            <a:ext cx="594360" cy="0"/>
          </a:xfrm>
          <a:prstGeom prst="line">
            <a:avLst/>
          </a:prstGeom>
          <a:noFill/>
          <a:ln w="16510">
            <a:solidFill>
              <a:srgbClr val="64748B"/>
            </a:solidFill>
            <a:prstDash val="solid"/>
            <a:headEnd type="none"/>
            <a:tailEnd type="triangle"/>
          </a:ln>
        </p:spPr>
      </p:sp>
      <p:sp>
        <p:nvSpPr>
          <p:cNvPr id="9" name="Shape 7"/>
          <p:cNvSpPr/>
          <p:nvPr/>
        </p:nvSpPr>
        <p:spPr>
          <a:xfrm>
            <a:off x="8915400" y="2057400"/>
            <a:ext cx="594360" cy="0"/>
          </a:xfrm>
          <a:prstGeom prst="line">
            <a:avLst/>
          </a:prstGeom>
          <a:noFill/>
          <a:ln w="16510">
            <a:solidFill>
              <a:srgbClr val="64748B"/>
            </a:solidFill>
            <a:prstDash val="solid"/>
            <a:headEnd type="none"/>
            <a:tailEnd type="triangle"/>
          </a:ln>
        </p:spPr>
      </p:sp>
      <p:sp>
        <p:nvSpPr>
          <p:cNvPr id="10" name="Shape 8"/>
          <p:cNvSpPr/>
          <p:nvPr/>
        </p:nvSpPr>
        <p:spPr>
          <a:xfrm>
            <a:off x="10515600" y="2057400"/>
            <a:ext cx="548640" cy="-320040"/>
          </a:xfrm>
          <a:prstGeom prst="line">
            <a:avLst/>
          </a:prstGeom>
          <a:noFill/>
          <a:ln w="16510">
            <a:solidFill>
              <a:srgbClr val="64748B"/>
            </a:solidFill>
            <a:prstDash val="solid"/>
            <a:headEnd type="none"/>
            <a:tailEnd type="triangle"/>
          </a:ln>
        </p:spPr>
      </p:sp>
      <p:sp>
        <p:nvSpPr>
          <p:cNvPr id="11" name="Shape 9"/>
          <p:cNvSpPr/>
          <p:nvPr/>
        </p:nvSpPr>
        <p:spPr>
          <a:xfrm>
            <a:off x="10515600" y="2057400"/>
            <a:ext cx="548640" cy="365760"/>
          </a:xfrm>
          <a:prstGeom prst="line">
            <a:avLst/>
          </a:prstGeom>
          <a:noFill/>
          <a:ln w="16510">
            <a:solidFill>
              <a:srgbClr val="64748B"/>
            </a:solidFill>
            <a:prstDash val="solid"/>
            <a:headEnd type="none"/>
            <a:tailEnd type="triangle"/>
          </a:ln>
        </p:spPr>
      </p:sp>
      <p:sp>
        <p:nvSpPr>
          <p:cNvPr id="12" name="Text 10"/>
          <p:cNvSpPr/>
          <p:nvPr/>
        </p:nvSpPr>
        <p:spPr>
          <a:xfrm>
            <a:off x="6080760" y="1737360"/>
            <a:ext cx="1143000" cy="6400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b="1" dirty="0">
                <a:solidFill>
                  <a:srgbClr val="0B132B"/>
                </a:solidFill>
                <a:latin typeface="Aptos" pitchFamily="34" charset="0"/>
                <a:ea typeface="Aptos" pitchFamily="34" charset="-122"/>
                <a:cs typeface="Aptos" pitchFamily="34" charset="-120"/>
              </a:rPr>
              <a:t>graph</a:t>
            </a:r>
            <a:endParaRPr lang="en-US" sz="1000" dirty="0"/>
          </a:p>
          <a:p>
            <a:pPr algn="ctr" indent="0" marL="0">
              <a:buNone/>
            </a:pPr>
            <a:r>
              <a:rPr lang="en-US" sz="1000" b="1" dirty="0">
                <a:solidFill>
                  <a:srgbClr val="0B132B"/>
                </a:solidFill>
                <a:latin typeface="Aptos" pitchFamily="34" charset="0"/>
                <a:ea typeface="Aptos" pitchFamily="34" charset="-122"/>
                <a:cs typeface="Aptos" pitchFamily="34" charset="-120"/>
              </a:rPr>
              <a:t>49/27/25</a:t>
            </a:r>
            <a:endParaRPr lang="en-US" sz="1000" dirty="0"/>
          </a:p>
        </p:txBody>
      </p:sp>
      <p:sp>
        <p:nvSpPr>
          <p:cNvPr id="13" name="Text 11"/>
          <p:cNvSpPr/>
          <p:nvPr/>
        </p:nvSpPr>
        <p:spPr>
          <a:xfrm>
            <a:off x="7909560" y="1737360"/>
            <a:ext cx="960120" cy="6400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b="1" dirty="0">
                <a:solidFill>
                  <a:srgbClr val="0B132B"/>
                </a:solidFill>
                <a:latin typeface="Aptos" pitchFamily="34" charset="0"/>
                <a:ea typeface="Aptos" pitchFamily="34" charset="-122"/>
                <a:cs typeface="Aptos" pitchFamily="34" charset="-120"/>
              </a:rPr>
              <a:t>encoders</a:t>
            </a:r>
            <a:endParaRPr lang="en-US" sz="1000" dirty="0"/>
          </a:p>
          <a:p>
            <a:pPr algn="ctr" indent="0" marL="0">
              <a:buNone/>
            </a:pPr>
            <a:r>
              <a:rPr lang="en-US" sz="1000" b="1" dirty="0">
                <a:solidFill>
                  <a:srgbClr val="0B132B"/>
                </a:solidFill>
                <a:latin typeface="Aptos" pitchFamily="34" charset="0"/>
                <a:ea typeface="Aptos" pitchFamily="34" charset="-122"/>
                <a:cs typeface="Aptos" pitchFamily="34" charset="-120"/>
              </a:rPr>
              <a:t>128-D</a:t>
            </a:r>
            <a:endParaRPr lang="en-US" sz="1000" dirty="0"/>
          </a:p>
        </p:txBody>
      </p:sp>
      <p:sp>
        <p:nvSpPr>
          <p:cNvPr id="14" name="Text 12"/>
          <p:cNvSpPr/>
          <p:nvPr/>
        </p:nvSpPr>
        <p:spPr>
          <a:xfrm>
            <a:off x="9509760" y="1645920"/>
            <a:ext cx="960120" cy="82296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2 typed</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graph-attn</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blocks</a:t>
            </a:r>
            <a:endParaRPr lang="en-US" sz="950" dirty="0"/>
          </a:p>
        </p:txBody>
      </p:sp>
      <p:sp>
        <p:nvSpPr>
          <p:cNvPr id="15" name="Text 13"/>
          <p:cNvSpPr/>
          <p:nvPr/>
        </p:nvSpPr>
        <p:spPr>
          <a:xfrm>
            <a:off x="11064240" y="1371600"/>
            <a:ext cx="868680" cy="45720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50" b="1" dirty="0">
                <a:solidFill>
                  <a:srgbClr val="0B132B"/>
                </a:solidFill>
                <a:latin typeface="Aptos" pitchFamily="34" charset="0"/>
                <a:ea typeface="Aptos" pitchFamily="34" charset="-122"/>
                <a:cs typeface="Aptos" pitchFamily="34" charset="-120"/>
              </a:rPr>
              <a:t>critic</a:t>
            </a:r>
            <a:endParaRPr lang="en-US" sz="950" dirty="0"/>
          </a:p>
          <a:p>
            <a:pPr algn="ctr" indent="0" marL="0">
              <a:buNone/>
            </a:pPr>
            <a:r>
              <a:rPr lang="en-US" sz="950" b="1" dirty="0">
                <a:solidFill>
                  <a:srgbClr val="0B132B"/>
                </a:solidFill>
                <a:latin typeface="Aptos" pitchFamily="34" charset="0"/>
                <a:ea typeface="Aptos" pitchFamily="34" charset="-122"/>
                <a:cs typeface="Aptos" pitchFamily="34" charset="-120"/>
              </a:rPr>
              <a:t>Vφ(o)</a:t>
            </a:r>
            <a:endParaRPr lang="en-US" sz="950" dirty="0"/>
          </a:p>
        </p:txBody>
      </p:sp>
      <p:sp>
        <p:nvSpPr>
          <p:cNvPr id="16" name="Text 14"/>
          <p:cNvSpPr/>
          <p:nvPr/>
        </p:nvSpPr>
        <p:spPr>
          <a:xfrm>
            <a:off x="11064240" y="2194560"/>
            <a:ext cx="868680" cy="457200"/>
          </a:xfrm>
          <a:prstGeom prst="rect">
            <a:avLst/>
          </a:prstGeom>
          <a:solidFill>
            <a:srgbClr val="059669"/>
          </a:solidFill>
          <a:ln w="9525">
            <a:solidFill>
              <a:srgbClr val="059669"/>
            </a:solidFill>
          </a:ln>
        </p:spPr>
        <p:txBody>
          <a:bodyPr wrap="square" lIns="1016" tIns="1016" rIns="1016" bIns="1016"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actor</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πθ(a|o)</a:t>
            </a:r>
            <a:endParaRPr lang="en-US" sz="950" dirty="0"/>
          </a:p>
        </p:txBody>
      </p:sp>
      <p:sp>
        <p:nvSpPr>
          <p:cNvPr id="17" name="Text 15"/>
          <p:cNvSpPr/>
          <p:nvPr/>
        </p:nvSpPr>
        <p:spPr>
          <a:xfrm>
            <a:off x="6217920" y="3246120"/>
            <a:ext cx="1920240" cy="347472"/>
          </a:xfrm>
          <a:prstGeom prst="rect">
            <a:avLst/>
          </a:prstGeom>
          <a:solidFill>
            <a:srgbClr val="ECFDF5"/>
          </a:solidFill>
          <a:ln w="12700">
            <a:solidFill>
              <a:srgbClr val="A7F3D0"/>
            </a:solidFill>
          </a:ln>
        </p:spPr>
        <p:txBody>
          <a:bodyPr wrap="square" lIns="1016" tIns="1016" rIns="1016" bIns="1016" rtlCol="0" anchor="ctr">
            <a:normAutofit/>
          </a:bodyPr>
          <a:lstStyle/>
          <a:p>
            <a:pPr algn="ctr" indent="0" marL="0">
              <a:buNone/>
            </a:pPr>
            <a:r>
              <a:rPr lang="en-US" sz="1050" b="1" dirty="0">
                <a:solidFill>
                  <a:srgbClr val="0B132B"/>
                </a:solidFill>
                <a:latin typeface="Aptos" pitchFamily="34" charset="0"/>
                <a:ea typeface="Aptos" pitchFamily="34" charset="-122"/>
                <a:cs typeface="Aptos" pitchFamily="34" charset="-120"/>
              </a:rPr>
              <a:t>longitudinal mixture</a:t>
            </a:r>
            <a:endParaRPr lang="en-US" sz="1050" dirty="0"/>
          </a:p>
        </p:txBody>
      </p:sp>
      <p:sp>
        <p:nvSpPr>
          <p:cNvPr id="18" name="Text 16"/>
          <p:cNvSpPr/>
          <p:nvPr/>
        </p:nvSpPr>
        <p:spPr>
          <a:xfrm>
            <a:off x="6263640" y="3840480"/>
            <a:ext cx="685800" cy="4114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20" dirty="0">
                <a:solidFill>
                  <a:srgbClr val="0B132B"/>
                </a:solidFill>
                <a:latin typeface="Aptos" pitchFamily="34" charset="0"/>
                <a:ea typeface="Aptos" pitchFamily="34" charset="-122"/>
                <a:cs typeface="Aptos" pitchFamily="34" charset="-120"/>
              </a:rPr>
              <a:t>brake</a:t>
            </a:r>
            <a:endParaRPr lang="en-US" sz="920" dirty="0"/>
          </a:p>
        </p:txBody>
      </p:sp>
      <p:sp>
        <p:nvSpPr>
          <p:cNvPr id="19" name="Text 17"/>
          <p:cNvSpPr/>
          <p:nvPr/>
        </p:nvSpPr>
        <p:spPr>
          <a:xfrm>
            <a:off x="7013448" y="3840480"/>
            <a:ext cx="685800" cy="4114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20" dirty="0">
                <a:solidFill>
                  <a:srgbClr val="0B132B"/>
                </a:solidFill>
                <a:latin typeface="Aptos" pitchFamily="34" charset="0"/>
                <a:ea typeface="Aptos" pitchFamily="34" charset="-122"/>
                <a:cs typeface="Aptos" pitchFamily="34" charset="-120"/>
              </a:rPr>
              <a:t>creep</a:t>
            </a:r>
            <a:endParaRPr lang="en-US" sz="920" dirty="0"/>
          </a:p>
        </p:txBody>
      </p:sp>
      <p:sp>
        <p:nvSpPr>
          <p:cNvPr id="20" name="Text 18"/>
          <p:cNvSpPr/>
          <p:nvPr/>
        </p:nvSpPr>
        <p:spPr>
          <a:xfrm>
            <a:off x="7763256" y="3840480"/>
            <a:ext cx="502920" cy="4114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20" dirty="0">
                <a:solidFill>
                  <a:srgbClr val="0B132B"/>
                </a:solidFill>
                <a:latin typeface="Aptos" pitchFamily="34" charset="0"/>
                <a:ea typeface="Aptos" pitchFamily="34" charset="-122"/>
                <a:cs typeface="Aptos" pitchFamily="34" charset="-120"/>
              </a:rPr>
              <a:t>go</a:t>
            </a:r>
            <a:endParaRPr lang="en-US" sz="920" dirty="0"/>
          </a:p>
        </p:txBody>
      </p:sp>
      <p:sp>
        <p:nvSpPr>
          <p:cNvPr id="21" name="Text 19"/>
          <p:cNvSpPr/>
          <p:nvPr/>
        </p:nvSpPr>
        <p:spPr>
          <a:xfrm>
            <a:off x="8503920" y="3657600"/>
            <a:ext cx="1188720" cy="6400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20" b="1" dirty="0">
                <a:solidFill>
                  <a:srgbClr val="0B132B"/>
                </a:solidFill>
                <a:latin typeface="Aptos" pitchFamily="34" charset="0"/>
                <a:ea typeface="Aptos" pitchFamily="34" charset="-122"/>
                <a:cs typeface="Aptos" pitchFamily="34" charset="-120"/>
              </a:rPr>
              <a:t>gate</a:t>
            </a:r>
            <a:endParaRPr lang="en-US" sz="920" dirty="0"/>
          </a:p>
          <a:p>
            <a:pPr algn="ctr" indent="0" marL="0">
              <a:buNone/>
            </a:pPr>
            <a:r>
              <a:rPr lang="en-US" sz="920" b="1" dirty="0">
                <a:solidFill>
                  <a:srgbClr val="0B132B"/>
                </a:solidFill>
                <a:latin typeface="Aptos" pitchFamily="34" charset="0"/>
                <a:ea typeface="Aptos" pitchFamily="34" charset="-122"/>
                <a:cs typeface="Aptos" pitchFamily="34" charset="-120"/>
              </a:rPr>
              <a:t>argmax at eval</a:t>
            </a:r>
            <a:endParaRPr lang="en-US" sz="920" dirty="0"/>
          </a:p>
        </p:txBody>
      </p:sp>
      <p:sp>
        <p:nvSpPr>
          <p:cNvPr id="22" name="Shape 20"/>
          <p:cNvSpPr/>
          <p:nvPr/>
        </p:nvSpPr>
        <p:spPr>
          <a:xfrm>
            <a:off x="8275320" y="4041648"/>
            <a:ext cx="182880" cy="0"/>
          </a:xfrm>
          <a:prstGeom prst="line">
            <a:avLst/>
          </a:prstGeom>
          <a:noFill/>
          <a:ln w="16510">
            <a:solidFill>
              <a:srgbClr val="64748B"/>
            </a:solidFill>
            <a:prstDash val="solid"/>
            <a:headEnd type="none"/>
            <a:tailEnd type="triangle"/>
          </a:ln>
        </p:spPr>
      </p:sp>
      <p:sp>
        <p:nvSpPr>
          <p:cNvPr id="23" name="Text 21"/>
          <p:cNvSpPr/>
          <p:nvPr/>
        </p:nvSpPr>
        <p:spPr>
          <a:xfrm>
            <a:off x="10058400" y="3246120"/>
            <a:ext cx="1417320" cy="347472"/>
          </a:xfrm>
          <a:prstGeom prst="rect">
            <a:avLst/>
          </a:prstGeom>
          <a:solidFill>
            <a:srgbClr val="EFF6FF"/>
          </a:solidFill>
          <a:ln w="12700">
            <a:solidFill>
              <a:srgbClr val="BFDBFE"/>
            </a:solidFill>
          </a:ln>
        </p:spPr>
        <p:txBody>
          <a:bodyPr wrap="square" lIns="1016" tIns="1016" rIns="1016" bIns="1016" rtlCol="0" anchor="ctr">
            <a:normAutofit/>
          </a:bodyPr>
          <a:lstStyle/>
          <a:p>
            <a:pPr algn="ctr" indent="0" marL="0">
              <a:buNone/>
            </a:pPr>
            <a:r>
              <a:rPr lang="en-US" sz="1050" b="1" dirty="0">
                <a:solidFill>
                  <a:srgbClr val="0B132B"/>
                </a:solidFill>
                <a:latin typeface="Aptos" pitchFamily="34" charset="0"/>
                <a:ea typeface="Aptos" pitchFamily="34" charset="-122"/>
                <a:cs typeface="Aptos" pitchFamily="34" charset="-120"/>
              </a:rPr>
              <a:t>two action coords</a:t>
            </a:r>
            <a:endParaRPr lang="en-US" sz="1050" dirty="0"/>
          </a:p>
        </p:txBody>
      </p:sp>
      <p:sp>
        <p:nvSpPr>
          <p:cNvPr id="24" name="Text 22"/>
          <p:cNvSpPr/>
          <p:nvPr/>
        </p:nvSpPr>
        <p:spPr>
          <a:xfrm>
            <a:off x="10058400" y="3813048"/>
            <a:ext cx="1097280" cy="45720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80" dirty="0">
                <a:solidFill>
                  <a:srgbClr val="0B132B"/>
                </a:solidFill>
                <a:latin typeface="Aptos" pitchFamily="34" charset="0"/>
                <a:ea typeface="Aptos" pitchFamily="34" charset="-122"/>
                <a:cs typeface="Aptos" pitchFamily="34" charset="-120"/>
              </a:rPr>
              <a:t>u: accel/brake</a:t>
            </a:r>
            <a:endParaRPr lang="en-US" sz="880" dirty="0"/>
          </a:p>
          <a:p>
            <a:pPr algn="ctr" indent="0" marL="0">
              <a:buNone/>
            </a:pPr>
            <a:r>
              <a:rPr lang="en-US" sz="880" dirty="0">
                <a:solidFill>
                  <a:srgbClr val="0B132B"/>
                </a:solidFill>
                <a:latin typeface="Aptos" pitchFamily="34" charset="0"/>
                <a:ea typeface="Aptos" pitchFamily="34" charset="-122"/>
                <a:cs typeface="Aptos" pitchFamily="34" charset="-120"/>
              </a:rPr>
              <a:t>active</a:t>
            </a:r>
            <a:endParaRPr lang="en-US" sz="880" dirty="0"/>
          </a:p>
        </p:txBody>
      </p:sp>
      <p:sp>
        <p:nvSpPr>
          <p:cNvPr id="25" name="Text 23"/>
          <p:cNvSpPr/>
          <p:nvPr/>
        </p:nvSpPr>
        <p:spPr>
          <a:xfrm>
            <a:off x="11247120" y="3813048"/>
            <a:ext cx="914400" cy="457200"/>
          </a:xfrm>
          <a:prstGeom prst="rect">
            <a:avLst/>
          </a:prstGeom>
          <a:solidFill>
            <a:srgbClr val="FEF2F2"/>
          </a:solidFill>
          <a:ln w="12700">
            <a:solidFill>
              <a:srgbClr val="FECACA"/>
            </a:solidFill>
          </a:ln>
        </p:spPr>
        <p:txBody>
          <a:bodyPr wrap="square" lIns="1016" tIns="1016" rIns="1016" bIns="1016" rtlCol="0" anchor="ctr">
            <a:normAutofit/>
          </a:bodyPr>
          <a:lstStyle/>
          <a:p>
            <a:pPr algn="ctr" indent="0" marL="0">
              <a:buNone/>
            </a:pPr>
            <a:r>
              <a:rPr lang="en-US" sz="880" b="1" dirty="0">
                <a:solidFill>
                  <a:srgbClr val="DC2626"/>
                </a:solidFill>
                <a:latin typeface="Aptos" pitchFamily="34" charset="0"/>
                <a:ea typeface="Aptos" pitchFamily="34" charset="-122"/>
                <a:cs typeface="Aptos" pitchFamily="34" charset="-120"/>
              </a:rPr>
              <a:t>δ: steering</a:t>
            </a:r>
            <a:endParaRPr lang="en-US" sz="880" dirty="0"/>
          </a:p>
          <a:p>
            <a:pPr algn="ctr" indent="0" marL="0">
              <a:buNone/>
            </a:pPr>
            <a:r>
              <a:rPr lang="en-US" sz="880" b="1" dirty="0">
                <a:solidFill>
                  <a:srgbClr val="DC2626"/>
                </a:solidFill>
                <a:latin typeface="Aptos" pitchFamily="34" charset="0"/>
                <a:ea typeface="Aptos" pitchFamily="34" charset="-122"/>
                <a:cs typeface="Aptos" pitchFamily="34" charset="-120"/>
              </a:rPr>
              <a:t>inert in V5</a:t>
            </a:r>
            <a:endParaRPr lang="en-US" sz="880" dirty="0"/>
          </a:p>
        </p:txBody>
      </p:sp>
      <p:sp>
        <p:nvSpPr>
          <p:cNvPr id="26" name="Text 24"/>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Do not claim V5 learned steering, lane changing, or free-form lateral control.</a:t>
            </a:r>
            <a:endParaRPr lang="en-US" sz="7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DYNAMICS</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Jerk-limited kinodynamic dynamics</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15</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Simple kinematics made stopping labels too optimistic; jerk limits changed what was physically feasible.</a:t>
            </a:r>
            <a:endParaRPr lang="en-US" sz="1230" dirty="0"/>
          </a:p>
        </p:txBody>
      </p:sp>
      <p:sp>
        <p:nvSpPr>
          <p:cNvPr id="7" name="Text 5"/>
          <p:cNvSpPr/>
          <p:nvPr/>
        </p:nvSpPr>
        <p:spPr>
          <a:xfrm>
            <a:off x="594360" y="1325880"/>
            <a:ext cx="5394960" cy="4389120"/>
          </a:xfrm>
          <a:prstGeom prst="rect">
            <a:avLst/>
          </a:prstGeom>
          <a:noFill/>
          <a:ln/>
        </p:spPr>
        <p:txBody>
          <a:bodyPr wrap="square" lIns="1016" tIns="1016" rIns="1016" bIns="1016" rtlCol="0" anchor="t">
            <a:normAutofit/>
          </a:bodyPr>
          <a:lstStyle/>
          <a:p>
            <a:pPr indent="0" marL="0">
              <a:buNone/>
            </a:pPr>
            <a:r>
              <a:rPr lang="en-US" sz="1440" dirty="0">
                <a:solidFill>
                  <a:srgbClr val="0B132B"/>
                </a:solidFill>
                <a:latin typeface="Aptos" pitchFamily="34" charset="0"/>
                <a:ea typeface="Aptos" pitchFamily="34" charset="-122"/>
                <a:cs typeface="Aptos" pitchFamily="34" charset="-120"/>
              </a:rPr>
              <a:t>• [IMPLEMENTED_AND_TESTED] Early kinematic model applied requested acceleration instantly.</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[PRODUCTION] `jerk_limited_v1`: dt = 0.2 s; a_max = 2.5 m/s²; comfortable braking = 4.0 m/s².</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[PRODUCTION] Acceleration change is limited by +3.0 m/s³ when increasing and 6.0 m/s³ when braking/decreasing.</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[IMPLEMENTED_AND_TESTED] Example: 2.0 m instant stop estimate vs 5.125 m actuator-aware distance.</a:t>
            </a:r>
            <a:endParaRPr lang="en-US" sz="1440" dirty="0"/>
          </a:p>
        </p:txBody>
      </p:sp>
      <p:sp>
        <p:nvSpPr>
          <p:cNvPr id="8" name="Text 6"/>
          <p:cNvSpPr/>
          <p:nvPr/>
        </p:nvSpPr>
        <p:spPr>
          <a:xfrm>
            <a:off x="6080760" y="1371600"/>
            <a:ext cx="1325880" cy="4114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b="1" dirty="0">
                <a:solidFill>
                  <a:srgbClr val="0B132B"/>
                </a:solidFill>
                <a:latin typeface="Aptos" pitchFamily="34" charset="0"/>
                <a:ea typeface="Aptos" pitchFamily="34" charset="-122"/>
                <a:cs typeface="Aptos" pitchFamily="34" charset="-120"/>
              </a:rPr>
              <a:t>action u ∈ [-1,1]</a:t>
            </a:r>
            <a:endParaRPr lang="en-US" sz="1000" dirty="0"/>
          </a:p>
        </p:txBody>
      </p:sp>
      <p:sp>
        <p:nvSpPr>
          <p:cNvPr id="9" name="Shape 7"/>
          <p:cNvSpPr/>
          <p:nvPr/>
        </p:nvSpPr>
        <p:spPr>
          <a:xfrm>
            <a:off x="7452360" y="1581912"/>
            <a:ext cx="457200" cy="0"/>
          </a:xfrm>
          <a:prstGeom prst="line">
            <a:avLst/>
          </a:prstGeom>
          <a:noFill/>
          <a:ln w="16510">
            <a:solidFill>
              <a:srgbClr val="64748B"/>
            </a:solidFill>
            <a:prstDash val="solid"/>
            <a:headEnd type="none"/>
            <a:tailEnd type="triangle"/>
          </a:ln>
        </p:spPr>
      </p:sp>
      <p:sp>
        <p:nvSpPr>
          <p:cNvPr id="10" name="Text 8"/>
          <p:cNvSpPr/>
          <p:nvPr/>
        </p:nvSpPr>
        <p:spPr>
          <a:xfrm>
            <a:off x="7955280" y="1325880"/>
            <a:ext cx="1417320" cy="5029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50" dirty="0">
                <a:solidFill>
                  <a:srgbClr val="0B132B"/>
                </a:solidFill>
                <a:latin typeface="Aptos" pitchFamily="34" charset="0"/>
                <a:ea typeface="Aptos" pitchFamily="34" charset="-122"/>
                <a:cs typeface="Aptos" pitchFamily="34" charset="-120"/>
              </a:rPr>
              <a:t>scale request</a:t>
            </a:r>
            <a:endParaRPr lang="en-US" sz="950" dirty="0"/>
          </a:p>
          <a:p>
            <a:pPr algn="ctr" indent="0" marL="0">
              <a:buNone/>
            </a:pPr>
            <a:r>
              <a:rPr lang="en-US" sz="950" dirty="0">
                <a:solidFill>
                  <a:srgbClr val="0B132B"/>
                </a:solidFill>
                <a:latin typeface="Aptos" pitchFamily="34" charset="0"/>
                <a:ea typeface="Aptos" pitchFamily="34" charset="-122"/>
                <a:cs typeface="Aptos" pitchFamily="34" charset="-120"/>
              </a:rPr>
              <a:t>+2.5u / 4.0u</a:t>
            </a:r>
            <a:endParaRPr lang="en-US" sz="950" dirty="0"/>
          </a:p>
        </p:txBody>
      </p:sp>
      <p:sp>
        <p:nvSpPr>
          <p:cNvPr id="11" name="Shape 9"/>
          <p:cNvSpPr/>
          <p:nvPr/>
        </p:nvSpPr>
        <p:spPr>
          <a:xfrm>
            <a:off x="9418320" y="1581912"/>
            <a:ext cx="411480" cy="0"/>
          </a:xfrm>
          <a:prstGeom prst="line">
            <a:avLst/>
          </a:prstGeom>
          <a:noFill/>
          <a:ln w="16510">
            <a:solidFill>
              <a:srgbClr val="64748B"/>
            </a:solidFill>
            <a:prstDash val="solid"/>
            <a:headEnd type="none"/>
            <a:tailEnd type="triangle"/>
          </a:ln>
        </p:spPr>
      </p:sp>
      <p:sp>
        <p:nvSpPr>
          <p:cNvPr id="12" name="Text 10"/>
          <p:cNvSpPr/>
          <p:nvPr/>
        </p:nvSpPr>
        <p:spPr>
          <a:xfrm>
            <a:off x="9875520" y="1325880"/>
            <a:ext cx="1325880" cy="50292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jerk clip</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Δa ≤ JΔt</a:t>
            </a:r>
            <a:endParaRPr lang="en-US" sz="950" dirty="0"/>
          </a:p>
        </p:txBody>
      </p:sp>
      <p:sp>
        <p:nvSpPr>
          <p:cNvPr id="13" name="Shape 11"/>
          <p:cNvSpPr/>
          <p:nvPr/>
        </p:nvSpPr>
        <p:spPr>
          <a:xfrm>
            <a:off x="11247120" y="1581912"/>
            <a:ext cx="228600" cy="0"/>
          </a:xfrm>
          <a:prstGeom prst="line">
            <a:avLst/>
          </a:prstGeom>
          <a:noFill/>
          <a:ln w="16510">
            <a:solidFill>
              <a:srgbClr val="64748B"/>
            </a:solidFill>
            <a:prstDash val="solid"/>
            <a:headEnd type="none"/>
            <a:tailEnd type="triangle"/>
          </a:ln>
        </p:spPr>
      </p:sp>
      <p:sp>
        <p:nvSpPr>
          <p:cNvPr id="14" name="Text 12"/>
          <p:cNvSpPr/>
          <p:nvPr/>
        </p:nvSpPr>
        <p:spPr>
          <a:xfrm>
            <a:off x="11494008" y="1325880"/>
            <a:ext cx="621792" cy="5029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50" dirty="0">
                <a:solidFill>
                  <a:srgbClr val="0B132B"/>
                </a:solidFill>
                <a:latin typeface="Aptos" pitchFamily="34" charset="0"/>
                <a:ea typeface="Aptos" pitchFamily="34" charset="-122"/>
                <a:cs typeface="Aptos" pitchFamily="34" charset="-120"/>
              </a:rPr>
              <a:t>integrate</a:t>
            </a:r>
            <a:endParaRPr lang="en-US" sz="950" dirty="0"/>
          </a:p>
          <a:p>
            <a:pPr algn="ctr" indent="0" marL="0">
              <a:buNone/>
            </a:pPr>
            <a:r>
              <a:rPr lang="en-US" sz="950" dirty="0">
                <a:solidFill>
                  <a:srgbClr val="0B132B"/>
                </a:solidFill>
                <a:latin typeface="Aptos" pitchFamily="34" charset="0"/>
                <a:ea typeface="Aptos" pitchFamily="34" charset="-122"/>
                <a:cs typeface="Aptos" pitchFamily="34" charset="-120"/>
              </a:rPr>
              <a:t>v, s</a:t>
            </a:r>
            <a:endParaRPr lang="en-US" sz="950" dirty="0"/>
          </a:p>
        </p:txBody>
      </p:sp>
      <p:sp>
        <p:nvSpPr>
          <p:cNvPr id="15" name="Text 13"/>
          <p:cNvSpPr/>
          <p:nvPr/>
        </p:nvSpPr>
        <p:spPr>
          <a:xfrm>
            <a:off x="6309360" y="2286000"/>
            <a:ext cx="5440680" cy="914400"/>
          </a:xfrm>
          <a:prstGeom prst="rect">
            <a:avLst/>
          </a:prstGeom>
          <a:solidFill>
            <a:srgbClr val="F8FAFC"/>
          </a:solidFill>
          <a:ln w="12700">
            <a:solidFill>
              <a:srgbClr val="E2E8F0"/>
            </a:solidFill>
          </a:ln>
        </p:spPr>
        <p:txBody>
          <a:bodyPr wrap="square" lIns="1016" tIns="1016" rIns="1016" bIns="1016" rtlCol="0" anchor="ctr">
            <a:normAutofit/>
          </a:bodyPr>
          <a:lstStyle/>
          <a:p>
            <a:pPr algn="l" indent="0" marL="0">
              <a:buNone/>
            </a:pPr>
            <a:r>
              <a:rPr lang="en-US" sz="1220" dirty="0">
                <a:solidFill>
                  <a:srgbClr val="0B132B"/>
                </a:solidFill>
                <a:latin typeface="Aptos" pitchFamily="34" charset="0"/>
                <a:ea typeface="Aptos" pitchFamily="34" charset="-122"/>
                <a:cs typeface="Aptos" pitchFamily="34" charset="-120"/>
              </a:rPr>
              <a:t>a_{t+1}=a_t+clip(a_req−a_t, ±JΔt)</a:t>
            </a:r>
            <a:endParaRPr lang="en-US" sz="1220" dirty="0"/>
          </a:p>
          <a:p>
            <a:pPr algn="l" indent="0" marL="0">
              <a:buNone/>
            </a:pPr>
            <a:r>
              <a:rPr lang="en-US" sz="1220" dirty="0">
                <a:solidFill>
                  <a:srgbClr val="0B132B"/>
                </a:solidFill>
                <a:latin typeface="Aptos" pitchFamily="34" charset="0"/>
                <a:ea typeface="Aptos" pitchFamily="34" charset="-122"/>
                <a:cs typeface="Aptos" pitchFamily="34" charset="-120"/>
              </a:rPr>
              <a:t>v_{t+1}=clip(v_t+(a_t+a_{t+1})Δt/2, 0, 13.4)</a:t>
            </a:r>
            <a:endParaRPr lang="en-US" sz="1220" dirty="0"/>
          </a:p>
          <a:p>
            <a:pPr algn="l" indent="0" marL="0">
              <a:buNone/>
            </a:pPr>
            <a:r>
              <a:rPr lang="en-US" sz="1220" dirty="0">
                <a:solidFill>
                  <a:srgbClr val="0B132B"/>
                </a:solidFill>
                <a:latin typeface="Aptos" pitchFamily="34" charset="0"/>
                <a:ea typeface="Aptos" pitchFamily="34" charset="-122"/>
                <a:cs typeface="Aptos" pitchFamily="34" charset="-120"/>
              </a:rPr>
              <a:t>s_{t+1}=s_t+(v_t+v_{t+1})Δt/2</a:t>
            </a:r>
            <a:endParaRPr lang="en-US" sz="1220" dirty="0"/>
          </a:p>
        </p:txBody>
      </p:sp>
      <p:sp>
        <p:nvSpPr>
          <p:cNvPr id="16" name="Shape 14"/>
          <p:cNvSpPr/>
          <p:nvPr/>
        </p:nvSpPr>
        <p:spPr>
          <a:xfrm>
            <a:off x="6903720" y="4023360"/>
            <a:ext cx="4206240" cy="0"/>
          </a:xfrm>
          <a:prstGeom prst="line">
            <a:avLst/>
          </a:prstGeom>
          <a:noFill/>
          <a:ln w="15240">
            <a:solidFill>
              <a:srgbClr val="64748B"/>
            </a:solidFill>
            <a:prstDash val="solid"/>
            <a:headEnd type="none"/>
            <a:tailEnd type="triangle"/>
          </a:ln>
        </p:spPr>
      </p:sp>
      <p:sp>
        <p:nvSpPr>
          <p:cNvPr id="17" name="Shape 15"/>
          <p:cNvSpPr/>
          <p:nvPr/>
        </p:nvSpPr>
        <p:spPr>
          <a:xfrm>
            <a:off x="8321040" y="3794760"/>
            <a:ext cx="0" cy="457200"/>
          </a:xfrm>
          <a:prstGeom prst="line">
            <a:avLst/>
          </a:prstGeom>
          <a:noFill/>
          <a:ln w="25400">
            <a:solidFill>
              <a:srgbClr val="1D4ED8"/>
            </a:solidFill>
            <a:prstDash val="solid"/>
          </a:ln>
        </p:spPr>
      </p:sp>
      <p:sp>
        <p:nvSpPr>
          <p:cNvPr id="18" name="Shape 16"/>
          <p:cNvSpPr/>
          <p:nvPr/>
        </p:nvSpPr>
        <p:spPr>
          <a:xfrm>
            <a:off x="10515600" y="3794760"/>
            <a:ext cx="0" cy="457200"/>
          </a:xfrm>
          <a:prstGeom prst="line">
            <a:avLst/>
          </a:prstGeom>
          <a:noFill/>
          <a:ln w="25400">
            <a:solidFill>
              <a:srgbClr val="DC2626"/>
            </a:solidFill>
            <a:prstDash val="solid"/>
          </a:ln>
        </p:spPr>
      </p:sp>
      <p:sp>
        <p:nvSpPr>
          <p:cNvPr id="19" name="Text 17"/>
          <p:cNvSpPr/>
          <p:nvPr/>
        </p:nvSpPr>
        <p:spPr>
          <a:xfrm>
            <a:off x="8001000" y="4270248"/>
            <a:ext cx="777240" cy="347472"/>
          </a:xfrm>
          <a:prstGeom prst="rect">
            <a:avLst/>
          </a:prstGeom>
          <a:noFill/>
          <a:ln/>
        </p:spPr>
        <p:txBody>
          <a:bodyPr wrap="square" lIns="127" tIns="127" rIns="127" bIns="127" rtlCol="0" anchor="ctr"/>
          <a:lstStyle/>
          <a:p>
            <a:pPr algn="ctr" indent="0" marL="0">
              <a:buNone/>
            </a:pPr>
            <a:r>
              <a:rPr lang="en-US" sz="820" dirty="0">
                <a:solidFill>
                  <a:srgbClr val="1D4ED8"/>
                </a:solidFill>
              </a:rPr>
              <a:t>instant</a:t>
            </a:r>
            <a:endParaRPr lang="en-US" sz="820" dirty="0"/>
          </a:p>
          <a:p>
            <a:pPr algn="ctr" indent="0" marL="0">
              <a:buNone/>
            </a:pPr>
            <a:r>
              <a:rPr lang="en-US" sz="820" dirty="0">
                <a:solidFill>
                  <a:srgbClr val="1D4ED8"/>
                </a:solidFill>
              </a:rPr>
              <a:t>2.0 m</a:t>
            </a:r>
            <a:endParaRPr lang="en-US" sz="820" dirty="0"/>
          </a:p>
        </p:txBody>
      </p:sp>
      <p:sp>
        <p:nvSpPr>
          <p:cNvPr id="20" name="Text 18"/>
          <p:cNvSpPr/>
          <p:nvPr/>
        </p:nvSpPr>
        <p:spPr>
          <a:xfrm>
            <a:off x="10149840" y="4270248"/>
            <a:ext cx="960120" cy="347472"/>
          </a:xfrm>
          <a:prstGeom prst="rect">
            <a:avLst/>
          </a:prstGeom>
          <a:noFill/>
          <a:ln/>
        </p:spPr>
        <p:txBody>
          <a:bodyPr wrap="square" lIns="127" tIns="127" rIns="127" bIns="127" rtlCol="0" anchor="ctr"/>
          <a:lstStyle/>
          <a:p>
            <a:pPr algn="ctr" indent="0" marL="0">
              <a:buNone/>
            </a:pPr>
            <a:r>
              <a:rPr lang="en-US" sz="820" dirty="0">
                <a:solidFill>
                  <a:srgbClr val="DC2626"/>
                </a:solidFill>
              </a:rPr>
              <a:t>jerk-aware</a:t>
            </a:r>
            <a:endParaRPr lang="en-US" sz="820" dirty="0"/>
          </a:p>
          <a:p>
            <a:pPr algn="ctr" indent="0" marL="0">
              <a:buNone/>
            </a:pPr>
            <a:r>
              <a:rPr lang="en-US" sz="820" dirty="0">
                <a:solidFill>
                  <a:srgbClr val="DC2626"/>
                </a:solidFill>
              </a:rPr>
              <a:t>5.125 m</a:t>
            </a:r>
            <a:endParaRPr lang="en-US" sz="820" dirty="0"/>
          </a:p>
        </p:txBody>
      </p:sp>
      <p:sp>
        <p:nvSpPr>
          <p:cNvPr id="21" name="Text 19"/>
          <p:cNvSpPr/>
          <p:nvPr/>
        </p:nvSpPr>
        <p:spPr>
          <a:xfrm>
            <a:off x="6903720" y="4709160"/>
            <a:ext cx="4389120" cy="201168"/>
          </a:xfrm>
          <a:prstGeom prst="rect">
            <a:avLst/>
          </a:prstGeom>
          <a:noFill/>
          <a:ln/>
        </p:spPr>
        <p:txBody>
          <a:bodyPr wrap="square" lIns="0" tIns="0" rIns="0" bIns="0" rtlCol="0" anchor="ctr"/>
          <a:lstStyle/>
          <a:p>
            <a:pPr algn="ctr" indent="0" marL="0">
              <a:buNone/>
            </a:pPr>
            <a:r>
              <a:rPr lang="en-US" sz="840" dirty="0">
                <a:solidFill>
                  <a:srgbClr val="475569"/>
                </a:solidFill>
              </a:rPr>
              <a:t>v=4 m/s, a=+2 m/s², brake=4 m/s², J=6 m/s³</a:t>
            </a:r>
            <a:endParaRPr lang="en-US" sz="840" dirty="0"/>
          </a:p>
        </p:txBody>
      </p:sp>
      <p:sp>
        <p:nvSpPr>
          <p:cNvPr id="22" name="Text 20"/>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This is longitudinal kinodynamics, not full 6-DoF vehicle dynamics.</a:t>
            </a:r>
            <a:endParaRPr lang="en-US" sz="7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PEDESTRIAN MODELING</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Pedestrian modeling: conservative default to predictive candidates</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16</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More selective pedestrian prediction improved targeted cases but did not clear production gates.</a:t>
            </a:r>
            <a:endParaRPr lang="en-US" sz="1230" dirty="0"/>
          </a:p>
        </p:txBody>
      </p:sp>
      <p:sp>
        <p:nvSpPr>
          <p:cNvPr id="7" name="Text 5"/>
          <p:cNvSpPr/>
          <p:nvPr/>
        </p:nvSpPr>
        <p:spPr>
          <a:xfrm>
            <a:off x="594360" y="1325880"/>
            <a:ext cx="5394960" cy="4389120"/>
          </a:xfrm>
          <a:prstGeom prst="rect">
            <a:avLst/>
          </a:prstGeom>
          <a:noFill/>
          <a:ln/>
        </p:spPr>
        <p:txBody>
          <a:bodyPr wrap="square" lIns="1016" tIns="1016" rIns="1016" bIns="1016" rtlCol="0" anchor="t">
            <a:normAutofit/>
          </a:bodyPr>
          <a:lstStyle/>
          <a:p>
            <a:pPr indent="0" marL="0">
              <a:buNone/>
            </a:pPr>
            <a:r>
              <a:rPr lang="en-US" sz="1440" dirty="0">
                <a:solidFill>
                  <a:srgbClr val="0B132B"/>
                </a:solidFill>
                <a:latin typeface="Aptos" pitchFamily="34" charset="0"/>
                <a:ea typeface="Aptos" pitchFamily="34" charset="-122"/>
                <a:cs typeface="Aptos" pitchFamily="34" charset="-120"/>
              </a:rPr>
              <a:t>• [PRODUCTION] `crosswalk_wide_v1` remains the conservative production default.</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[REJECTED_CANDIDATE] V1 route-corridor prediction passed original checks but failed unused dense/stress holdouts.</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[REJECTED_CANDIDATE] V2 waiting-pedestrian activation fixed two late-clear traces but failed strict paired criteria.</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[TRAINING_ONLY] V2.1 imminent-WALK branch corrected seed 66827 but was not production-promoted.</a:t>
            </a:r>
            <a:endParaRPr lang="en-US" sz="1440" dirty="0"/>
          </a:p>
        </p:txBody>
      </p:sp>
      <p:sp>
        <p:nvSpPr>
          <p:cNvPr id="8" name="Text 6"/>
          <p:cNvSpPr/>
          <p:nvPr/>
        </p:nvSpPr>
        <p:spPr>
          <a:xfrm>
            <a:off x="6400800" y="1143000"/>
            <a:ext cx="1051560" cy="365760"/>
          </a:xfrm>
          <a:prstGeom prst="rect">
            <a:avLst/>
          </a:prstGeom>
          <a:solidFill>
            <a:srgbClr val="102A43"/>
          </a:solidFill>
          <a:ln w="12700">
            <a:solidFill>
              <a:srgbClr val="102A43"/>
            </a:solidFill>
          </a:ln>
        </p:spPr>
        <p:txBody>
          <a:bodyPr wrap="square" lIns="1016" tIns="1016" rIns="1016" bIns="1016" rtlCol="0" anchor="ctr">
            <a:normAutofit/>
          </a:bodyPr>
          <a:lstStyle/>
          <a:p>
            <a:pPr algn="ctr" indent="0" marL="0">
              <a:buNone/>
            </a:pPr>
            <a:r>
              <a:rPr lang="en-US" sz="870" b="1" dirty="0">
                <a:solidFill>
                  <a:srgbClr val="FFFFFF"/>
                </a:solidFill>
                <a:latin typeface="Aptos" pitchFamily="34" charset="0"/>
                <a:ea typeface="Aptos" pitchFamily="34" charset="-122"/>
                <a:cs typeface="Aptos" pitchFamily="34" charset="-120"/>
              </a:rPr>
              <a:t>crosswalk-wide</a:t>
            </a:r>
            <a:endParaRPr lang="en-US" sz="870" dirty="0"/>
          </a:p>
        </p:txBody>
      </p:sp>
      <p:sp>
        <p:nvSpPr>
          <p:cNvPr id="9" name="Shape 7"/>
          <p:cNvSpPr/>
          <p:nvPr/>
        </p:nvSpPr>
        <p:spPr>
          <a:xfrm>
            <a:off x="6583680" y="1947672"/>
            <a:ext cx="685800" cy="0"/>
          </a:xfrm>
          <a:prstGeom prst="line">
            <a:avLst/>
          </a:prstGeom>
          <a:noFill/>
          <a:ln w="127000">
            <a:solidFill>
              <a:srgbClr val="CBD5E1"/>
            </a:solidFill>
            <a:prstDash val="solid"/>
          </a:ln>
        </p:spPr>
      </p:sp>
      <p:sp>
        <p:nvSpPr>
          <p:cNvPr id="10" name="Text 8"/>
          <p:cNvSpPr/>
          <p:nvPr/>
        </p:nvSpPr>
        <p:spPr>
          <a:xfrm>
            <a:off x="6903720" y="1856232"/>
            <a:ext cx="109728" cy="109728"/>
          </a:xfrm>
          <a:prstGeom prst="rect">
            <a:avLst/>
          </a:prstGeom>
          <a:solidFill>
            <a:srgbClr val="DC2626"/>
          </a:solidFill>
          <a:ln>
            <a:solidFill>
              <a:srgbClr val="DC2626">
                <a:alpha val="0"/>
              </a:srgbClr>
            </a:solidFill>
          </a:ln>
        </p:spPr>
        <p:txBody>
          <a:bodyPr wrap="square" rtlCol="0" anchor="ctr"/>
          <a:lstStyle/>
          <a:p>
            <a:pPr indent="0" marL="0">
              <a:buNone/>
            </a:pPr>
            <a:endParaRPr lang="en-US" dirty="0"/>
          </a:p>
        </p:txBody>
      </p:sp>
      <p:sp>
        <p:nvSpPr>
          <p:cNvPr id="11" name="Text 9"/>
          <p:cNvSpPr/>
          <p:nvPr/>
        </p:nvSpPr>
        <p:spPr>
          <a:xfrm>
            <a:off x="6400800" y="2286000"/>
            <a:ext cx="1051560" cy="5029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740" dirty="0">
                <a:solidFill>
                  <a:srgbClr val="0B132B"/>
                </a:solidFill>
                <a:latin typeface="Aptos" pitchFamily="34" charset="0"/>
                <a:ea typeface="Aptos" pitchFamily="34" charset="-122"/>
                <a:cs typeface="Aptos" pitchFamily="34" charset="-120"/>
              </a:rPr>
              <a:t>blocks broad</a:t>
            </a:r>
            <a:endParaRPr lang="en-US" sz="740" dirty="0"/>
          </a:p>
          <a:p>
            <a:pPr algn="ctr" indent="0" marL="0">
              <a:buNone/>
            </a:pPr>
            <a:r>
              <a:rPr lang="en-US" sz="740" dirty="0">
                <a:solidFill>
                  <a:srgbClr val="0B132B"/>
                </a:solidFill>
                <a:latin typeface="Aptos" pitchFamily="34" charset="0"/>
                <a:ea typeface="Aptos" pitchFamily="34" charset="-122"/>
                <a:cs typeface="Aptos" pitchFamily="34" charset="-120"/>
              </a:rPr>
              <a:t>crosswalk</a:t>
            </a:r>
            <a:endParaRPr lang="en-US" sz="740" dirty="0"/>
          </a:p>
        </p:txBody>
      </p:sp>
      <p:sp>
        <p:nvSpPr>
          <p:cNvPr id="12" name="Text 10"/>
          <p:cNvSpPr/>
          <p:nvPr/>
        </p:nvSpPr>
        <p:spPr>
          <a:xfrm>
            <a:off x="6355080" y="2926080"/>
            <a:ext cx="1143000" cy="182880"/>
          </a:xfrm>
          <a:prstGeom prst="rect">
            <a:avLst/>
          </a:prstGeom>
          <a:solidFill>
            <a:srgbClr val="059669"/>
          </a:solidFill>
          <a:ln>
            <a:solidFill>
              <a:srgbClr val="059669">
                <a:alpha val="0"/>
              </a:srgbClr>
            </a:solidFill>
          </a:ln>
        </p:spPr>
        <p:txBody>
          <a:bodyPr wrap="square" lIns="445" tIns="445" rIns="445" bIns="445" rtlCol="0" anchor="ctr"/>
          <a:lstStyle/>
          <a:p>
            <a:pPr algn="ctr" indent="0" marL="0">
              <a:buNone/>
            </a:pPr>
            <a:r>
              <a:rPr lang="en-US" sz="480" b="1" dirty="0">
                <a:solidFill>
                  <a:srgbClr val="FFFFFF"/>
                </a:solidFill>
              </a:rPr>
              <a:t>PRODUCTION</a:t>
            </a:r>
            <a:endParaRPr lang="en-US" sz="480" dirty="0"/>
          </a:p>
        </p:txBody>
      </p:sp>
      <p:sp>
        <p:nvSpPr>
          <p:cNvPr id="13" name="Shape 11"/>
          <p:cNvSpPr/>
          <p:nvPr/>
        </p:nvSpPr>
        <p:spPr>
          <a:xfrm>
            <a:off x="7452360" y="1709928"/>
            <a:ext cx="201168" cy="0"/>
          </a:xfrm>
          <a:prstGeom prst="line">
            <a:avLst/>
          </a:prstGeom>
          <a:noFill/>
          <a:ln w="12700">
            <a:solidFill>
              <a:srgbClr val="64748B"/>
            </a:solidFill>
            <a:prstDash val="solid"/>
            <a:headEnd type="none"/>
            <a:tailEnd type="triangle"/>
          </a:ln>
        </p:spPr>
      </p:sp>
      <p:sp>
        <p:nvSpPr>
          <p:cNvPr id="14" name="Text 12"/>
          <p:cNvSpPr/>
          <p:nvPr/>
        </p:nvSpPr>
        <p:spPr>
          <a:xfrm>
            <a:off x="7726680" y="1143000"/>
            <a:ext cx="1051560" cy="36576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70" b="1" dirty="0">
                <a:solidFill>
                  <a:srgbClr val="0B132B"/>
                </a:solidFill>
                <a:latin typeface="Aptos" pitchFamily="34" charset="0"/>
                <a:ea typeface="Aptos" pitchFamily="34" charset="-122"/>
                <a:cs typeface="Aptos" pitchFamily="34" charset="-120"/>
              </a:rPr>
              <a:t>V1 corridor</a:t>
            </a:r>
            <a:endParaRPr lang="en-US" sz="870" dirty="0"/>
          </a:p>
        </p:txBody>
      </p:sp>
      <p:sp>
        <p:nvSpPr>
          <p:cNvPr id="15" name="Shape 13"/>
          <p:cNvSpPr/>
          <p:nvPr/>
        </p:nvSpPr>
        <p:spPr>
          <a:xfrm>
            <a:off x="7909560" y="1947672"/>
            <a:ext cx="685800" cy="0"/>
          </a:xfrm>
          <a:prstGeom prst="line">
            <a:avLst/>
          </a:prstGeom>
          <a:noFill/>
          <a:ln w="127000">
            <a:solidFill>
              <a:srgbClr val="CBD5E1"/>
            </a:solidFill>
            <a:prstDash val="solid"/>
          </a:ln>
        </p:spPr>
      </p:sp>
      <p:sp>
        <p:nvSpPr>
          <p:cNvPr id="16" name="Text 14"/>
          <p:cNvSpPr/>
          <p:nvPr/>
        </p:nvSpPr>
        <p:spPr>
          <a:xfrm>
            <a:off x="8229600" y="1856232"/>
            <a:ext cx="109728" cy="109728"/>
          </a:xfrm>
          <a:prstGeom prst="rect">
            <a:avLst/>
          </a:prstGeom>
          <a:solidFill>
            <a:srgbClr val="DC2626"/>
          </a:solidFill>
          <a:ln>
            <a:solidFill>
              <a:srgbClr val="DC2626">
                <a:alpha val="0"/>
              </a:srgbClr>
            </a:solidFill>
          </a:ln>
        </p:spPr>
        <p:txBody>
          <a:bodyPr wrap="square" rtlCol="0" anchor="ctr"/>
          <a:lstStyle/>
          <a:p>
            <a:pPr indent="0" marL="0">
              <a:buNone/>
            </a:pPr>
            <a:endParaRPr lang="en-US" dirty="0"/>
          </a:p>
        </p:txBody>
      </p:sp>
      <p:sp>
        <p:nvSpPr>
          <p:cNvPr id="17" name="Shape 15"/>
          <p:cNvSpPr/>
          <p:nvPr/>
        </p:nvSpPr>
        <p:spPr>
          <a:xfrm>
            <a:off x="7955280" y="1947672"/>
            <a:ext cx="502920" cy="0"/>
          </a:xfrm>
          <a:prstGeom prst="line">
            <a:avLst/>
          </a:prstGeom>
          <a:noFill/>
          <a:ln w="25400">
            <a:solidFill>
              <a:srgbClr val="1D4ED8"/>
            </a:solidFill>
            <a:prstDash val="solid"/>
          </a:ln>
        </p:spPr>
      </p:sp>
      <p:sp>
        <p:nvSpPr>
          <p:cNvPr id="18" name="Text 16"/>
          <p:cNvSpPr/>
          <p:nvPr/>
        </p:nvSpPr>
        <p:spPr>
          <a:xfrm>
            <a:off x="7726680" y="2286000"/>
            <a:ext cx="1051560" cy="5029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740" dirty="0">
                <a:solidFill>
                  <a:srgbClr val="0B132B"/>
                </a:solidFill>
                <a:latin typeface="Aptos" pitchFamily="34" charset="0"/>
                <a:ea typeface="Aptos" pitchFamily="34" charset="-122"/>
                <a:cs typeface="Aptos" pitchFamily="34" charset="-120"/>
              </a:rPr>
              <a:t>route swept</a:t>
            </a:r>
            <a:endParaRPr lang="en-US" sz="740" dirty="0"/>
          </a:p>
          <a:p>
            <a:pPr algn="ctr" indent="0" marL="0">
              <a:buNone/>
            </a:pPr>
            <a:r>
              <a:rPr lang="en-US" sz="740" dirty="0">
                <a:solidFill>
                  <a:srgbClr val="0B132B"/>
                </a:solidFill>
                <a:latin typeface="Aptos" pitchFamily="34" charset="0"/>
                <a:ea typeface="Aptos" pitchFamily="34" charset="-122"/>
                <a:cs typeface="Aptos" pitchFamily="34" charset="-120"/>
              </a:rPr>
              <a:t>occupancy</a:t>
            </a:r>
            <a:endParaRPr lang="en-US" sz="740" dirty="0"/>
          </a:p>
        </p:txBody>
      </p:sp>
      <p:sp>
        <p:nvSpPr>
          <p:cNvPr id="19" name="Text 17"/>
          <p:cNvSpPr/>
          <p:nvPr/>
        </p:nvSpPr>
        <p:spPr>
          <a:xfrm>
            <a:off x="7680960" y="2926080"/>
            <a:ext cx="114300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480" b="1" dirty="0">
                <a:solidFill>
                  <a:srgbClr val="FFFFFF"/>
                </a:solidFill>
              </a:rPr>
              <a:t>REJECTED</a:t>
            </a:r>
            <a:endParaRPr lang="en-US" sz="480" dirty="0"/>
          </a:p>
          <a:p>
            <a:pPr algn="ctr" indent="0" marL="0">
              <a:buNone/>
            </a:pPr>
            <a:r>
              <a:rPr lang="en-US" sz="480" b="1" dirty="0">
                <a:solidFill>
                  <a:srgbClr val="FFFFFF"/>
                </a:solidFill>
              </a:rPr>
              <a:t>CANDIDATE</a:t>
            </a:r>
            <a:endParaRPr lang="en-US" sz="480" dirty="0"/>
          </a:p>
        </p:txBody>
      </p:sp>
      <p:sp>
        <p:nvSpPr>
          <p:cNvPr id="20" name="Shape 18"/>
          <p:cNvSpPr/>
          <p:nvPr/>
        </p:nvSpPr>
        <p:spPr>
          <a:xfrm>
            <a:off x="8778240" y="1709928"/>
            <a:ext cx="201168" cy="0"/>
          </a:xfrm>
          <a:prstGeom prst="line">
            <a:avLst/>
          </a:prstGeom>
          <a:noFill/>
          <a:ln w="12700">
            <a:solidFill>
              <a:srgbClr val="64748B"/>
            </a:solidFill>
            <a:prstDash val="solid"/>
            <a:headEnd type="none"/>
            <a:tailEnd type="triangle"/>
          </a:ln>
        </p:spPr>
      </p:sp>
      <p:sp>
        <p:nvSpPr>
          <p:cNvPr id="21" name="Text 19"/>
          <p:cNvSpPr/>
          <p:nvPr/>
        </p:nvSpPr>
        <p:spPr>
          <a:xfrm>
            <a:off x="9052560" y="1143000"/>
            <a:ext cx="1051560" cy="36576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70" b="1" dirty="0">
                <a:solidFill>
                  <a:srgbClr val="0B132B"/>
                </a:solidFill>
                <a:latin typeface="Aptos" pitchFamily="34" charset="0"/>
                <a:ea typeface="Aptos" pitchFamily="34" charset="-122"/>
                <a:cs typeface="Aptos" pitchFamily="34" charset="-120"/>
              </a:rPr>
              <a:t>V2 waiting</a:t>
            </a:r>
            <a:endParaRPr lang="en-US" sz="870" dirty="0"/>
          </a:p>
        </p:txBody>
      </p:sp>
      <p:sp>
        <p:nvSpPr>
          <p:cNvPr id="22" name="Shape 20"/>
          <p:cNvSpPr/>
          <p:nvPr/>
        </p:nvSpPr>
        <p:spPr>
          <a:xfrm>
            <a:off x="9235440" y="1947672"/>
            <a:ext cx="685800" cy="0"/>
          </a:xfrm>
          <a:prstGeom prst="line">
            <a:avLst/>
          </a:prstGeom>
          <a:noFill/>
          <a:ln w="127000">
            <a:solidFill>
              <a:srgbClr val="CBD5E1"/>
            </a:solidFill>
            <a:prstDash val="solid"/>
          </a:ln>
        </p:spPr>
      </p:sp>
      <p:sp>
        <p:nvSpPr>
          <p:cNvPr id="23" name="Text 21"/>
          <p:cNvSpPr/>
          <p:nvPr/>
        </p:nvSpPr>
        <p:spPr>
          <a:xfrm>
            <a:off x="9555480" y="1856232"/>
            <a:ext cx="109728" cy="109728"/>
          </a:xfrm>
          <a:prstGeom prst="rect">
            <a:avLst/>
          </a:prstGeom>
          <a:solidFill>
            <a:srgbClr val="DC2626"/>
          </a:solidFill>
          <a:ln>
            <a:solidFill>
              <a:srgbClr val="DC2626">
                <a:alpha val="0"/>
              </a:srgbClr>
            </a:solidFill>
          </a:ln>
        </p:spPr>
        <p:txBody>
          <a:bodyPr wrap="square" rtlCol="0" anchor="ctr"/>
          <a:lstStyle/>
          <a:p>
            <a:pPr indent="0" marL="0">
              <a:buNone/>
            </a:pPr>
            <a:endParaRPr lang="en-US" dirty="0"/>
          </a:p>
        </p:txBody>
      </p:sp>
      <p:sp>
        <p:nvSpPr>
          <p:cNvPr id="24" name="Shape 22"/>
          <p:cNvSpPr/>
          <p:nvPr/>
        </p:nvSpPr>
        <p:spPr>
          <a:xfrm>
            <a:off x="9281160" y="1947672"/>
            <a:ext cx="502920" cy="0"/>
          </a:xfrm>
          <a:prstGeom prst="line">
            <a:avLst/>
          </a:prstGeom>
          <a:noFill/>
          <a:ln w="25400">
            <a:solidFill>
              <a:srgbClr val="1D4ED8"/>
            </a:solidFill>
            <a:prstDash val="solid"/>
          </a:ln>
        </p:spPr>
      </p:sp>
      <p:sp>
        <p:nvSpPr>
          <p:cNvPr id="25" name="Text 23"/>
          <p:cNvSpPr/>
          <p:nvPr/>
        </p:nvSpPr>
        <p:spPr>
          <a:xfrm>
            <a:off x="9052560" y="2286000"/>
            <a:ext cx="1051560" cy="5029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740" dirty="0">
                <a:solidFill>
                  <a:srgbClr val="0B132B"/>
                </a:solidFill>
                <a:latin typeface="Aptos" pitchFamily="34" charset="0"/>
                <a:ea typeface="Aptos" pitchFamily="34" charset="-122"/>
                <a:cs typeface="Aptos" pitchFamily="34" charset="-120"/>
              </a:rPr>
              <a:t>possible</a:t>
            </a:r>
            <a:endParaRPr lang="en-US" sz="740" dirty="0"/>
          </a:p>
          <a:p>
            <a:pPr algn="ctr" indent="0" marL="0">
              <a:buNone/>
            </a:pPr>
            <a:r>
              <a:rPr lang="en-US" sz="740" dirty="0">
                <a:solidFill>
                  <a:srgbClr val="0B132B"/>
                </a:solidFill>
                <a:latin typeface="Aptos" pitchFamily="34" charset="0"/>
                <a:ea typeface="Aptos" pitchFamily="34" charset="-122"/>
                <a:cs typeface="Aptos" pitchFamily="34" charset="-120"/>
              </a:rPr>
              <a:t>activation</a:t>
            </a:r>
            <a:endParaRPr lang="en-US" sz="740" dirty="0"/>
          </a:p>
        </p:txBody>
      </p:sp>
      <p:sp>
        <p:nvSpPr>
          <p:cNvPr id="26" name="Text 24"/>
          <p:cNvSpPr/>
          <p:nvPr/>
        </p:nvSpPr>
        <p:spPr>
          <a:xfrm>
            <a:off x="9006840" y="2926080"/>
            <a:ext cx="114300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480" b="1" dirty="0">
                <a:solidFill>
                  <a:srgbClr val="FFFFFF"/>
                </a:solidFill>
              </a:rPr>
              <a:t>REJECTED</a:t>
            </a:r>
            <a:endParaRPr lang="en-US" sz="480" dirty="0"/>
          </a:p>
          <a:p>
            <a:pPr algn="ctr" indent="0" marL="0">
              <a:buNone/>
            </a:pPr>
            <a:r>
              <a:rPr lang="en-US" sz="480" b="1" dirty="0">
                <a:solidFill>
                  <a:srgbClr val="FFFFFF"/>
                </a:solidFill>
              </a:rPr>
              <a:t>CANDIDATE</a:t>
            </a:r>
            <a:endParaRPr lang="en-US" sz="480" dirty="0"/>
          </a:p>
        </p:txBody>
      </p:sp>
      <p:sp>
        <p:nvSpPr>
          <p:cNvPr id="27" name="Shape 25"/>
          <p:cNvSpPr/>
          <p:nvPr/>
        </p:nvSpPr>
        <p:spPr>
          <a:xfrm>
            <a:off x="10104120" y="1709928"/>
            <a:ext cx="201168" cy="0"/>
          </a:xfrm>
          <a:prstGeom prst="line">
            <a:avLst/>
          </a:prstGeom>
          <a:noFill/>
          <a:ln w="12700">
            <a:solidFill>
              <a:srgbClr val="64748B"/>
            </a:solidFill>
            <a:prstDash val="solid"/>
            <a:headEnd type="none"/>
            <a:tailEnd type="triangle"/>
          </a:ln>
        </p:spPr>
      </p:sp>
      <p:sp>
        <p:nvSpPr>
          <p:cNvPr id="28" name="Text 26"/>
          <p:cNvSpPr/>
          <p:nvPr/>
        </p:nvSpPr>
        <p:spPr>
          <a:xfrm>
            <a:off x="10378440" y="1143000"/>
            <a:ext cx="1051560" cy="36576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70" b="1" dirty="0">
                <a:solidFill>
                  <a:srgbClr val="0B132B"/>
                </a:solidFill>
                <a:latin typeface="Aptos" pitchFamily="34" charset="0"/>
                <a:ea typeface="Aptos" pitchFamily="34" charset="-122"/>
                <a:cs typeface="Aptos" pitchFamily="34" charset="-120"/>
              </a:rPr>
              <a:t>V2.1 imminent</a:t>
            </a:r>
            <a:endParaRPr lang="en-US" sz="870" dirty="0"/>
          </a:p>
        </p:txBody>
      </p:sp>
      <p:sp>
        <p:nvSpPr>
          <p:cNvPr id="29" name="Shape 27"/>
          <p:cNvSpPr/>
          <p:nvPr/>
        </p:nvSpPr>
        <p:spPr>
          <a:xfrm>
            <a:off x="10561320" y="1947672"/>
            <a:ext cx="685800" cy="0"/>
          </a:xfrm>
          <a:prstGeom prst="line">
            <a:avLst/>
          </a:prstGeom>
          <a:noFill/>
          <a:ln w="127000">
            <a:solidFill>
              <a:srgbClr val="CBD5E1"/>
            </a:solidFill>
            <a:prstDash val="solid"/>
          </a:ln>
        </p:spPr>
      </p:sp>
      <p:sp>
        <p:nvSpPr>
          <p:cNvPr id="30" name="Text 28"/>
          <p:cNvSpPr/>
          <p:nvPr/>
        </p:nvSpPr>
        <p:spPr>
          <a:xfrm>
            <a:off x="10881360" y="1856232"/>
            <a:ext cx="109728" cy="109728"/>
          </a:xfrm>
          <a:prstGeom prst="rect">
            <a:avLst/>
          </a:prstGeom>
          <a:solidFill>
            <a:srgbClr val="DC2626"/>
          </a:solidFill>
          <a:ln>
            <a:solidFill>
              <a:srgbClr val="DC2626">
                <a:alpha val="0"/>
              </a:srgbClr>
            </a:solidFill>
          </a:ln>
        </p:spPr>
        <p:txBody>
          <a:bodyPr wrap="square" rtlCol="0" anchor="ctr"/>
          <a:lstStyle/>
          <a:p>
            <a:pPr indent="0" marL="0">
              <a:buNone/>
            </a:pPr>
            <a:endParaRPr lang="en-US" dirty="0"/>
          </a:p>
        </p:txBody>
      </p:sp>
      <p:sp>
        <p:nvSpPr>
          <p:cNvPr id="31" name="Shape 29"/>
          <p:cNvSpPr/>
          <p:nvPr/>
        </p:nvSpPr>
        <p:spPr>
          <a:xfrm>
            <a:off x="10607040" y="1947672"/>
            <a:ext cx="502920" cy="0"/>
          </a:xfrm>
          <a:prstGeom prst="line">
            <a:avLst/>
          </a:prstGeom>
          <a:noFill/>
          <a:ln w="25400">
            <a:solidFill>
              <a:srgbClr val="1D4ED8"/>
            </a:solidFill>
            <a:prstDash val="solid"/>
          </a:ln>
        </p:spPr>
      </p:sp>
      <p:sp>
        <p:nvSpPr>
          <p:cNvPr id="32" name="Text 30"/>
          <p:cNvSpPr/>
          <p:nvPr/>
        </p:nvSpPr>
        <p:spPr>
          <a:xfrm>
            <a:off x="10378440" y="2286000"/>
            <a:ext cx="1051560" cy="5029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740" dirty="0">
                <a:solidFill>
                  <a:srgbClr val="0B132B"/>
                </a:solidFill>
                <a:latin typeface="Aptos" pitchFamily="34" charset="0"/>
                <a:ea typeface="Aptos" pitchFamily="34" charset="-122"/>
                <a:cs typeface="Aptos" pitchFamily="34" charset="-120"/>
              </a:rPr>
              <a:t>upcoming WALK</a:t>
            </a:r>
            <a:endParaRPr lang="en-US" sz="740" dirty="0"/>
          </a:p>
          <a:p>
            <a:pPr algn="ctr" indent="0" marL="0">
              <a:buNone/>
            </a:pPr>
            <a:r>
              <a:rPr lang="en-US" sz="740" dirty="0">
                <a:solidFill>
                  <a:srgbClr val="0B132B"/>
                </a:solidFill>
                <a:latin typeface="Aptos" pitchFamily="34" charset="0"/>
                <a:ea typeface="Aptos" pitchFamily="34" charset="-122"/>
                <a:cs typeface="Aptos" pitchFamily="34" charset="-120"/>
              </a:rPr>
              <a:t>inside horizon</a:t>
            </a:r>
            <a:endParaRPr lang="en-US" sz="740" dirty="0"/>
          </a:p>
        </p:txBody>
      </p:sp>
      <p:sp>
        <p:nvSpPr>
          <p:cNvPr id="33" name="Text 31"/>
          <p:cNvSpPr/>
          <p:nvPr/>
        </p:nvSpPr>
        <p:spPr>
          <a:xfrm>
            <a:off x="10332720" y="2926080"/>
            <a:ext cx="1143000" cy="182880"/>
          </a:xfrm>
          <a:prstGeom prst="rect">
            <a:avLst/>
          </a:prstGeom>
          <a:solidFill>
            <a:srgbClr val="7C3AED"/>
          </a:solidFill>
          <a:ln>
            <a:solidFill>
              <a:srgbClr val="7C3AED">
                <a:alpha val="0"/>
              </a:srgbClr>
            </a:solidFill>
          </a:ln>
        </p:spPr>
        <p:txBody>
          <a:bodyPr wrap="square" lIns="445" tIns="445" rIns="445" bIns="445" rtlCol="0" anchor="ctr"/>
          <a:lstStyle/>
          <a:p>
            <a:pPr algn="ctr" indent="0" marL="0">
              <a:buNone/>
            </a:pPr>
            <a:r>
              <a:rPr lang="en-US" sz="480" b="1" dirty="0">
                <a:solidFill>
                  <a:srgbClr val="FFFFFF"/>
                </a:solidFill>
              </a:rPr>
              <a:t>TRAINING</a:t>
            </a:r>
            <a:endParaRPr lang="en-US" sz="480" dirty="0"/>
          </a:p>
          <a:p>
            <a:pPr algn="ctr" indent="0" marL="0">
              <a:buNone/>
            </a:pPr>
            <a:r>
              <a:rPr lang="en-US" sz="480" b="1" dirty="0">
                <a:solidFill>
                  <a:srgbClr val="FFFFFF"/>
                </a:solidFill>
              </a:rPr>
              <a:t>ONLY</a:t>
            </a:r>
            <a:endParaRPr lang="en-US" sz="480" dirty="0"/>
          </a:p>
        </p:txBody>
      </p:sp>
      <p:sp>
        <p:nvSpPr>
          <p:cNvPr id="34" name="Text 32"/>
          <p:cNvSpPr/>
          <p:nvPr/>
        </p:nvSpPr>
        <p:spPr>
          <a:xfrm>
            <a:off x="6629400" y="4480560"/>
            <a:ext cx="4800600" cy="914400"/>
          </a:xfrm>
          <a:prstGeom prst="rect">
            <a:avLst/>
          </a:prstGeom>
          <a:solidFill>
            <a:srgbClr val="FFF7ED"/>
          </a:solidFill>
          <a:ln w="12700">
            <a:solidFill>
              <a:srgbClr val="FED7AA"/>
            </a:solidFill>
          </a:ln>
        </p:spPr>
        <p:txBody>
          <a:bodyPr wrap="square" lIns="1016" tIns="1016" rIns="1016" bIns="1016" rtlCol="0" anchor="ctr">
            <a:normAutofit/>
          </a:bodyPr>
          <a:lstStyle/>
          <a:p>
            <a:pPr algn="l" indent="0" marL="0">
              <a:buNone/>
            </a:pPr>
            <a:r>
              <a:rPr lang="en-US" sz="1200" dirty="0">
                <a:solidFill>
                  <a:srgbClr val="0B132B"/>
                </a:solidFill>
                <a:latin typeface="Aptos" pitchFamily="34" charset="0"/>
                <a:ea typeface="Aptos" pitchFamily="34" charset="-122"/>
                <a:cs typeface="Aptos" pitchFamily="34" charset="-120"/>
              </a:rPr>
              <a:t>Key methodological result</a:t>
            </a:r>
            <a:endParaRPr lang="en-US" sz="1200" dirty="0"/>
          </a:p>
          <a:p>
            <a:pPr algn="l" indent="0" marL="0">
              <a:buNone/>
            </a:pPr>
            <a:r>
              <a:rPr lang="en-US" sz="1200" dirty="0">
                <a:solidFill>
                  <a:srgbClr val="0B132B"/>
                </a:solidFill>
                <a:latin typeface="Aptos" pitchFamily="34" charset="0"/>
                <a:ea typeface="Aptos" pitchFamily="34" charset="-122"/>
                <a:cs typeface="Aptos" pitchFamily="34" charset="-120"/>
              </a:rPr>
              <a:t>The visually better, less conservative model stayed rejected/training-only because holdout evidence did not justify replacing production.</a:t>
            </a:r>
            <a:endParaRPr lang="en-US" sz="1200" dirty="0"/>
          </a:p>
        </p:txBody>
      </p:sp>
      <p:sp>
        <p:nvSpPr>
          <p:cNvPr id="35" name="Text 33"/>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V2.1 is training-only; production stayed crosswalk_wide_v1.</a:t>
            </a:r>
            <a:endParaRPr lang="en-US" sz="76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RESULTS</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Production V5 result: qualified but bounded</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17</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V5 passed all 30 declared qualification groups under the exact simulator contract.</a:t>
            </a:r>
            <a:endParaRPr lang="en-US" sz="1230" dirty="0"/>
          </a:p>
        </p:txBody>
      </p:sp>
      <p:sp>
        <p:nvSpPr>
          <p:cNvPr id="7" name="Text 5"/>
          <p:cNvSpPr/>
          <p:nvPr/>
        </p:nvSpPr>
        <p:spPr>
          <a:xfrm>
            <a:off x="594360" y="1325880"/>
            <a:ext cx="5303520" cy="4343400"/>
          </a:xfrm>
          <a:prstGeom prst="rect">
            <a:avLst/>
          </a:prstGeom>
          <a:noFill/>
          <a:ln/>
        </p:spPr>
        <p:txBody>
          <a:bodyPr wrap="square" lIns="1016" tIns="1016" rIns="1016" bIns="1016" rtlCol="0" anchor="t">
            <a:normAutofit/>
          </a:bodyPr>
          <a:lstStyle/>
          <a:p>
            <a:pPr indent="0" marL="0">
              <a:buNone/>
            </a:pPr>
            <a:r>
              <a:rPr lang="en-US" sz="1420" dirty="0">
                <a:solidFill>
                  <a:srgbClr val="0B132B"/>
                </a:solidFill>
                <a:latin typeface="Aptos" pitchFamily="34" charset="0"/>
                <a:ea typeface="Aptos" pitchFamily="34" charset="-122"/>
                <a:cs typeface="Aptos" pitchFamily="34" charset="-120"/>
              </a:rPr>
              <a:t>• [PRODUCTION] Checkpoint: `yield_kinodynamic_v5_combined_production.npz` with immutable SHA-256 identity.</a:t>
            </a:r>
            <a:endParaRPr lang="en-US" sz="1420" dirty="0"/>
          </a:p>
          <a:p>
            <a:pPr indent="0" marL="0">
              <a:buNone/>
            </a:pPr>
            <a:r>
              <a:rPr lang="en-US" sz="1420" dirty="0">
                <a:solidFill>
                  <a:srgbClr val="0B132B"/>
                </a:solidFill>
                <a:latin typeface="Aptos" pitchFamily="34" charset="0"/>
                <a:ea typeface="Aptos" pitchFamily="34" charset="-122"/>
                <a:cs typeface="Aptos" pitchFamily="34" charset="-120"/>
              </a:rPr>
              <a:t>• [PRODUCTION] Selected lineage: 51,200 PPO environment steps; only the ROR stage used 500 bounded prewarm steps.</a:t>
            </a:r>
            <a:endParaRPr lang="en-US" sz="1420" dirty="0"/>
          </a:p>
          <a:p>
            <a:pPr indent="0" marL="0">
              <a:buNone/>
            </a:pPr>
            <a:r>
              <a:rPr lang="en-US" sz="1420" dirty="0">
                <a:solidFill>
                  <a:srgbClr val="0B132B"/>
                </a:solidFill>
                <a:latin typeface="Aptos" pitchFamily="34" charset="0"/>
                <a:ea typeface="Aptos" pitchFamily="34" charset="-122"/>
                <a:cs typeface="Aptos" pitchFamily="34" charset="-120"/>
              </a:rPr>
              <a:t>• [PRODUCTION] Combined sparse/dense/stress groups passed 90/1/2/3 gates.</a:t>
            </a:r>
            <a:endParaRPr lang="en-US" sz="1420" dirty="0"/>
          </a:p>
          <a:p>
            <a:pPr indent="0" marL="0">
              <a:buNone/>
            </a:pPr>
            <a:r>
              <a:rPr lang="en-US" sz="1420" dirty="0">
                <a:solidFill>
                  <a:srgbClr val="0B132B"/>
                </a:solidFill>
                <a:latin typeface="Aptos" pitchFamily="34" charset="0"/>
                <a:ea typeface="Aptos" pitchFamily="34" charset="-122"/>
                <a:cs typeface="Aptos" pitchFamily="34" charset="-120"/>
              </a:rPr>
              <a:t>• Boundary: simulator release checkpoint, not real-road or perception robustness.</a:t>
            </a:r>
            <a:endParaRPr lang="en-US" sz="1420" dirty="0"/>
          </a:p>
        </p:txBody>
      </p:sp>
      <p:sp>
        <p:nvSpPr>
          <p:cNvPr id="8" name="Text 6"/>
          <p:cNvSpPr/>
          <p:nvPr/>
        </p:nvSpPr>
        <p:spPr>
          <a:xfrm>
            <a:off x="6400800" y="1097280"/>
            <a:ext cx="1234440" cy="502920"/>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30" b="1" dirty="0">
                <a:solidFill>
                  <a:srgbClr val="FFFFFF"/>
                </a:solidFill>
                <a:latin typeface="Aptos" pitchFamily="34" charset="0"/>
                <a:ea typeface="Aptos" pitchFamily="34" charset="-122"/>
                <a:cs typeface="Aptos" pitchFamily="34" charset="-120"/>
              </a:rPr>
              <a:t>Group</a:t>
            </a:r>
            <a:endParaRPr lang="en-US" sz="830" dirty="0"/>
          </a:p>
        </p:txBody>
      </p:sp>
      <p:sp>
        <p:nvSpPr>
          <p:cNvPr id="9" name="Text 7"/>
          <p:cNvSpPr/>
          <p:nvPr/>
        </p:nvSpPr>
        <p:spPr>
          <a:xfrm>
            <a:off x="7635240" y="1097280"/>
            <a:ext cx="960120" cy="502920"/>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30" b="1" dirty="0">
                <a:solidFill>
                  <a:srgbClr val="FFFFFF"/>
                </a:solidFill>
                <a:latin typeface="Aptos" pitchFamily="34" charset="0"/>
                <a:ea typeface="Aptos" pitchFamily="34" charset="-122"/>
                <a:cs typeface="Aptos" pitchFamily="34" charset="-120"/>
              </a:rPr>
              <a:t>Completion</a:t>
            </a:r>
            <a:endParaRPr lang="en-US" sz="830" dirty="0"/>
          </a:p>
        </p:txBody>
      </p:sp>
      <p:sp>
        <p:nvSpPr>
          <p:cNvPr id="10" name="Text 8"/>
          <p:cNvSpPr/>
          <p:nvPr/>
        </p:nvSpPr>
        <p:spPr>
          <a:xfrm>
            <a:off x="8595360" y="1097280"/>
            <a:ext cx="914400" cy="502920"/>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30" b="1" dirty="0">
                <a:solidFill>
                  <a:srgbClr val="FFFFFF"/>
                </a:solidFill>
                <a:latin typeface="Aptos" pitchFamily="34" charset="0"/>
                <a:ea typeface="Aptos" pitchFamily="34" charset="-122"/>
                <a:cs typeface="Aptos" pitchFamily="34" charset="-120"/>
              </a:rPr>
              <a:t>Collisions</a:t>
            </a:r>
            <a:endParaRPr lang="en-US" sz="830" dirty="0"/>
          </a:p>
        </p:txBody>
      </p:sp>
      <p:sp>
        <p:nvSpPr>
          <p:cNvPr id="11" name="Text 9"/>
          <p:cNvSpPr/>
          <p:nvPr/>
        </p:nvSpPr>
        <p:spPr>
          <a:xfrm>
            <a:off x="9509760" y="1097280"/>
            <a:ext cx="868680" cy="502920"/>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30" b="1" dirty="0">
                <a:solidFill>
                  <a:srgbClr val="FFFFFF"/>
                </a:solidFill>
                <a:latin typeface="Aptos" pitchFamily="34" charset="0"/>
                <a:ea typeface="Aptos" pitchFamily="34" charset="-122"/>
                <a:cs typeface="Aptos" pitchFamily="34" charset="-120"/>
              </a:rPr>
              <a:t>Involved</a:t>
            </a:r>
            <a:endParaRPr lang="en-US" sz="830" dirty="0"/>
          </a:p>
        </p:txBody>
      </p:sp>
      <p:sp>
        <p:nvSpPr>
          <p:cNvPr id="12" name="Text 10"/>
          <p:cNvSpPr/>
          <p:nvPr/>
        </p:nvSpPr>
        <p:spPr>
          <a:xfrm>
            <a:off x="10378440" y="1097280"/>
            <a:ext cx="868680" cy="502920"/>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30" b="1" dirty="0">
                <a:solidFill>
                  <a:srgbClr val="FFFFFF"/>
                </a:solidFill>
                <a:latin typeface="Aptos" pitchFamily="34" charset="0"/>
                <a:ea typeface="Aptos" pitchFamily="34" charset="-122"/>
                <a:cs typeface="Aptos" pitchFamily="34" charset="-120"/>
              </a:rPr>
              <a:t>Other</a:t>
            </a:r>
            <a:endParaRPr lang="en-US" sz="830" dirty="0"/>
          </a:p>
        </p:txBody>
      </p:sp>
      <p:sp>
        <p:nvSpPr>
          <p:cNvPr id="13" name="Text 11"/>
          <p:cNvSpPr/>
          <p:nvPr/>
        </p:nvSpPr>
        <p:spPr>
          <a:xfrm>
            <a:off x="6400800" y="1600200"/>
            <a:ext cx="123444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Sparse 3l/12</a:t>
            </a:r>
            <a:endParaRPr lang="en-US" sz="830" dirty="0"/>
          </a:p>
        </p:txBody>
      </p:sp>
      <p:sp>
        <p:nvSpPr>
          <p:cNvPr id="14" name="Text 12"/>
          <p:cNvSpPr/>
          <p:nvPr/>
        </p:nvSpPr>
        <p:spPr>
          <a:xfrm>
            <a:off x="7635240" y="1600200"/>
            <a:ext cx="96012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99.72%</a:t>
            </a:r>
            <a:endParaRPr lang="en-US" sz="830" dirty="0"/>
          </a:p>
        </p:txBody>
      </p:sp>
      <p:sp>
        <p:nvSpPr>
          <p:cNvPr id="15" name="Text 13"/>
          <p:cNvSpPr/>
          <p:nvPr/>
        </p:nvSpPr>
        <p:spPr>
          <a:xfrm>
            <a:off x="8595360" y="1600200"/>
            <a:ext cx="91440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0.00%</a:t>
            </a:r>
            <a:endParaRPr lang="en-US" sz="830" dirty="0"/>
          </a:p>
        </p:txBody>
      </p:sp>
      <p:sp>
        <p:nvSpPr>
          <p:cNvPr id="16" name="Text 14"/>
          <p:cNvSpPr/>
          <p:nvPr/>
        </p:nvSpPr>
        <p:spPr>
          <a:xfrm>
            <a:off x="9509760" y="1600200"/>
            <a:ext cx="86868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0.00%</a:t>
            </a:r>
            <a:endParaRPr lang="en-US" sz="830" dirty="0"/>
          </a:p>
        </p:txBody>
      </p:sp>
      <p:sp>
        <p:nvSpPr>
          <p:cNvPr id="17" name="Text 15"/>
          <p:cNvSpPr/>
          <p:nvPr/>
        </p:nvSpPr>
        <p:spPr>
          <a:xfrm>
            <a:off x="10378440" y="1600200"/>
            <a:ext cx="86868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0.28%</a:t>
            </a:r>
            <a:endParaRPr lang="en-US" sz="830" dirty="0"/>
          </a:p>
        </p:txBody>
      </p:sp>
      <p:sp>
        <p:nvSpPr>
          <p:cNvPr id="18" name="Text 16"/>
          <p:cNvSpPr/>
          <p:nvPr/>
        </p:nvSpPr>
        <p:spPr>
          <a:xfrm>
            <a:off x="6400800" y="2103120"/>
            <a:ext cx="123444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Dense 3l/24</a:t>
            </a:r>
            <a:endParaRPr lang="en-US" sz="830" dirty="0"/>
          </a:p>
        </p:txBody>
      </p:sp>
      <p:sp>
        <p:nvSpPr>
          <p:cNvPr id="19" name="Text 17"/>
          <p:cNvSpPr/>
          <p:nvPr/>
        </p:nvSpPr>
        <p:spPr>
          <a:xfrm>
            <a:off x="7635240" y="2103120"/>
            <a:ext cx="96012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96.67%</a:t>
            </a:r>
            <a:endParaRPr lang="en-US" sz="830" dirty="0"/>
          </a:p>
        </p:txBody>
      </p:sp>
      <p:sp>
        <p:nvSpPr>
          <p:cNvPr id="20" name="Text 18"/>
          <p:cNvSpPr/>
          <p:nvPr/>
        </p:nvSpPr>
        <p:spPr>
          <a:xfrm>
            <a:off x="8595360" y="2103120"/>
            <a:ext cx="91440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0.63%</a:t>
            </a:r>
            <a:endParaRPr lang="en-US" sz="830" dirty="0"/>
          </a:p>
        </p:txBody>
      </p:sp>
      <p:sp>
        <p:nvSpPr>
          <p:cNvPr id="21" name="Text 19"/>
          <p:cNvSpPr/>
          <p:nvPr/>
        </p:nvSpPr>
        <p:spPr>
          <a:xfrm>
            <a:off x="9509760" y="2103120"/>
            <a:ext cx="86868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1.25%</a:t>
            </a:r>
            <a:endParaRPr lang="en-US" sz="830" dirty="0"/>
          </a:p>
        </p:txBody>
      </p:sp>
      <p:sp>
        <p:nvSpPr>
          <p:cNvPr id="22" name="Text 20"/>
          <p:cNvSpPr/>
          <p:nvPr/>
        </p:nvSpPr>
        <p:spPr>
          <a:xfrm>
            <a:off x="10378440" y="2103120"/>
            <a:ext cx="86868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1.88%</a:t>
            </a:r>
            <a:endParaRPr lang="en-US" sz="830" dirty="0"/>
          </a:p>
        </p:txBody>
      </p:sp>
      <p:sp>
        <p:nvSpPr>
          <p:cNvPr id="23" name="Text 21"/>
          <p:cNvSpPr/>
          <p:nvPr/>
        </p:nvSpPr>
        <p:spPr>
          <a:xfrm>
            <a:off x="6400800" y="2606040"/>
            <a:ext cx="123444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Stress 3l/36</a:t>
            </a:r>
            <a:endParaRPr lang="en-US" sz="830" dirty="0"/>
          </a:p>
        </p:txBody>
      </p:sp>
      <p:sp>
        <p:nvSpPr>
          <p:cNvPr id="24" name="Text 22"/>
          <p:cNvSpPr/>
          <p:nvPr/>
        </p:nvSpPr>
        <p:spPr>
          <a:xfrm>
            <a:off x="7635240" y="2606040"/>
            <a:ext cx="96012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92.22%</a:t>
            </a:r>
            <a:endParaRPr lang="en-US" sz="830" dirty="0"/>
          </a:p>
        </p:txBody>
      </p:sp>
      <p:sp>
        <p:nvSpPr>
          <p:cNvPr id="25" name="Text 23"/>
          <p:cNvSpPr/>
          <p:nvPr/>
        </p:nvSpPr>
        <p:spPr>
          <a:xfrm>
            <a:off x="8595360" y="2606040"/>
            <a:ext cx="91440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0.56%</a:t>
            </a:r>
            <a:endParaRPr lang="en-US" sz="830" dirty="0"/>
          </a:p>
        </p:txBody>
      </p:sp>
      <p:sp>
        <p:nvSpPr>
          <p:cNvPr id="26" name="Text 24"/>
          <p:cNvSpPr/>
          <p:nvPr/>
        </p:nvSpPr>
        <p:spPr>
          <a:xfrm>
            <a:off x="9509760" y="2606040"/>
            <a:ext cx="86868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1.11%</a:t>
            </a:r>
            <a:endParaRPr lang="en-US" sz="830" dirty="0"/>
          </a:p>
        </p:txBody>
      </p:sp>
      <p:sp>
        <p:nvSpPr>
          <p:cNvPr id="27" name="Text 25"/>
          <p:cNvSpPr/>
          <p:nvPr/>
        </p:nvSpPr>
        <p:spPr>
          <a:xfrm>
            <a:off x="10378440" y="2606040"/>
            <a:ext cx="868680" cy="50292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2.64%</a:t>
            </a:r>
            <a:endParaRPr lang="en-US" sz="830" dirty="0"/>
          </a:p>
        </p:txBody>
      </p:sp>
      <p:sp>
        <p:nvSpPr>
          <p:cNvPr id="28" name="Text 26"/>
          <p:cNvSpPr/>
          <p:nvPr/>
        </p:nvSpPr>
        <p:spPr>
          <a:xfrm>
            <a:off x="7818120" y="3611880"/>
            <a:ext cx="1920240" cy="182880"/>
          </a:xfrm>
          <a:prstGeom prst="rect">
            <a:avLst/>
          </a:prstGeom>
          <a:solidFill>
            <a:srgbClr val="059669"/>
          </a:solidFill>
          <a:ln>
            <a:solidFill>
              <a:srgbClr val="059669">
                <a:alpha val="0"/>
              </a:srgbClr>
            </a:solidFill>
          </a:ln>
        </p:spPr>
        <p:txBody>
          <a:bodyPr wrap="square" lIns="445" tIns="445" rIns="445" bIns="445" rtlCol="0" anchor="ctr"/>
          <a:lstStyle/>
          <a:p>
            <a:pPr algn="ctr" indent="0" marL="0">
              <a:buNone/>
            </a:pPr>
            <a:r>
              <a:rPr lang="en-US" sz="720" b="1" dirty="0">
                <a:solidFill>
                  <a:srgbClr val="FFFFFF"/>
                </a:solidFill>
              </a:rPr>
              <a:t>30 / 30 GROUPS PASSED</a:t>
            </a:r>
            <a:endParaRPr lang="en-US" sz="720" dirty="0"/>
          </a:p>
        </p:txBody>
      </p:sp>
      <p:sp>
        <p:nvSpPr>
          <p:cNvPr id="29" name="Text 27"/>
          <p:cNvSpPr/>
          <p:nvPr/>
        </p:nvSpPr>
        <p:spPr>
          <a:xfrm>
            <a:off x="6583680" y="4233672"/>
            <a:ext cx="1554480" cy="292608"/>
          </a:xfrm>
          <a:prstGeom prst="rect">
            <a:avLst/>
          </a:prstGeom>
          <a:noFill/>
          <a:ln/>
        </p:spPr>
        <p:txBody>
          <a:bodyPr wrap="square" lIns="0" tIns="0" rIns="0" bIns="0" rtlCol="0" anchor="ctr">
            <a:normAutofit/>
          </a:bodyPr>
          <a:lstStyle/>
          <a:p>
            <a:pPr indent="0" marL="0">
              <a:buNone/>
            </a:pPr>
            <a:r>
              <a:rPr lang="en-US" sz="820" dirty="0">
                <a:solidFill>
                  <a:srgbClr val="0B132B"/>
                </a:solidFill>
              </a:rPr>
              <a:t>Sparse completion</a:t>
            </a:r>
            <a:endParaRPr lang="en-US" sz="820" dirty="0"/>
          </a:p>
        </p:txBody>
      </p:sp>
      <p:sp>
        <p:nvSpPr>
          <p:cNvPr id="30" name="Shape 28"/>
          <p:cNvSpPr/>
          <p:nvPr/>
        </p:nvSpPr>
        <p:spPr>
          <a:xfrm>
            <a:off x="8183880" y="4283964"/>
            <a:ext cx="2834640" cy="131674"/>
          </a:xfrm>
          <a:prstGeom prst="rect">
            <a:avLst/>
          </a:prstGeom>
          <a:solidFill>
            <a:srgbClr val="E5E7EB"/>
          </a:solidFill>
          <a:ln w="12700">
            <a:solidFill>
              <a:srgbClr val="E5E7EB">
                <a:alpha val="0"/>
              </a:srgbClr>
            </a:solidFill>
            <a:prstDash val="solid"/>
          </a:ln>
        </p:spPr>
      </p:sp>
      <p:sp>
        <p:nvSpPr>
          <p:cNvPr id="31" name="Shape 29"/>
          <p:cNvSpPr/>
          <p:nvPr/>
        </p:nvSpPr>
        <p:spPr>
          <a:xfrm>
            <a:off x="8183880" y="4283964"/>
            <a:ext cx="2826703" cy="131674"/>
          </a:xfrm>
          <a:prstGeom prst="rect">
            <a:avLst/>
          </a:prstGeom>
          <a:solidFill>
            <a:srgbClr val="059669"/>
          </a:solidFill>
          <a:ln w="12700">
            <a:solidFill>
              <a:srgbClr val="059669">
                <a:alpha val="0"/>
              </a:srgbClr>
            </a:solidFill>
            <a:prstDash val="solid"/>
          </a:ln>
        </p:spPr>
      </p:sp>
      <p:sp>
        <p:nvSpPr>
          <p:cNvPr id="32" name="Text 30"/>
          <p:cNvSpPr/>
          <p:nvPr/>
        </p:nvSpPr>
        <p:spPr>
          <a:xfrm>
            <a:off x="11091672" y="4233672"/>
            <a:ext cx="548640" cy="292608"/>
          </a:xfrm>
          <a:prstGeom prst="rect">
            <a:avLst/>
          </a:prstGeom>
          <a:noFill/>
          <a:ln/>
        </p:spPr>
        <p:txBody>
          <a:bodyPr wrap="square" lIns="0" tIns="0" rIns="0" bIns="0" rtlCol="0" anchor="ctr">
            <a:normAutofit/>
          </a:bodyPr>
          <a:lstStyle/>
          <a:p>
            <a:pPr indent="0" marL="0">
              <a:buNone/>
            </a:pPr>
            <a:r>
              <a:rPr lang="en-US" sz="820" dirty="0">
                <a:solidFill>
                  <a:srgbClr val="0B132B"/>
                </a:solidFill>
              </a:rPr>
              <a:t>99.72%</a:t>
            </a:r>
            <a:endParaRPr lang="en-US" sz="820" dirty="0"/>
          </a:p>
        </p:txBody>
      </p:sp>
      <p:sp>
        <p:nvSpPr>
          <p:cNvPr id="33" name="Text 31"/>
          <p:cNvSpPr/>
          <p:nvPr/>
        </p:nvSpPr>
        <p:spPr>
          <a:xfrm>
            <a:off x="6583680" y="4599432"/>
            <a:ext cx="1554480" cy="292608"/>
          </a:xfrm>
          <a:prstGeom prst="rect">
            <a:avLst/>
          </a:prstGeom>
          <a:noFill/>
          <a:ln/>
        </p:spPr>
        <p:txBody>
          <a:bodyPr wrap="square" lIns="0" tIns="0" rIns="0" bIns="0" rtlCol="0" anchor="ctr">
            <a:normAutofit/>
          </a:bodyPr>
          <a:lstStyle/>
          <a:p>
            <a:pPr indent="0" marL="0">
              <a:buNone/>
            </a:pPr>
            <a:r>
              <a:rPr lang="en-US" sz="820" dirty="0">
                <a:solidFill>
                  <a:srgbClr val="0B132B"/>
                </a:solidFill>
              </a:rPr>
              <a:t>Dense completion</a:t>
            </a:r>
            <a:endParaRPr lang="en-US" sz="820" dirty="0"/>
          </a:p>
        </p:txBody>
      </p:sp>
      <p:sp>
        <p:nvSpPr>
          <p:cNvPr id="34" name="Shape 32"/>
          <p:cNvSpPr/>
          <p:nvPr/>
        </p:nvSpPr>
        <p:spPr>
          <a:xfrm>
            <a:off x="8183880" y="4649724"/>
            <a:ext cx="2834640" cy="131674"/>
          </a:xfrm>
          <a:prstGeom prst="rect">
            <a:avLst/>
          </a:prstGeom>
          <a:solidFill>
            <a:srgbClr val="E5E7EB"/>
          </a:solidFill>
          <a:ln w="12700">
            <a:solidFill>
              <a:srgbClr val="E5E7EB">
                <a:alpha val="0"/>
              </a:srgbClr>
            </a:solidFill>
            <a:prstDash val="solid"/>
          </a:ln>
        </p:spPr>
      </p:sp>
      <p:sp>
        <p:nvSpPr>
          <p:cNvPr id="35" name="Shape 33"/>
          <p:cNvSpPr/>
          <p:nvPr/>
        </p:nvSpPr>
        <p:spPr>
          <a:xfrm>
            <a:off x="8183880" y="4649724"/>
            <a:ext cx="2740246" cy="131674"/>
          </a:xfrm>
          <a:prstGeom prst="rect">
            <a:avLst/>
          </a:prstGeom>
          <a:solidFill>
            <a:srgbClr val="059669"/>
          </a:solidFill>
          <a:ln w="12700">
            <a:solidFill>
              <a:srgbClr val="059669">
                <a:alpha val="0"/>
              </a:srgbClr>
            </a:solidFill>
            <a:prstDash val="solid"/>
          </a:ln>
        </p:spPr>
      </p:sp>
      <p:sp>
        <p:nvSpPr>
          <p:cNvPr id="36" name="Text 34"/>
          <p:cNvSpPr/>
          <p:nvPr/>
        </p:nvSpPr>
        <p:spPr>
          <a:xfrm>
            <a:off x="11091672" y="4599432"/>
            <a:ext cx="548640" cy="292608"/>
          </a:xfrm>
          <a:prstGeom prst="rect">
            <a:avLst/>
          </a:prstGeom>
          <a:noFill/>
          <a:ln/>
        </p:spPr>
        <p:txBody>
          <a:bodyPr wrap="square" lIns="0" tIns="0" rIns="0" bIns="0" rtlCol="0" anchor="ctr">
            <a:normAutofit/>
          </a:bodyPr>
          <a:lstStyle/>
          <a:p>
            <a:pPr indent="0" marL="0">
              <a:buNone/>
            </a:pPr>
            <a:r>
              <a:rPr lang="en-US" sz="820" dirty="0">
                <a:solidFill>
                  <a:srgbClr val="0B132B"/>
                </a:solidFill>
              </a:rPr>
              <a:t>96.67%</a:t>
            </a:r>
            <a:endParaRPr lang="en-US" sz="820" dirty="0"/>
          </a:p>
        </p:txBody>
      </p:sp>
      <p:sp>
        <p:nvSpPr>
          <p:cNvPr id="37" name="Text 35"/>
          <p:cNvSpPr/>
          <p:nvPr/>
        </p:nvSpPr>
        <p:spPr>
          <a:xfrm>
            <a:off x="6583680" y="4965192"/>
            <a:ext cx="1554480" cy="292608"/>
          </a:xfrm>
          <a:prstGeom prst="rect">
            <a:avLst/>
          </a:prstGeom>
          <a:noFill/>
          <a:ln/>
        </p:spPr>
        <p:txBody>
          <a:bodyPr wrap="square" lIns="0" tIns="0" rIns="0" bIns="0" rtlCol="0" anchor="ctr">
            <a:normAutofit/>
          </a:bodyPr>
          <a:lstStyle/>
          <a:p>
            <a:pPr indent="0" marL="0">
              <a:buNone/>
            </a:pPr>
            <a:r>
              <a:rPr lang="en-US" sz="820" dirty="0">
                <a:solidFill>
                  <a:srgbClr val="0B132B"/>
                </a:solidFill>
              </a:rPr>
              <a:t>Stress completion</a:t>
            </a:r>
            <a:endParaRPr lang="en-US" sz="820" dirty="0"/>
          </a:p>
        </p:txBody>
      </p:sp>
      <p:sp>
        <p:nvSpPr>
          <p:cNvPr id="38" name="Shape 36"/>
          <p:cNvSpPr/>
          <p:nvPr/>
        </p:nvSpPr>
        <p:spPr>
          <a:xfrm>
            <a:off x="8183880" y="5015484"/>
            <a:ext cx="2834640" cy="131674"/>
          </a:xfrm>
          <a:prstGeom prst="rect">
            <a:avLst/>
          </a:prstGeom>
          <a:solidFill>
            <a:srgbClr val="E5E7EB"/>
          </a:solidFill>
          <a:ln w="12700">
            <a:solidFill>
              <a:srgbClr val="E5E7EB">
                <a:alpha val="0"/>
              </a:srgbClr>
            </a:solidFill>
            <a:prstDash val="solid"/>
          </a:ln>
        </p:spPr>
      </p:sp>
      <p:sp>
        <p:nvSpPr>
          <p:cNvPr id="39" name="Shape 37"/>
          <p:cNvSpPr/>
          <p:nvPr/>
        </p:nvSpPr>
        <p:spPr>
          <a:xfrm>
            <a:off x="8183880" y="5015484"/>
            <a:ext cx="2614105" cy="131674"/>
          </a:xfrm>
          <a:prstGeom prst="rect">
            <a:avLst/>
          </a:prstGeom>
          <a:solidFill>
            <a:srgbClr val="059669"/>
          </a:solidFill>
          <a:ln w="12700">
            <a:solidFill>
              <a:srgbClr val="059669">
                <a:alpha val="0"/>
              </a:srgbClr>
            </a:solidFill>
            <a:prstDash val="solid"/>
          </a:ln>
        </p:spPr>
      </p:sp>
      <p:sp>
        <p:nvSpPr>
          <p:cNvPr id="40" name="Text 38"/>
          <p:cNvSpPr/>
          <p:nvPr/>
        </p:nvSpPr>
        <p:spPr>
          <a:xfrm>
            <a:off x="11091672" y="4965192"/>
            <a:ext cx="548640" cy="292608"/>
          </a:xfrm>
          <a:prstGeom prst="rect">
            <a:avLst/>
          </a:prstGeom>
          <a:noFill/>
          <a:ln/>
        </p:spPr>
        <p:txBody>
          <a:bodyPr wrap="square" lIns="0" tIns="0" rIns="0" bIns="0" rtlCol="0" anchor="ctr">
            <a:normAutofit/>
          </a:bodyPr>
          <a:lstStyle/>
          <a:p>
            <a:pPr indent="0" marL="0">
              <a:buNone/>
            </a:pPr>
            <a:r>
              <a:rPr lang="en-US" sz="820" dirty="0">
                <a:solidFill>
                  <a:srgbClr val="0B132B"/>
                </a:solidFill>
              </a:rPr>
              <a:t>92.22%</a:t>
            </a:r>
            <a:endParaRPr lang="en-US" sz="820" dirty="0"/>
          </a:p>
        </p:txBody>
      </p:sp>
      <p:sp>
        <p:nvSpPr>
          <p:cNvPr id="41" name="Text 39"/>
          <p:cNvSpPr/>
          <p:nvPr/>
        </p:nvSpPr>
        <p:spPr>
          <a:xfrm>
            <a:off x="6537960" y="5623560"/>
            <a:ext cx="4709160" cy="457200"/>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1080" dirty="0">
                <a:solidFill>
                  <a:srgbClr val="475569"/>
                </a:solidFill>
                <a:latin typeface="Aptos" pitchFamily="34" charset="0"/>
                <a:ea typeface="Aptos" pitchFamily="34" charset="-122"/>
                <a:cs typeface="Aptos" pitchFamily="34" charset="-120"/>
              </a:rPr>
              <a:t>Stress result is valid but close to gates; later unused audits exposed robustness gaps.</a:t>
            </a:r>
            <a:endParaRPr lang="en-US" sz="1080" dirty="0"/>
          </a:p>
        </p:txBody>
      </p:sp>
      <p:sp>
        <p:nvSpPr>
          <p:cNvPr id="42" name="Text 40"/>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Metric order: completion / collision-event / collision-involved-vehicle / other-violation.</a:t>
            </a:r>
            <a:endParaRPr lang="en-US" sz="7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DIAGNOSTICS</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V5.1 longitudinal robustness audit</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18</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The audit localized why a simple “drive faster” fix was unsafe.</a:t>
            </a:r>
            <a:endParaRPr lang="en-US" sz="1230" dirty="0"/>
          </a:p>
        </p:txBody>
      </p:sp>
      <p:sp>
        <p:nvSpPr>
          <p:cNvPr id="7" name="Text 5"/>
          <p:cNvSpPr/>
          <p:nvPr/>
        </p:nvSpPr>
        <p:spPr>
          <a:xfrm>
            <a:off x="594360" y="1325880"/>
            <a:ext cx="5303520" cy="4389120"/>
          </a:xfrm>
          <a:prstGeom prst="rect">
            <a:avLst/>
          </a:prstGeom>
          <a:noFill/>
          <a:ln/>
        </p:spPr>
        <p:txBody>
          <a:bodyPr wrap="square" lIns="1016" tIns="1016" rIns="1016" bIns="1016" rtlCol="0" anchor="t">
            <a:normAutofit/>
          </a:bodyPr>
          <a:lstStyle/>
          <a:p>
            <a:pPr indent="0" marL="0">
              <a:buNone/>
            </a:pPr>
            <a:r>
              <a:rPr lang="en-US" sz="1430" dirty="0">
                <a:solidFill>
                  <a:srgbClr val="0B132B"/>
                </a:solidFill>
                <a:latin typeface="Aptos" pitchFamily="34" charset="0"/>
                <a:ea typeface="Aptos" pitchFamily="34" charset="-122"/>
                <a:cs typeface="Aptos" pitchFamily="34" charset="-120"/>
              </a:rPr>
              <a:t>• [DIAGNOSTIC_ONLY] V5 empty-green acceleration was policy-selected around 0.85 m/s², not actuator-limited.</a:t>
            </a:r>
            <a:endParaRPr lang="en-US" sz="1430" dirty="0"/>
          </a:p>
          <a:p>
            <a:pPr indent="0" marL="0">
              <a:buNone/>
            </a:pPr>
            <a:r>
              <a:rPr lang="en-US" sz="1430" dirty="0">
                <a:solidFill>
                  <a:srgbClr val="0B132B"/>
                </a:solidFill>
                <a:latin typeface="Aptos" pitchFamily="34" charset="0"/>
                <a:ea typeface="Aptos" pitchFamily="34" charset="-122"/>
                <a:cs typeface="Aptos" pitchFamily="34" charset="-120"/>
              </a:rPr>
              <a:t>• [DIAGNOSTIC_ONLY] A faster 1.5 m/s² reference earned slightly higher empty-road reward but collided in queue/turn probes.</a:t>
            </a:r>
            <a:endParaRPr lang="en-US" sz="1430" dirty="0"/>
          </a:p>
          <a:p>
            <a:pPr indent="0" marL="0">
              <a:buNone/>
            </a:pPr>
            <a:r>
              <a:rPr lang="en-US" sz="1430" dirty="0">
                <a:solidFill>
                  <a:srgbClr val="0B132B"/>
                </a:solidFill>
                <a:latin typeface="Aptos" pitchFamily="34" charset="0"/>
                <a:ea typeface="Aptos" pitchFamily="34" charset="-122"/>
                <a:cs typeface="Aptos" pitchFamily="34" charset="-120"/>
              </a:rPr>
              <a:t>• [DIAGNOSTIC_ONLY] 277 one-shot failures were categorized into queue-chain, brake, gate, late context, and reaction-delay classes.</a:t>
            </a:r>
            <a:endParaRPr lang="en-US" sz="1430" dirty="0"/>
          </a:p>
          <a:p>
            <a:pPr indent="0" marL="0">
              <a:buNone/>
            </a:pPr>
            <a:r>
              <a:rPr lang="en-US" sz="1430" dirty="0">
                <a:solidFill>
                  <a:srgbClr val="0B132B"/>
                </a:solidFill>
                <a:latin typeface="Aptos" pitchFamily="34" charset="0"/>
                <a:ea typeface="Aptos" pitchFamily="34" charset="-122"/>
                <a:cs typeface="Aptos" pitchFamily="34" charset="-120"/>
              </a:rPr>
              <a:t>• Lesson: longitudinal correction must be context-specific and retention-tested.</a:t>
            </a:r>
            <a:endParaRPr lang="en-US" sz="1430" dirty="0"/>
          </a:p>
        </p:txBody>
      </p:sp>
      <p:sp>
        <p:nvSpPr>
          <p:cNvPr id="8" name="Text 6"/>
          <p:cNvSpPr/>
          <p:nvPr/>
        </p:nvSpPr>
        <p:spPr>
          <a:xfrm>
            <a:off x="6446520" y="1097280"/>
            <a:ext cx="4480560" cy="32004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Stage 3B-0 failure taxonomy</a:t>
            </a:r>
            <a:endParaRPr lang="en-US" sz="1200" dirty="0"/>
          </a:p>
        </p:txBody>
      </p:sp>
      <p:sp>
        <p:nvSpPr>
          <p:cNvPr id="9" name="Text 7"/>
          <p:cNvSpPr/>
          <p:nvPr/>
        </p:nvSpPr>
        <p:spPr>
          <a:xfrm>
            <a:off x="6537960" y="1764792"/>
            <a:ext cx="1554480" cy="292608"/>
          </a:xfrm>
          <a:prstGeom prst="rect">
            <a:avLst/>
          </a:prstGeom>
          <a:noFill/>
          <a:ln/>
        </p:spPr>
        <p:txBody>
          <a:bodyPr wrap="square" lIns="0" tIns="0" rIns="0" bIns="0" rtlCol="0" anchor="ctr">
            <a:normAutofit/>
          </a:bodyPr>
          <a:lstStyle/>
          <a:p>
            <a:pPr indent="0" marL="0">
              <a:buNone/>
            </a:pPr>
            <a:r>
              <a:rPr lang="en-US" sz="820" dirty="0">
                <a:solidFill>
                  <a:srgbClr val="0B132B"/>
                </a:solidFill>
              </a:rPr>
              <a:t>Queue-chain</a:t>
            </a:r>
            <a:endParaRPr lang="en-US" sz="820" dirty="0"/>
          </a:p>
        </p:txBody>
      </p:sp>
      <p:sp>
        <p:nvSpPr>
          <p:cNvPr id="10" name="Shape 8"/>
          <p:cNvSpPr/>
          <p:nvPr/>
        </p:nvSpPr>
        <p:spPr>
          <a:xfrm>
            <a:off x="8138160" y="1815084"/>
            <a:ext cx="2560320" cy="131674"/>
          </a:xfrm>
          <a:prstGeom prst="rect">
            <a:avLst/>
          </a:prstGeom>
          <a:solidFill>
            <a:srgbClr val="E5E7EB"/>
          </a:solidFill>
          <a:ln w="12700">
            <a:solidFill>
              <a:srgbClr val="E5E7EB">
                <a:alpha val="0"/>
              </a:srgbClr>
            </a:solidFill>
            <a:prstDash val="solid"/>
          </a:ln>
        </p:spPr>
      </p:sp>
      <p:sp>
        <p:nvSpPr>
          <p:cNvPr id="11" name="Shape 9"/>
          <p:cNvSpPr/>
          <p:nvPr/>
        </p:nvSpPr>
        <p:spPr>
          <a:xfrm>
            <a:off x="8138160" y="1815084"/>
            <a:ext cx="2418080" cy="131674"/>
          </a:xfrm>
          <a:prstGeom prst="rect">
            <a:avLst/>
          </a:prstGeom>
          <a:solidFill>
            <a:srgbClr val="F97316"/>
          </a:solidFill>
          <a:ln w="12700">
            <a:solidFill>
              <a:srgbClr val="F97316">
                <a:alpha val="0"/>
              </a:srgbClr>
            </a:solidFill>
            <a:prstDash val="solid"/>
          </a:ln>
        </p:spPr>
      </p:sp>
      <p:sp>
        <p:nvSpPr>
          <p:cNvPr id="12" name="Text 10"/>
          <p:cNvSpPr/>
          <p:nvPr/>
        </p:nvSpPr>
        <p:spPr>
          <a:xfrm>
            <a:off x="10771632" y="1764792"/>
            <a:ext cx="548640" cy="292608"/>
          </a:xfrm>
          <a:prstGeom prst="rect">
            <a:avLst/>
          </a:prstGeom>
          <a:noFill/>
          <a:ln/>
        </p:spPr>
        <p:txBody>
          <a:bodyPr wrap="square" lIns="0" tIns="0" rIns="0" bIns="0" rtlCol="0" anchor="ctr">
            <a:normAutofit/>
          </a:bodyPr>
          <a:lstStyle/>
          <a:p>
            <a:pPr indent="0" marL="0">
              <a:buNone/>
            </a:pPr>
            <a:r>
              <a:rPr lang="en-US" sz="820" dirty="0">
                <a:solidFill>
                  <a:srgbClr val="0B132B"/>
                </a:solidFill>
              </a:rPr>
              <a:t>85</a:t>
            </a:r>
            <a:endParaRPr lang="en-US" sz="820" dirty="0"/>
          </a:p>
        </p:txBody>
      </p:sp>
      <p:sp>
        <p:nvSpPr>
          <p:cNvPr id="13" name="Text 11"/>
          <p:cNvSpPr/>
          <p:nvPr/>
        </p:nvSpPr>
        <p:spPr>
          <a:xfrm>
            <a:off x="6537960" y="2267712"/>
            <a:ext cx="1554480" cy="292608"/>
          </a:xfrm>
          <a:prstGeom prst="rect">
            <a:avLst/>
          </a:prstGeom>
          <a:noFill/>
          <a:ln/>
        </p:spPr>
        <p:txBody>
          <a:bodyPr wrap="square" lIns="0" tIns="0" rIns="0" bIns="0" rtlCol="0" anchor="ctr">
            <a:normAutofit/>
          </a:bodyPr>
          <a:lstStyle/>
          <a:p>
            <a:pPr indent="0" marL="0">
              <a:buNone/>
            </a:pPr>
            <a:r>
              <a:rPr lang="en-US" sz="820" dirty="0">
                <a:solidFill>
                  <a:srgbClr val="0B132B"/>
                </a:solidFill>
              </a:rPr>
              <a:t>Insufficient brake</a:t>
            </a:r>
            <a:endParaRPr lang="en-US" sz="820" dirty="0"/>
          </a:p>
        </p:txBody>
      </p:sp>
      <p:sp>
        <p:nvSpPr>
          <p:cNvPr id="14" name="Shape 12"/>
          <p:cNvSpPr/>
          <p:nvPr/>
        </p:nvSpPr>
        <p:spPr>
          <a:xfrm>
            <a:off x="8138160" y="2318004"/>
            <a:ext cx="2560320" cy="131674"/>
          </a:xfrm>
          <a:prstGeom prst="rect">
            <a:avLst/>
          </a:prstGeom>
          <a:solidFill>
            <a:srgbClr val="E5E7EB"/>
          </a:solidFill>
          <a:ln w="12700">
            <a:solidFill>
              <a:srgbClr val="E5E7EB">
                <a:alpha val="0"/>
              </a:srgbClr>
            </a:solidFill>
            <a:prstDash val="solid"/>
          </a:ln>
        </p:spPr>
      </p:sp>
      <p:sp>
        <p:nvSpPr>
          <p:cNvPr id="15" name="Shape 13"/>
          <p:cNvSpPr/>
          <p:nvPr/>
        </p:nvSpPr>
        <p:spPr>
          <a:xfrm>
            <a:off x="8138160" y="2318004"/>
            <a:ext cx="2190496" cy="131674"/>
          </a:xfrm>
          <a:prstGeom prst="rect">
            <a:avLst/>
          </a:prstGeom>
          <a:solidFill>
            <a:srgbClr val="DC2626"/>
          </a:solidFill>
          <a:ln w="12700">
            <a:solidFill>
              <a:srgbClr val="DC2626">
                <a:alpha val="0"/>
              </a:srgbClr>
            </a:solidFill>
            <a:prstDash val="solid"/>
          </a:ln>
        </p:spPr>
      </p:sp>
      <p:sp>
        <p:nvSpPr>
          <p:cNvPr id="16" name="Text 14"/>
          <p:cNvSpPr/>
          <p:nvPr/>
        </p:nvSpPr>
        <p:spPr>
          <a:xfrm>
            <a:off x="10771632" y="2267712"/>
            <a:ext cx="548640" cy="292608"/>
          </a:xfrm>
          <a:prstGeom prst="rect">
            <a:avLst/>
          </a:prstGeom>
          <a:noFill/>
          <a:ln/>
        </p:spPr>
        <p:txBody>
          <a:bodyPr wrap="square" lIns="0" tIns="0" rIns="0" bIns="0" rtlCol="0" anchor="ctr">
            <a:normAutofit/>
          </a:bodyPr>
          <a:lstStyle/>
          <a:p>
            <a:pPr indent="0" marL="0">
              <a:buNone/>
            </a:pPr>
            <a:r>
              <a:rPr lang="en-US" sz="820" dirty="0">
                <a:solidFill>
                  <a:srgbClr val="0B132B"/>
                </a:solidFill>
              </a:rPr>
              <a:t>77</a:t>
            </a:r>
            <a:endParaRPr lang="en-US" sz="820" dirty="0"/>
          </a:p>
        </p:txBody>
      </p:sp>
      <p:sp>
        <p:nvSpPr>
          <p:cNvPr id="17" name="Text 15"/>
          <p:cNvSpPr/>
          <p:nvPr/>
        </p:nvSpPr>
        <p:spPr>
          <a:xfrm>
            <a:off x="6537960" y="2770632"/>
            <a:ext cx="1554480" cy="292608"/>
          </a:xfrm>
          <a:prstGeom prst="rect">
            <a:avLst/>
          </a:prstGeom>
          <a:noFill/>
          <a:ln/>
        </p:spPr>
        <p:txBody>
          <a:bodyPr wrap="square" lIns="0" tIns="0" rIns="0" bIns="0" rtlCol="0" anchor="ctr">
            <a:normAutofit/>
          </a:bodyPr>
          <a:lstStyle/>
          <a:p>
            <a:pPr indent="0" marL="0">
              <a:buNone/>
            </a:pPr>
            <a:r>
              <a:rPr lang="en-US" sz="820" dirty="0">
                <a:solidFill>
                  <a:srgbClr val="0B132B"/>
                </a:solidFill>
              </a:rPr>
              <a:t>Mixture gate</a:t>
            </a:r>
            <a:endParaRPr lang="en-US" sz="820" dirty="0"/>
          </a:p>
        </p:txBody>
      </p:sp>
      <p:sp>
        <p:nvSpPr>
          <p:cNvPr id="18" name="Shape 16"/>
          <p:cNvSpPr/>
          <p:nvPr/>
        </p:nvSpPr>
        <p:spPr>
          <a:xfrm>
            <a:off x="8138160" y="2820924"/>
            <a:ext cx="2560320" cy="131674"/>
          </a:xfrm>
          <a:prstGeom prst="rect">
            <a:avLst/>
          </a:prstGeom>
          <a:solidFill>
            <a:srgbClr val="E5E7EB"/>
          </a:solidFill>
          <a:ln w="12700">
            <a:solidFill>
              <a:srgbClr val="E5E7EB">
                <a:alpha val="0"/>
              </a:srgbClr>
            </a:solidFill>
            <a:prstDash val="solid"/>
          </a:ln>
        </p:spPr>
      </p:sp>
      <p:sp>
        <p:nvSpPr>
          <p:cNvPr id="19" name="Shape 17"/>
          <p:cNvSpPr/>
          <p:nvPr/>
        </p:nvSpPr>
        <p:spPr>
          <a:xfrm>
            <a:off x="8138160" y="2820924"/>
            <a:ext cx="2105152" cy="131674"/>
          </a:xfrm>
          <a:prstGeom prst="rect">
            <a:avLst/>
          </a:prstGeom>
          <a:solidFill>
            <a:srgbClr val="7C3AED"/>
          </a:solidFill>
          <a:ln w="12700">
            <a:solidFill>
              <a:srgbClr val="7C3AED">
                <a:alpha val="0"/>
              </a:srgbClr>
            </a:solidFill>
            <a:prstDash val="solid"/>
          </a:ln>
        </p:spPr>
      </p:sp>
      <p:sp>
        <p:nvSpPr>
          <p:cNvPr id="20" name="Text 18"/>
          <p:cNvSpPr/>
          <p:nvPr/>
        </p:nvSpPr>
        <p:spPr>
          <a:xfrm>
            <a:off x="10771632" y="2770632"/>
            <a:ext cx="548640" cy="292608"/>
          </a:xfrm>
          <a:prstGeom prst="rect">
            <a:avLst/>
          </a:prstGeom>
          <a:noFill/>
          <a:ln/>
        </p:spPr>
        <p:txBody>
          <a:bodyPr wrap="square" lIns="0" tIns="0" rIns="0" bIns="0" rtlCol="0" anchor="ctr">
            <a:normAutofit/>
          </a:bodyPr>
          <a:lstStyle/>
          <a:p>
            <a:pPr indent="0" marL="0">
              <a:buNone/>
            </a:pPr>
            <a:r>
              <a:rPr lang="en-US" sz="820" dirty="0">
                <a:solidFill>
                  <a:srgbClr val="0B132B"/>
                </a:solidFill>
              </a:rPr>
              <a:t>74</a:t>
            </a:r>
            <a:endParaRPr lang="en-US" sz="820" dirty="0"/>
          </a:p>
        </p:txBody>
      </p:sp>
      <p:sp>
        <p:nvSpPr>
          <p:cNvPr id="21" name="Text 19"/>
          <p:cNvSpPr/>
          <p:nvPr/>
        </p:nvSpPr>
        <p:spPr>
          <a:xfrm>
            <a:off x="6537960" y="3273552"/>
            <a:ext cx="1554480" cy="292608"/>
          </a:xfrm>
          <a:prstGeom prst="rect">
            <a:avLst/>
          </a:prstGeom>
          <a:noFill/>
          <a:ln/>
        </p:spPr>
        <p:txBody>
          <a:bodyPr wrap="square" lIns="0" tIns="0" rIns="0" bIns="0" rtlCol="0" anchor="ctr">
            <a:normAutofit/>
          </a:bodyPr>
          <a:lstStyle/>
          <a:p>
            <a:pPr indent="0" marL="0">
              <a:buNone/>
            </a:pPr>
            <a:r>
              <a:rPr lang="en-US" sz="820" dirty="0">
                <a:solidFill>
                  <a:srgbClr val="0B132B"/>
                </a:solidFill>
              </a:rPr>
              <a:t>Late env/obs</a:t>
            </a:r>
            <a:endParaRPr lang="en-US" sz="820" dirty="0"/>
          </a:p>
        </p:txBody>
      </p:sp>
      <p:sp>
        <p:nvSpPr>
          <p:cNvPr id="22" name="Shape 20"/>
          <p:cNvSpPr/>
          <p:nvPr/>
        </p:nvSpPr>
        <p:spPr>
          <a:xfrm>
            <a:off x="8138160" y="3323844"/>
            <a:ext cx="2560320" cy="131674"/>
          </a:xfrm>
          <a:prstGeom prst="rect">
            <a:avLst/>
          </a:prstGeom>
          <a:solidFill>
            <a:srgbClr val="E5E7EB"/>
          </a:solidFill>
          <a:ln w="12700">
            <a:solidFill>
              <a:srgbClr val="E5E7EB">
                <a:alpha val="0"/>
              </a:srgbClr>
            </a:solidFill>
            <a:prstDash val="solid"/>
          </a:ln>
        </p:spPr>
      </p:sp>
      <p:sp>
        <p:nvSpPr>
          <p:cNvPr id="23" name="Shape 21"/>
          <p:cNvSpPr/>
          <p:nvPr/>
        </p:nvSpPr>
        <p:spPr>
          <a:xfrm>
            <a:off x="8138160" y="3323844"/>
            <a:ext cx="1109472" cy="131674"/>
          </a:xfrm>
          <a:prstGeom prst="rect">
            <a:avLst/>
          </a:prstGeom>
          <a:solidFill>
            <a:srgbClr val="64748B"/>
          </a:solidFill>
          <a:ln w="12700">
            <a:solidFill>
              <a:srgbClr val="64748B">
                <a:alpha val="0"/>
              </a:srgbClr>
            </a:solidFill>
            <a:prstDash val="solid"/>
          </a:ln>
        </p:spPr>
      </p:sp>
      <p:sp>
        <p:nvSpPr>
          <p:cNvPr id="24" name="Text 22"/>
          <p:cNvSpPr/>
          <p:nvPr/>
        </p:nvSpPr>
        <p:spPr>
          <a:xfrm>
            <a:off x="10771632" y="3273552"/>
            <a:ext cx="548640" cy="292608"/>
          </a:xfrm>
          <a:prstGeom prst="rect">
            <a:avLst/>
          </a:prstGeom>
          <a:noFill/>
          <a:ln/>
        </p:spPr>
        <p:txBody>
          <a:bodyPr wrap="square" lIns="0" tIns="0" rIns="0" bIns="0" rtlCol="0" anchor="ctr">
            <a:normAutofit/>
          </a:bodyPr>
          <a:lstStyle/>
          <a:p>
            <a:pPr indent="0" marL="0">
              <a:buNone/>
            </a:pPr>
            <a:r>
              <a:rPr lang="en-US" sz="820" dirty="0">
                <a:solidFill>
                  <a:srgbClr val="0B132B"/>
                </a:solidFill>
              </a:rPr>
              <a:t>39</a:t>
            </a:r>
            <a:endParaRPr lang="en-US" sz="820" dirty="0"/>
          </a:p>
        </p:txBody>
      </p:sp>
      <p:sp>
        <p:nvSpPr>
          <p:cNvPr id="25" name="Text 23"/>
          <p:cNvSpPr/>
          <p:nvPr/>
        </p:nvSpPr>
        <p:spPr>
          <a:xfrm>
            <a:off x="6537960" y="3776472"/>
            <a:ext cx="1554480" cy="292608"/>
          </a:xfrm>
          <a:prstGeom prst="rect">
            <a:avLst/>
          </a:prstGeom>
          <a:noFill/>
          <a:ln/>
        </p:spPr>
        <p:txBody>
          <a:bodyPr wrap="square" lIns="0" tIns="0" rIns="0" bIns="0" rtlCol="0" anchor="ctr">
            <a:normAutofit/>
          </a:bodyPr>
          <a:lstStyle/>
          <a:p>
            <a:pPr indent="0" marL="0">
              <a:buNone/>
            </a:pPr>
            <a:r>
              <a:rPr lang="en-US" sz="820" dirty="0">
                <a:solidFill>
                  <a:srgbClr val="0B132B"/>
                </a:solidFill>
              </a:rPr>
              <a:t>Reaction delay</a:t>
            </a:r>
            <a:endParaRPr lang="en-US" sz="820" dirty="0"/>
          </a:p>
        </p:txBody>
      </p:sp>
      <p:sp>
        <p:nvSpPr>
          <p:cNvPr id="26" name="Shape 24"/>
          <p:cNvSpPr/>
          <p:nvPr/>
        </p:nvSpPr>
        <p:spPr>
          <a:xfrm>
            <a:off x="8138160" y="3826764"/>
            <a:ext cx="2560320" cy="131674"/>
          </a:xfrm>
          <a:prstGeom prst="rect">
            <a:avLst/>
          </a:prstGeom>
          <a:solidFill>
            <a:srgbClr val="E5E7EB"/>
          </a:solidFill>
          <a:ln w="12700">
            <a:solidFill>
              <a:srgbClr val="E5E7EB">
                <a:alpha val="0"/>
              </a:srgbClr>
            </a:solidFill>
            <a:prstDash val="solid"/>
          </a:ln>
        </p:spPr>
      </p:sp>
      <p:sp>
        <p:nvSpPr>
          <p:cNvPr id="27" name="Shape 25"/>
          <p:cNvSpPr/>
          <p:nvPr/>
        </p:nvSpPr>
        <p:spPr>
          <a:xfrm>
            <a:off x="8138160" y="3826764"/>
            <a:ext cx="56896" cy="131674"/>
          </a:xfrm>
          <a:prstGeom prst="rect">
            <a:avLst/>
          </a:prstGeom>
          <a:solidFill>
            <a:srgbClr val="1D4ED8"/>
          </a:solidFill>
          <a:ln w="12700">
            <a:solidFill>
              <a:srgbClr val="1D4ED8">
                <a:alpha val="0"/>
              </a:srgbClr>
            </a:solidFill>
            <a:prstDash val="solid"/>
          </a:ln>
        </p:spPr>
      </p:sp>
      <p:sp>
        <p:nvSpPr>
          <p:cNvPr id="28" name="Text 26"/>
          <p:cNvSpPr/>
          <p:nvPr/>
        </p:nvSpPr>
        <p:spPr>
          <a:xfrm>
            <a:off x="10771632" y="3776472"/>
            <a:ext cx="548640" cy="292608"/>
          </a:xfrm>
          <a:prstGeom prst="rect">
            <a:avLst/>
          </a:prstGeom>
          <a:noFill/>
          <a:ln/>
        </p:spPr>
        <p:txBody>
          <a:bodyPr wrap="square" lIns="0" tIns="0" rIns="0" bIns="0" rtlCol="0" anchor="ctr">
            <a:normAutofit/>
          </a:bodyPr>
          <a:lstStyle/>
          <a:p>
            <a:pPr indent="0" marL="0">
              <a:buNone/>
            </a:pPr>
            <a:r>
              <a:rPr lang="en-US" sz="820" dirty="0">
                <a:solidFill>
                  <a:srgbClr val="0B132B"/>
                </a:solidFill>
              </a:rPr>
              <a:t>2</a:t>
            </a:r>
            <a:endParaRPr lang="en-US" sz="820" dirty="0"/>
          </a:p>
        </p:txBody>
      </p:sp>
      <p:sp>
        <p:nvSpPr>
          <p:cNvPr id="29" name="Text 27"/>
          <p:cNvSpPr/>
          <p:nvPr/>
        </p:nvSpPr>
        <p:spPr>
          <a:xfrm>
            <a:off x="6720840" y="4846320"/>
            <a:ext cx="3977640" cy="914400"/>
          </a:xfrm>
          <a:prstGeom prst="rect">
            <a:avLst/>
          </a:prstGeom>
          <a:solidFill>
            <a:srgbClr val="FFF7ED"/>
          </a:solidFill>
          <a:ln w="12700">
            <a:solidFill>
              <a:srgbClr val="FED7AA"/>
            </a:solidFill>
          </a:ln>
        </p:spPr>
        <p:txBody>
          <a:bodyPr wrap="square" lIns="1016" tIns="1016" rIns="1016" bIns="1016" rtlCol="0" anchor="ctr">
            <a:normAutofit/>
          </a:bodyPr>
          <a:lstStyle/>
          <a:p>
            <a:pPr algn="l" indent="0" marL="0">
              <a:buNone/>
            </a:pPr>
            <a:r>
              <a:rPr lang="en-US" sz="1150" dirty="0">
                <a:solidFill>
                  <a:srgbClr val="0B132B"/>
                </a:solidFill>
                <a:latin typeface="Aptos" pitchFamily="34" charset="0"/>
                <a:ea typeface="Aptos" pitchFamily="34" charset="-122"/>
                <a:cs typeface="Aptos" pitchFamily="34" charset="-120"/>
              </a:rPr>
              <a:t>Dominant insight</a:t>
            </a:r>
            <a:endParaRPr lang="en-US" sz="1150" dirty="0"/>
          </a:p>
          <a:p>
            <a:pPr algn="l" indent="0" marL="0">
              <a:buNone/>
            </a:pPr>
            <a:r>
              <a:rPr lang="en-US" sz="1150" dirty="0">
                <a:solidFill>
                  <a:srgbClr val="0B132B"/>
                </a:solidFill>
                <a:latin typeface="Aptos" pitchFamily="34" charset="0"/>
                <a:ea typeface="Aptos" pitchFamily="34" charset="-122"/>
                <a:cs typeface="Aptos" pitchFamily="34" charset="-120"/>
              </a:rPr>
              <a:t>Not one scalar acceleration bug: failures came from queue dynamics, brake strength, gate routing, and late hazard exposure.</a:t>
            </a:r>
            <a:endParaRPr lang="en-US" sz="1150" dirty="0"/>
          </a:p>
        </p:txBody>
      </p:sp>
      <p:sp>
        <p:nvSpPr>
          <p:cNvPr id="30" name="Text 28"/>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The taxonomy is diagnostic-only; counts come from a specific 90-seed diagnosis bank.</a:t>
            </a:r>
            <a:endParaRPr lang="en-US" sz="7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RESULTS / NON-PROMOTION</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V5.1 PPO attempts: improved collisions, failed promotion</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19</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Every candidate failed at least one required gate or retention comparison, so V5 remained production.</a:t>
            </a:r>
            <a:endParaRPr lang="en-US" sz="1230" dirty="0"/>
          </a:p>
        </p:txBody>
      </p:sp>
      <p:sp>
        <p:nvSpPr>
          <p:cNvPr id="7" name="Text 5"/>
          <p:cNvSpPr/>
          <p:nvPr/>
        </p:nvSpPr>
        <p:spPr>
          <a:xfrm>
            <a:off x="594360" y="1325880"/>
            <a:ext cx="5440680" cy="4572000"/>
          </a:xfrm>
          <a:prstGeom prst="rect">
            <a:avLst/>
          </a:prstGeom>
          <a:noFill/>
          <a:ln/>
        </p:spPr>
        <p:txBody>
          <a:bodyPr wrap="square" lIns="1016" tIns="1016" rIns="1016" bIns="1016" rtlCol="0" anchor="t">
            <a:normAutofit/>
          </a:bodyPr>
          <a:lstStyle/>
          <a:p>
            <a:pPr indent="0" marL="0">
              <a:buNone/>
            </a:pPr>
            <a:r>
              <a:rPr lang="en-US" sz="1380" dirty="0">
                <a:solidFill>
                  <a:srgbClr val="0B132B"/>
                </a:solidFill>
                <a:latin typeface="Aptos" pitchFamily="34" charset="0"/>
                <a:ea typeface="Aptos" pitchFamily="34" charset="-122"/>
                <a:cs typeface="Aptos" pitchFamily="34" charset="-120"/>
              </a:rPr>
              <a:t>• [REJECTED_CANDIDATE] Stage 3B-2A ran four mandatory-PPO candidates through 10,240 steps from immutable V5.</a:t>
            </a:r>
            <a:endParaRPr lang="en-US" sz="1380" dirty="0"/>
          </a:p>
          <a:p>
            <a:pPr indent="0" marL="0">
              <a:buNone/>
            </a:pPr>
            <a:r>
              <a:rPr lang="en-US" sz="1380" dirty="0">
                <a:solidFill>
                  <a:srgbClr val="0B132B"/>
                </a:solidFill>
                <a:latin typeface="Aptos" pitchFamily="34" charset="0"/>
                <a:ea typeface="Aptos" pitchFamily="34" charset="-122"/>
                <a:cs typeface="Aptos" pitchFamily="34" charset="-120"/>
              </a:rPr>
              <a:t>• [REJECTED_CANDIDATE] Stress collision events improved from 0.694% to 0.417% in probes.</a:t>
            </a:r>
            <a:endParaRPr lang="en-US" sz="1380" dirty="0"/>
          </a:p>
          <a:p>
            <a:pPr indent="0" marL="0">
              <a:buNone/>
            </a:pPr>
            <a:r>
              <a:rPr lang="en-US" sz="1380" dirty="0">
                <a:solidFill>
                  <a:srgbClr val="0B132B"/>
                </a:solidFill>
                <a:latin typeface="Aptos" pitchFamily="34" charset="0"/>
                <a:ea typeface="Aptos" pitchFamily="34" charset="-122"/>
                <a:cs typeface="Aptos" pitchFamily="34" charset="-120"/>
              </a:rPr>
              <a:t>• [REJECTED_CANDIDATE] Other violations rose to 3.19–3.33%, exceeding the 3% gate.</a:t>
            </a:r>
            <a:endParaRPr lang="en-US" sz="1380" dirty="0"/>
          </a:p>
          <a:p>
            <a:pPr indent="0" marL="0">
              <a:buNone/>
            </a:pPr>
            <a:r>
              <a:rPr lang="en-US" sz="1380" dirty="0">
                <a:solidFill>
                  <a:srgbClr val="0B132B"/>
                </a:solidFill>
                <a:latin typeface="Aptos" pitchFamily="34" charset="0"/>
                <a:ea typeface="Aptos" pitchFamily="34" charset="-122"/>
                <a:cs typeface="Aptos" pitchFamily="34" charset="-120"/>
              </a:rPr>
              <a:t>• [REJECTED_CANDIDATE] Balanced 40,960-step run and PPO-only fallback still failed stress or left/pedestrian retention.</a:t>
            </a:r>
            <a:endParaRPr lang="en-US" sz="1380" dirty="0"/>
          </a:p>
          <a:p>
            <a:pPr indent="0" marL="0">
              <a:buNone/>
            </a:pPr>
            <a:r>
              <a:rPr lang="en-US" sz="1380" dirty="0">
                <a:solidFill>
                  <a:srgbClr val="0B132B"/>
                </a:solidFill>
                <a:latin typeface="Aptos" pitchFamily="34" charset="0"/>
                <a:ea typeface="Aptos" pitchFamily="34" charset="-122"/>
                <a:cs typeface="Aptos" pitchFamily="34" charset="-120"/>
              </a:rPr>
              <a:t>• [INCONCLUSIVE] Final reserved bank was not run.</a:t>
            </a:r>
            <a:endParaRPr lang="en-US" sz="1380" dirty="0"/>
          </a:p>
        </p:txBody>
      </p:sp>
      <p:sp>
        <p:nvSpPr>
          <p:cNvPr id="8" name="Text 6"/>
          <p:cNvSpPr/>
          <p:nvPr/>
        </p:nvSpPr>
        <p:spPr>
          <a:xfrm>
            <a:off x="6400800" y="1051560"/>
            <a:ext cx="960120" cy="438912"/>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50" b="1" dirty="0">
                <a:solidFill>
                  <a:srgbClr val="FFFFFF"/>
                </a:solidFill>
                <a:latin typeface="Aptos" pitchFamily="34" charset="0"/>
                <a:ea typeface="Aptos" pitchFamily="34" charset="-122"/>
                <a:cs typeface="Aptos" pitchFamily="34" charset="-120"/>
              </a:rPr>
              <a:t>Candidate</a:t>
            </a:r>
            <a:endParaRPr lang="en-US" sz="750" dirty="0"/>
          </a:p>
        </p:txBody>
      </p:sp>
      <p:sp>
        <p:nvSpPr>
          <p:cNvPr id="9" name="Text 7"/>
          <p:cNvSpPr/>
          <p:nvPr/>
        </p:nvSpPr>
        <p:spPr>
          <a:xfrm>
            <a:off x="7360920" y="1051560"/>
            <a:ext cx="777240" cy="438912"/>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50" b="1" dirty="0">
                <a:solidFill>
                  <a:srgbClr val="FFFFFF"/>
                </a:solidFill>
                <a:latin typeface="Aptos" pitchFamily="34" charset="0"/>
                <a:ea typeface="Aptos" pitchFamily="34" charset="-122"/>
                <a:cs typeface="Aptos" pitchFamily="34" charset="-120"/>
              </a:rPr>
              <a:t>Stress comp.</a:t>
            </a:r>
            <a:endParaRPr lang="en-US" sz="750" dirty="0"/>
          </a:p>
        </p:txBody>
      </p:sp>
      <p:sp>
        <p:nvSpPr>
          <p:cNvPr id="10" name="Text 8"/>
          <p:cNvSpPr/>
          <p:nvPr/>
        </p:nvSpPr>
        <p:spPr>
          <a:xfrm>
            <a:off x="8138160" y="1051560"/>
            <a:ext cx="685800" cy="438912"/>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50" b="1" dirty="0">
                <a:solidFill>
                  <a:srgbClr val="FFFFFF"/>
                </a:solidFill>
                <a:latin typeface="Aptos" pitchFamily="34" charset="0"/>
                <a:ea typeface="Aptos" pitchFamily="34" charset="-122"/>
                <a:cs typeface="Aptos" pitchFamily="34" charset="-120"/>
              </a:rPr>
              <a:t>Coll.</a:t>
            </a:r>
            <a:endParaRPr lang="en-US" sz="750" dirty="0"/>
          </a:p>
        </p:txBody>
      </p:sp>
      <p:sp>
        <p:nvSpPr>
          <p:cNvPr id="11" name="Text 9"/>
          <p:cNvSpPr/>
          <p:nvPr/>
        </p:nvSpPr>
        <p:spPr>
          <a:xfrm>
            <a:off x="8823960" y="1051560"/>
            <a:ext cx="731520" cy="438912"/>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50" b="1" dirty="0">
                <a:solidFill>
                  <a:srgbClr val="FFFFFF"/>
                </a:solidFill>
                <a:latin typeface="Aptos" pitchFamily="34" charset="0"/>
                <a:ea typeface="Aptos" pitchFamily="34" charset="-122"/>
                <a:cs typeface="Aptos" pitchFamily="34" charset="-120"/>
              </a:rPr>
              <a:t>Involved</a:t>
            </a:r>
            <a:endParaRPr lang="en-US" sz="750" dirty="0"/>
          </a:p>
        </p:txBody>
      </p:sp>
      <p:sp>
        <p:nvSpPr>
          <p:cNvPr id="12" name="Text 10"/>
          <p:cNvSpPr/>
          <p:nvPr/>
        </p:nvSpPr>
        <p:spPr>
          <a:xfrm>
            <a:off x="9555480" y="1051560"/>
            <a:ext cx="685800" cy="438912"/>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50" b="1" dirty="0">
                <a:solidFill>
                  <a:srgbClr val="FFFFFF"/>
                </a:solidFill>
                <a:latin typeface="Aptos" pitchFamily="34" charset="0"/>
                <a:ea typeface="Aptos" pitchFamily="34" charset="-122"/>
                <a:cs typeface="Aptos" pitchFamily="34" charset="-120"/>
              </a:rPr>
              <a:t>Other</a:t>
            </a:r>
            <a:endParaRPr lang="en-US" sz="750" dirty="0"/>
          </a:p>
        </p:txBody>
      </p:sp>
      <p:sp>
        <p:nvSpPr>
          <p:cNvPr id="13" name="Text 11"/>
          <p:cNvSpPr/>
          <p:nvPr/>
        </p:nvSpPr>
        <p:spPr>
          <a:xfrm>
            <a:off x="10241280" y="1051560"/>
            <a:ext cx="685800" cy="438912"/>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50" b="1" dirty="0">
                <a:solidFill>
                  <a:srgbClr val="FFFFFF"/>
                </a:solidFill>
                <a:latin typeface="Aptos" pitchFamily="34" charset="0"/>
                <a:ea typeface="Aptos" pitchFamily="34" charset="-122"/>
                <a:cs typeface="Aptos" pitchFamily="34" charset="-120"/>
              </a:rPr>
              <a:t>Decision</a:t>
            </a:r>
            <a:endParaRPr lang="en-US" sz="750" dirty="0"/>
          </a:p>
        </p:txBody>
      </p:sp>
      <p:sp>
        <p:nvSpPr>
          <p:cNvPr id="14" name="Text 12"/>
          <p:cNvSpPr/>
          <p:nvPr/>
        </p:nvSpPr>
        <p:spPr>
          <a:xfrm>
            <a:off x="6400800" y="1490472"/>
            <a:ext cx="96012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V5 baseline</a:t>
            </a:r>
            <a:endParaRPr lang="en-US" sz="750" dirty="0"/>
          </a:p>
        </p:txBody>
      </p:sp>
      <p:sp>
        <p:nvSpPr>
          <p:cNvPr id="15" name="Text 13"/>
          <p:cNvSpPr/>
          <p:nvPr/>
        </p:nvSpPr>
        <p:spPr>
          <a:xfrm>
            <a:off x="7360920" y="1490472"/>
            <a:ext cx="77724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94.17%</a:t>
            </a:r>
            <a:endParaRPr lang="en-US" sz="750" dirty="0"/>
          </a:p>
        </p:txBody>
      </p:sp>
      <p:sp>
        <p:nvSpPr>
          <p:cNvPr id="16" name="Text 14"/>
          <p:cNvSpPr/>
          <p:nvPr/>
        </p:nvSpPr>
        <p:spPr>
          <a:xfrm>
            <a:off x="8138160" y="1490472"/>
            <a:ext cx="68580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0.694%</a:t>
            </a:r>
            <a:endParaRPr lang="en-US" sz="750" dirty="0"/>
          </a:p>
        </p:txBody>
      </p:sp>
      <p:sp>
        <p:nvSpPr>
          <p:cNvPr id="17" name="Text 15"/>
          <p:cNvSpPr/>
          <p:nvPr/>
        </p:nvSpPr>
        <p:spPr>
          <a:xfrm>
            <a:off x="8823960" y="1490472"/>
            <a:ext cx="73152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1.389%</a:t>
            </a:r>
            <a:endParaRPr lang="en-US" sz="750" dirty="0"/>
          </a:p>
        </p:txBody>
      </p:sp>
      <p:sp>
        <p:nvSpPr>
          <p:cNvPr id="18" name="Text 16"/>
          <p:cNvSpPr/>
          <p:nvPr/>
        </p:nvSpPr>
        <p:spPr>
          <a:xfrm>
            <a:off x="9555480" y="1490472"/>
            <a:ext cx="68580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2.917%</a:t>
            </a:r>
            <a:endParaRPr lang="en-US" sz="750" dirty="0"/>
          </a:p>
        </p:txBody>
      </p:sp>
      <p:sp>
        <p:nvSpPr>
          <p:cNvPr id="19" name="Text 17"/>
          <p:cNvSpPr/>
          <p:nvPr/>
        </p:nvSpPr>
        <p:spPr>
          <a:xfrm>
            <a:off x="10241280" y="1490472"/>
            <a:ext cx="68580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pass</a:t>
            </a:r>
            <a:endParaRPr lang="en-US" sz="750" dirty="0"/>
          </a:p>
        </p:txBody>
      </p:sp>
      <p:sp>
        <p:nvSpPr>
          <p:cNvPr id="20" name="Text 18"/>
          <p:cNvSpPr/>
          <p:nvPr/>
        </p:nvSpPr>
        <p:spPr>
          <a:xfrm>
            <a:off x="6400800" y="1929384"/>
            <a:ext cx="96012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2,560</a:t>
            </a:r>
            <a:endParaRPr lang="en-US" sz="750" dirty="0"/>
          </a:p>
        </p:txBody>
      </p:sp>
      <p:sp>
        <p:nvSpPr>
          <p:cNvPr id="21" name="Text 19"/>
          <p:cNvSpPr/>
          <p:nvPr/>
        </p:nvSpPr>
        <p:spPr>
          <a:xfrm>
            <a:off x="7360920" y="1929384"/>
            <a:ext cx="77724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94.31%</a:t>
            </a:r>
            <a:endParaRPr lang="en-US" sz="750" dirty="0"/>
          </a:p>
        </p:txBody>
      </p:sp>
      <p:sp>
        <p:nvSpPr>
          <p:cNvPr id="22" name="Text 20"/>
          <p:cNvSpPr/>
          <p:nvPr/>
        </p:nvSpPr>
        <p:spPr>
          <a:xfrm>
            <a:off x="8138160" y="1929384"/>
            <a:ext cx="68580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0.417%</a:t>
            </a:r>
            <a:endParaRPr lang="en-US" sz="750" dirty="0"/>
          </a:p>
        </p:txBody>
      </p:sp>
      <p:sp>
        <p:nvSpPr>
          <p:cNvPr id="23" name="Text 21"/>
          <p:cNvSpPr/>
          <p:nvPr/>
        </p:nvSpPr>
        <p:spPr>
          <a:xfrm>
            <a:off x="8823960" y="1929384"/>
            <a:ext cx="73152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0.833%</a:t>
            </a:r>
            <a:endParaRPr lang="en-US" sz="750" dirty="0"/>
          </a:p>
        </p:txBody>
      </p:sp>
      <p:sp>
        <p:nvSpPr>
          <p:cNvPr id="24" name="Text 22"/>
          <p:cNvSpPr/>
          <p:nvPr/>
        </p:nvSpPr>
        <p:spPr>
          <a:xfrm>
            <a:off x="9555480" y="1929384"/>
            <a:ext cx="68580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3.194%</a:t>
            </a:r>
            <a:endParaRPr lang="en-US" sz="750" dirty="0"/>
          </a:p>
        </p:txBody>
      </p:sp>
      <p:sp>
        <p:nvSpPr>
          <p:cNvPr id="25" name="Text 23"/>
          <p:cNvSpPr/>
          <p:nvPr/>
        </p:nvSpPr>
        <p:spPr>
          <a:xfrm>
            <a:off x="10241280" y="1929384"/>
            <a:ext cx="685800" cy="438912"/>
          </a:xfrm>
          <a:prstGeom prst="rect">
            <a:avLst/>
          </a:prstGeom>
          <a:solidFill>
            <a:srgbClr val="FEF2F2"/>
          </a:solidFill>
          <a:ln w="12700">
            <a:solidFill>
              <a:srgbClr val="E2E8F0"/>
            </a:solidFill>
          </a:ln>
        </p:spPr>
        <p:txBody>
          <a:bodyPr wrap="square" lIns="508" tIns="508" rIns="508" bIns="508" rtlCol="0" anchor="ctr">
            <a:normAutofit/>
          </a:bodyPr>
          <a:lstStyle/>
          <a:p>
            <a:pPr algn="ctr" indent="0" marL="0">
              <a:buNone/>
            </a:pPr>
            <a:r>
              <a:rPr lang="en-US" sz="750" dirty="0">
                <a:solidFill>
                  <a:srgbClr val="DC2626"/>
                </a:solidFill>
                <a:latin typeface="Aptos" pitchFamily="34" charset="0"/>
                <a:ea typeface="Aptos" pitchFamily="34" charset="-122"/>
                <a:cs typeface="Aptos" pitchFamily="34" charset="-120"/>
              </a:rPr>
              <a:t>reject</a:t>
            </a:r>
            <a:endParaRPr lang="en-US" sz="750" dirty="0"/>
          </a:p>
        </p:txBody>
      </p:sp>
      <p:sp>
        <p:nvSpPr>
          <p:cNvPr id="26" name="Text 24"/>
          <p:cNvSpPr/>
          <p:nvPr/>
        </p:nvSpPr>
        <p:spPr>
          <a:xfrm>
            <a:off x="6400800" y="2368296"/>
            <a:ext cx="96012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5,120</a:t>
            </a:r>
            <a:endParaRPr lang="en-US" sz="750" dirty="0"/>
          </a:p>
        </p:txBody>
      </p:sp>
      <p:sp>
        <p:nvSpPr>
          <p:cNvPr id="27" name="Text 25"/>
          <p:cNvSpPr/>
          <p:nvPr/>
        </p:nvSpPr>
        <p:spPr>
          <a:xfrm>
            <a:off x="7360920" y="2368296"/>
            <a:ext cx="77724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94.31%</a:t>
            </a:r>
            <a:endParaRPr lang="en-US" sz="750" dirty="0"/>
          </a:p>
        </p:txBody>
      </p:sp>
      <p:sp>
        <p:nvSpPr>
          <p:cNvPr id="28" name="Text 26"/>
          <p:cNvSpPr/>
          <p:nvPr/>
        </p:nvSpPr>
        <p:spPr>
          <a:xfrm>
            <a:off x="8138160" y="2368296"/>
            <a:ext cx="68580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0.417%</a:t>
            </a:r>
            <a:endParaRPr lang="en-US" sz="750" dirty="0"/>
          </a:p>
        </p:txBody>
      </p:sp>
      <p:sp>
        <p:nvSpPr>
          <p:cNvPr id="29" name="Text 27"/>
          <p:cNvSpPr/>
          <p:nvPr/>
        </p:nvSpPr>
        <p:spPr>
          <a:xfrm>
            <a:off x="8823960" y="2368296"/>
            <a:ext cx="73152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0.833%</a:t>
            </a:r>
            <a:endParaRPr lang="en-US" sz="750" dirty="0"/>
          </a:p>
        </p:txBody>
      </p:sp>
      <p:sp>
        <p:nvSpPr>
          <p:cNvPr id="30" name="Text 28"/>
          <p:cNvSpPr/>
          <p:nvPr/>
        </p:nvSpPr>
        <p:spPr>
          <a:xfrm>
            <a:off x="9555480" y="2368296"/>
            <a:ext cx="68580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3.333%</a:t>
            </a:r>
            <a:endParaRPr lang="en-US" sz="750" dirty="0"/>
          </a:p>
        </p:txBody>
      </p:sp>
      <p:sp>
        <p:nvSpPr>
          <p:cNvPr id="31" name="Text 29"/>
          <p:cNvSpPr/>
          <p:nvPr/>
        </p:nvSpPr>
        <p:spPr>
          <a:xfrm>
            <a:off x="10241280" y="2368296"/>
            <a:ext cx="685800" cy="438912"/>
          </a:xfrm>
          <a:prstGeom prst="rect">
            <a:avLst/>
          </a:prstGeom>
          <a:solidFill>
            <a:srgbClr val="FEF2F2"/>
          </a:solidFill>
          <a:ln w="12700">
            <a:solidFill>
              <a:srgbClr val="E2E8F0"/>
            </a:solidFill>
          </a:ln>
        </p:spPr>
        <p:txBody>
          <a:bodyPr wrap="square" lIns="508" tIns="508" rIns="508" bIns="508" rtlCol="0" anchor="ctr">
            <a:normAutofit/>
          </a:bodyPr>
          <a:lstStyle/>
          <a:p>
            <a:pPr algn="ctr" indent="0" marL="0">
              <a:buNone/>
            </a:pPr>
            <a:r>
              <a:rPr lang="en-US" sz="750" dirty="0">
                <a:solidFill>
                  <a:srgbClr val="DC2626"/>
                </a:solidFill>
                <a:latin typeface="Aptos" pitchFamily="34" charset="0"/>
                <a:ea typeface="Aptos" pitchFamily="34" charset="-122"/>
                <a:cs typeface="Aptos" pitchFamily="34" charset="-120"/>
              </a:rPr>
              <a:t>reject</a:t>
            </a:r>
            <a:endParaRPr lang="en-US" sz="750" dirty="0"/>
          </a:p>
        </p:txBody>
      </p:sp>
      <p:sp>
        <p:nvSpPr>
          <p:cNvPr id="32" name="Text 30"/>
          <p:cNvSpPr/>
          <p:nvPr/>
        </p:nvSpPr>
        <p:spPr>
          <a:xfrm>
            <a:off x="6400800" y="2807208"/>
            <a:ext cx="96012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10,240</a:t>
            </a:r>
            <a:endParaRPr lang="en-US" sz="750" dirty="0"/>
          </a:p>
        </p:txBody>
      </p:sp>
      <p:sp>
        <p:nvSpPr>
          <p:cNvPr id="33" name="Text 31"/>
          <p:cNvSpPr/>
          <p:nvPr/>
        </p:nvSpPr>
        <p:spPr>
          <a:xfrm>
            <a:off x="7360920" y="2807208"/>
            <a:ext cx="77724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94.03%</a:t>
            </a:r>
            <a:endParaRPr lang="en-US" sz="750" dirty="0"/>
          </a:p>
        </p:txBody>
      </p:sp>
      <p:sp>
        <p:nvSpPr>
          <p:cNvPr id="34" name="Text 32"/>
          <p:cNvSpPr/>
          <p:nvPr/>
        </p:nvSpPr>
        <p:spPr>
          <a:xfrm>
            <a:off x="8138160" y="2807208"/>
            <a:ext cx="68580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0.417%</a:t>
            </a:r>
            <a:endParaRPr lang="en-US" sz="750" dirty="0"/>
          </a:p>
        </p:txBody>
      </p:sp>
      <p:sp>
        <p:nvSpPr>
          <p:cNvPr id="35" name="Text 33"/>
          <p:cNvSpPr/>
          <p:nvPr/>
        </p:nvSpPr>
        <p:spPr>
          <a:xfrm>
            <a:off x="8823960" y="2807208"/>
            <a:ext cx="73152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0.833%</a:t>
            </a:r>
            <a:endParaRPr lang="en-US" sz="750" dirty="0"/>
          </a:p>
        </p:txBody>
      </p:sp>
      <p:sp>
        <p:nvSpPr>
          <p:cNvPr id="36" name="Text 34"/>
          <p:cNvSpPr/>
          <p:nvPr/>
        </p:nvSpPr>
        <p:spPr>
          <a:xfrm>
            <a:off x="9555480" y="2807208"/>
            <a:ext cx="685800" cy="4389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50" dirty="0">
                <a:solidFill>
                  <a:srgbClr val="0B132B"/>
                </a:solidFill>
                <a:latin typeface="Aptos" pitchFamily="34" charset="0"/>
                <a:ea typeface="Aptos" pitchFamily="34" charset="-122"/>
                <a:cs typeface="Aptos" pitchFamily="34" charset="-120"/>
              </a:rPr>
              <a:t>3.333%</a:t>
            </a:r>
            <a:endParaRPr lang="en-US" sz="750" dirty="0"/>
          </a:p>
        </p:txBody>
      </p:sp>
      <p:sp>
        <p:nvSpPr>
          <p:cNvPr id="37" name="Text 35"/>
          <p:cNvSpPr/>
          <p:nvPr/>
        </p:nvSpPr>
        <p:spPr>
          <a:xfrm>
            <a:off x="10241280" y="2807208"/>
            <a:ext cx="685800" cy="438912"/>
          </a:xfrm>
          <a:prstGeom prst="rect">
            <a:avLst/>
          </a:prstGeom>
          <a:solidFill>
            <a:srgbClr val="FEF2F2"/>
          </a:solidFill>
          <a:ln w="12700">
            <a:solidFill>
              <a:srgbClr val="E2E8F0"/>
            </a:solidFill>
          </a:ln>
        </p:spPr>
        <p:txBody>
          <a:bodyPr wrap="square" lIns="508" tIns="508" rIns="508" bIns="508" rtlCol="0" anchor="ctr">
            <a:normAutofit/>
          </a:bodyPr>
          <a:lstStyle/>
          <a:p>
            <a:pPr algn="ctr" indent="0" marL="0">
              <a:buNone/>
            </a:pPr>
            <a:r>
              <a:rPr lang="en-US" sz="750" dirty="0">
                <a:solidFill>
                  <a:srgbClr val="DC2626"/>
                </a:solidFill>
                <a:latin typeface="Aptos" pitchFamily="34" charset="0"/>
                <a:ea typeface="Aptos" pitchFamily="34" charset="-122"/>
                <a:cs typeface="Aptos" pitchFamily="34" charset="-120"/>
              </a:rPr>
              <a:t>reject</a:t>
            </a:r>
            <a:endParaRPr lang="en-US" sz="750" dirty="0"/>
          </a:p>
        </p:txBody>
      </p:sp>
      <p:sp>
        <p:nvSpPr>
          <p:cNvPr id="38" name="Text 36"/>
          <p:cNvSpPr/>
          <p:nvPr/>
        </p:nvSpPr>
        <p:spPr>
          <a:xfrm>
            <a:off x="7360920" y="3657600"/>
            <a:ext cx="274320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720" b="1" dirty="0">
                <a:solidFill>
                  <a:srgbClr val="FFFFFF"/>
                </a:solidFill>
              </a:rPr>
              <a:t>NO V5.1 CHECKPOINT PROMOTED</a:t>
            </a:r>
            <a:endParaRPr lang="en-US" sz="720" dirty="0"/>
          </a:p>
        </p:txBody>
      </p:sp>
      <p:sp>
        <p:nvSpPr>
          <p:cNvPr id="39" name="Text 37"/>
          <p:cNvSpPr/>
          <p:nvPr/>
        </p:nvSpPr>
        <p:spPr>
          <a:xfrm>
            <a:off x="6583680" y="4297680"/>
            <a:ext cx="4206240" cy="960120"/>
          </a:xfrm>
          <a:prstGeom prst="rect">
            <a:avLst/>
          </a:prstGeom>
          <a:solidFill>
            <a:srgbClr val="FFF7ED"/>
          </a:solidFill>
          <a:ln w="12700">
            <a:solidFill>
              <a:srgbClr val="FED7AA"/>
            </a:solidFill>
          </a:ln>
        </p:spPr>
        <p:txBody>
          <a:bodyPr wrap="square" lIns="1016" tIns="1016" rIns="1016" bIns="1016" rtlCol="0" anchor="ctr">
            <a:normAutofit/>
          </a:bodyPr>
          <a:lstStyle/>
          <a:p>
            <a:pPr algn="l" indent="0" marL="0">
              <a:buNone/>
            </a:pPr>
            <a:r>
              <a:rPr lang="en-US" sz="1250" dirty="0">
                <a:solidFill>
                  <a:srgbClr val="0B132B"/>
                </a:solidFill>
                <a:latin typeface="Aptos" pitchFamily="34" charset="0"/>
                <a:ea typeface="Aptos" pitchFamily="34" charset="-122"/>
                <a:cs typeface="Aptos" pitchFamily="34" charset="-120"/>
              </a:rPr>
              <a:t>Non-promotion rationale</a:t>
            </a:r>
            <a:endParaRPr lang="en-US" sz="1250" dirty="0"/>
          </a:p>
          <a:p>
            <a:pPr algn="l" indent="0" marL="0">
              <a:buNone/>
            </a:pPr>
            <a:r>
              <a:rPr lang="en-US" sz="1250" dirty="0">
                <a:solidFill>
                  <a:srgbClr val="0B132B"/>
                </a:solidFill>
                <a:latin typeface="Aptos" pitchFamily="34" charset="0"/>
                <a:ea typeface="Aptos" pitchFamily="34" charset="-122"/>
                <a:cs typeface="Aptos" pitchFamily="34" charset="-120"/>
              </a:rPr>
              <a:t>Safety category regression matters more than isolated collision-column improvement.</a:t>
            </a:r>
            <a:endParaRPr lang="en-US" sz="1250" dirty="0"/>
          </a:p>
        </p:txBody>
      </p:sp>
      <p:sp>
        <p:nvSpPr>
          <p:cNvPr id="40" name="Text 38"/>
          <p:cNvSpPr/>
          <p:nvPr/>
        </p:nvSpPr>
        <p:spPr>
          <a:xfrm>
            <a:off x="7178040" y="5577840"/>
            <a:ext cx="3017520" cy="502920"/>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1200" b="1" dirty="0">
                <a:solidFill>
                  <a:srgbClr val="0B132B"/>
                </a:solidFill>
                <a:latin typeface="Aptos" pitchFamily="34" charset="0"/>
                <a:ea typeface="Aptos" pitchFamily="34" charset="-122"/>
                <a:cs typeface="Aptos" pitchFamily="34" charset="-120"/>
              </a:rPr>
              <a:t>Final bank status</a:t>
            </a:r>
            <a:endParaRPr lang="en-US" sz="1200" dirty="0"/>
          </a:p>
          <a:p>
            <a:pPr algn="ctr" indent="0" marL="0">
              <a:buNone/>
            </a:pPr>
            <a:r>
              <a:rPr lang="en-US" sz="1200" b="1" dirty="0">
                <a:solidFill>
                  <a:srgbClr val="0B132B"/>
                </a:solidFill>
                <a:latin typeface="Aptos" pitchFamily="34" charset="0"/>
                <a:ea typeface="Aptos" pitchFamily="34" charset="-122"/>
                <a:cs typeface="Aptos" pitchFamily="34" charset="-120"/>
              </a:rPr>
              <a:t>Not run because earlier gates failed.</a:t>
            </a:r>
            <a:endParaRPr lang="en-US" sz="1200" dirty="0"/>
          </a:p>
        </p:txBody>
      </p:sp>
      <p:sp>
        <p:nvSpPr>
          <p:cNvPr id="41" name="Text 39"/>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Negative result framed as retention discipline: no promotion when any required category regresses.</a:t>
            </a:r>
            <a:endParaRPr lang="en-US" sz="76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LANE / MERGE INFRASTRUCTURE</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LaneSegment topology and merge infrastructure</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20</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The lateral branch first solved geometry and topology ownership before attempting learning.</a:t>
            </a:r>
            <a:endParaRPr lang="en-US" sz="1230" dirty="0"/>
          </a:p>
        </p:txBody>
      </p:sp>
      <p:sp>
        <p:nvSpPr>
          <p:cNvPr id="7" name="Text 5"/>
          <p:cNvSpPr/>
          <p:nvPr/>
        </p:nvSpPr>
        <p:spPr>
          <a:xfrm>
            <a:off x="594360" y="1325880"/>
            <a:ext cx="5394960" cy="4389120"/>
          </a:xfrm>
          <a:prstGeom prst="rect">
            <a:avLst/>
          </a:prstGeom>
          <a:noFill/>
          <a:ln/>
        </p:spPr>
        <p:txBody>
          <a:bodyPr wrap="square" lIns="1016" tIns="1016" rIns="1016" bIns="1016" rtlCol="0" anchor="t">
            <a:normAutofit/>
          </a:bodyPr>
          <a:lstStyle/>
          <a:p>
            <a:pPr indent="0" marL="0">
              <a:buNone/>
            </a:pPr>
            <a:r>
              <a:rPr lang="en-US" sz="1440" dirty="0">
                <a:solidFill>
                  <a:srgbClr val="0B132B"/>
                </a:solidFill>
                <a:latin typeface="Aptos" pitchFamily="34" charset="0"/>
                <a:ea typeface="Aptos" pitchFamily="34" charset="-122"/>
                <a:cs typeface="Aptos" pitchFamily="34" charset="-120"/>
              </a:rPr>
              <a:t>• [IMPLEMENTED_AND_TESTED] Stable LaneSegment IDs, predecessor/successor graph, continuous station.</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[IMPLEMENTED_AND_TESTED] Station-dependent adjacency supports lane births, terminations, and partial neighbor availability.</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[SCRIPTED_ONLY] Smooth adjacent-only trajectory provides bounded lateral motion, commitment, and abort semantics.</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[IMPLEMENTED_AND_TESTED] Isolated Track B did not replace production V5 fixed-path topology.</a:t>
            </a:r>
            <a:endParaRPr lang="en-US" sz="1440" dirty="0"/>
          </a:p>
        </p:txBody>
      </p:sp>
      <p:sp>
        <p:nvSpPr>
          <p:cNvPr id="8" name="Text 6"/>
          <p:cNvSpPr/>
          <p:nvPr/>
        </p:nvSpPr>
        <p:spPr>
          <a:xfrm>
            <a:off x="6537960" y="1325880"/>
            <a:ext cx="4389120" cy="32004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Station-dependent adjacency</a:t>
            </a:r>
            <a:endParaRPr lang="en-US" sz="1200" dirty="0"/>
          </a:p>
        </p:txBody>
      </p:sp>
      <p:sp>
        <p:nvSpPr>
          <p:cNvPr id="9" name="Shape 7"/>
          <p:cNvSpPr/>
          <p:nvPr/>
        </p:nvSpPr>
        <p:spPr>
          <a:xfrm>
            <a:off x="6583680" y="2331720"/>
            <a:ext cx="4023360" cy="0"/>
          </a:xfrm>
          <a:prstGeom prst="line">
            <a:avLst/>
          </a:prstGeom>
          <a:noFill/>
          <a:ln w="50800">
            <a:solidFill>
              <a:srgbClr val="CBD5E1"/>
            </a:solidFill>
            <a:prstDash val="solid"/>
          </a:ln>
        </p:spPr>
      </p:sp>
      <p:sp>
        <p:nvSpPr>
          <p:cNvPr id="10" name="Text 8"/>
          <p:cNvSpPr/>
          <p:nvPr/>
        </p:nvSpPr>
        <p:spPr>
          <a:xfrm>
            <a:off x="6309360" y="2249424"/>
            <a:ext cx="228600" cy="164592"/>
          </a:xfrm>
          <a:prstGeom prst="rect">
            <a:avLst/>
          </a:prstGeom>
          <a:noFill/>
          <a:ln/>
        </p:spPr>
        <p:txBody>
          <a:bodyPr wrap="square" lIns="0" tIns="0" rIns="0" bIns="0" rtlCol="0" anchor="ctr"/>
          <a:lstStyle/>
          <a:p>
            <a:pPr indent="0" marL="0">
              <a:buNone/>
            </a:pPr>
            <a:r>
              <a:rPr lang="en-US" sz="750" dirty="0">
                <a:solidFill>
                  <a:srgbClr val="475569"/>
                </a:solidFill>
              </a:rPr>
              <a:t>T1</a:t>
            </a:r>
            <a:endParaRPr lang="en-US" sz="750" dirty="0"/>
          </a:p>
        </p:txBody>
      </p:sp>
      <p:sp>
        <p:nvSpPr>
          <p:cNvPr id="11" name="Shape 9"/>
          <p:cNvSpPr/>
          <p:nvPr/>
        </p:nvSpPr>
        <p:spPr>
          <a:xfrm>
            <a:off x="6583680" y="2743200"/>
            <a:ext cx="4023360" cy="0"/>
          </a:xfrm>
          <a:prstGeom prst="line">
            <a:avLst/>
          </a:prstGeom>
          <a:noFill/>
          <a:ln w="50800">
            <a:solidFill>
              <a:srgbClr val="CBD5E1"/>
            </a:solidFill>
            <a:prstDash val="solid"/>
          </a:ln>
        </p:spPr>
      </p:sp>
      <p:sp>
        <p:nvSpPr>
          <p:cNvPr id="12" name="Text 10"/>
          <p:cNvSpPr/>
          <p:nvPr/>
        </p:nvSpPr>
        <p:spPr>
          <a:xfrm>
            <a:off x="6309360" y="2660904"/>
            <a:ext cx="228600" cy="164592"/>
          </a:xfrm>
          <a:prstGeom prst="rect">
            <a:avLst/>
          </a:prstGeom>
          <a:noFill/>
          <a:ln/>
        </p:spPr>
        <p:txBody>
          <a:bodyPr wrap="square" lIns="0" tIns="0" rIns="0" bIns="0" rtlCol="0" anchor="ctr"/>
          <a:lstStyle/>
          <a:p>
            <a:pPr indent="0" marL="0">
              <a:buNone/>
            </a:pPr>
            <a:r>
              <a:rPr lang="en-US" sz="750" dirty="0">
                <a:solidFill>
                  <a:srgbClr val="475569"/>
                </a:solidFill>
              </a:rPr>
              <a:t>T2</a:t>
            </a:r>
            <a:endParaRPr lang="en-US" sz="750" dirty="0"/>
          </a:p>
        </p:txBody>
      </p:sp>
      <p:sp>
        <p:nvSpPr>
          <p:cNvPr id="13" name="Shape 11"/>
          <p:cNvSpPr/>
          <p:nvPr/>
        </p:nvSpPr>
        <p:spPr>
          <a:xfrm>
            <a:off x="6583680" y="3154680"/>
            <a:ext cx="4023360" cy="0"/>
          </a:xfrm>
          <a:prstGeom prst="line">
            <a:avLst/>
          </a:prstGeom>
          <a:noFill/>
          <a:ln w="50800">
            <a:solidFill>
              <a:srgbClr val="CBD5E1"/>
            </a:solidFill>
            <a:prstDash val="solid"/>
          </a:ln>
        </p:spPr>
      </p:sp>
      <p:sp>
        <p:nvSpPr>
          <p:cNvPr id="14" name="Text 12"/>
          <p:cNvSpPr/>
          <p:nvPr/>
        </p:nvSpPr>
        <p:spPr>
          <a:xfrm>
            <a:off x="6309360" y="3072384"/>
            <a:ext cx="228600" cy="164592"/>
          </a:xfrm>
          <a:prstGeom prst="rect">
            <a:avLst/>
          </a:prstGeom>
          <a:noFill/>
          <a:ln/>
        </p:spPr>
        <p:txBody>
          <a:bodyPr wrap="square" lIns="0" tIns="0" rIns="0" bIns="0" rtlCol="0" anchor="ctr"/>
          <a:lstStyle/>
          <a:p>
            <a:pPr indent="0" marL="0">
              <a:buNone/>
            </a:pPr>
            <a:r>
              <a:rPr lang="en-US" sz="750" dirty="0">
                <a:solidFill>
                  <a:srgbClr val="475569"/>
                </a:solidFill>
              </a:rPr>
              <a:t>T3</a:t>
            </a:r>
            <a:endParaRPr lang="en-US" sz="750" dirty="0"/>
          </a:p>
        </p:txBody>
      </p:sp>
      <p:sp>
        <p:nvSpPr>
          <p:cNvPr id="15" name="Shape 13"/>
          <p:cNvSpPr/>
          <p:nvPr/>
        </p:nvSpPr>
        <p:spPr>
          <a:xfrm>
            <a:off x="6583680" y="3566160"/>
            <a:ext cx="4023360" cy="0"/>
          </a:xfrm>
          <a:prstGeom prst="line">
            <a:avLst/>
          </a:prstGeom>
          <a:noFill/>
          <a:ln w="50800">
            <a:solidFill>
              <a:srgbClr val="CBD5E1"/>
            </a:solidFill>
            <a:prstDash val="solid"/>
          </a:ln>
        </p:spPr>
      </p:sp>
      <p:sp>
        <p:nvSpPr>
          <p:cNvPr id="16" name="Text 14"/>
          <p:cNvSpPr/>
          <p:nvPr/>
        </p:nvSpPr>
        <p:spPr>
          <a:xfrm>
            <a:off x="6309360" y="3483864"/>
            <a:ext cx="228600" cy="164592"/>
          </a:xfrm>
          <a:prstGeom prst="rect">
            <a:avLst/>
          </a:prstGeom>
          <a:noFill/>
          <a:ln/>
        </p:spPr>
        <p:txBody>
          <a:bodyPr wrap="square" lIns="0" tIns="0" rIns="0" bIns="0" rtlCol="0" anchor="ctr"/>
          <a:lstStyle/>
          <a:p>
            <a:pPr indent="0" marL="0">
              <a:buNone/>
            </a:pPr>
            <a:r>
              <a:rPr lang="en-US" sz="750" dirty="0">
                <a:solidFill>
                  <a:srgbClr val="475569"/>
                </a:solidFill>
              </a:rPr>
              <a:t>T4</a:t>
            </a:r>
            <a:endParaRPr lang="en-US" sz="750" dirty="0"/>
          </a:p>
        </p:txBody>
      </p:sp>
      <p:sp>
        <p:nvSpPr>
          <p:cNvPr id="17" name="Shape 15"/>
          <p:cNvSpPr/>
          <p:nvPr/>
        </p:nvSpPr>
        <p:spPr>
          <a:xfrm>
            <a:off x="6583680" y="1920240"/>
            <a:ext cx="2468880" cy="0"/>
          </a:xfrm>
          <a:prstGeom prst="line">
            <a:avLst/>
          </a:prstGeom>
          <a:noFill/>
          <a:ln w="50800">
            <a:solidFill>
              <a:srgbClr val="CBD5E1"/>
            </a:solidFill>
            <a:prstDash val="solid"/>
          </a:ln>
        </p:spPr>
      </p:sp>
      <p:sp>
        <p:nvSpPr>
          <p:cNvPr id="18" name="Shape 16"/>
          <p:cNvSpPr/>
          <p:nvPr/>
        </p:nvSpPr>
        <p:spPr>
          <a:xfrm>
            <a:off x="9052560" y="1920240"/>
            <a:ext cx="502920" cy="411480"/>
          </a:xfrm>
          <a:prstGeom prst="line">
            <a:avLst/>
          </a:prstGeom>
          <a:noFill/>
          <a:ln w="50800">
            <a:solidFill>
              <a:srgbClr val="CBD5E1"/>
            </a:solidFill>
            <a:prstDash val="solid"/>
            <a:headEnd type="none"/>
            <a:tailEnd type="triangle"/>
          </a:ln>
        </p:spPr>
      </p:sp>
      <p:sp>
        <p:nvSpPr>
          <p:cNvPr id="19" name="Text 17"/>
          <p:cNvSpPr/>
          <p:nvPr/>
        </p:nvSpPr>
        <p:spPr>
          <a:xfrm>
            <a:off x="7223760" y="1764792"/>
            <a:ext cx="1188720" cy="164592"/>
          </a:xfrm>
          <a:prstGeom prst="rect">
            <a:avLst/>
          </a:prstGeom>
          <a:noFill/>
          <a:ln/>
        </p:spPr>
        <p:txBody>
          <a:bodyPr wrap="square" lIns="0" tIns="0" rIns="0" bIns="0" rtlCol="0" anchor="ctr"/>
          <a:lstStyle/>
          <a:p>
            <a:pPr algn="ctr" indent="0" marL="0">
              <a:buNone/>
            </a:pPr>
            <a:r>
              <a:rPr lang="en-US" sz="780" dirty="0">
                <a:solidFill>
                  <a:srgbClr val="F97316"/>
                </a:solidFill>
              </a:rPr>
              <a:t>merge lane ends</a:t>
            </a:r>
            <a:endParaRPr lang="en-US" sz="780" dirty="0"/>
          </a:p>
        </p:txBody>
      </p:sp>
      <p:sp>
        <p:nvSpPr>
          <p:cNvPr id="20" name="Shape 18"/>
          <p:cNvSpPr/>
          <p:nvPr/>
        </p:nvSpPr>
        <p:spPr>
          <a:xfrm>
            <a:off x="7589520" y="2734056"/>
            <a:ext cx="0" cy="-347472"/>
          </a:xfrm>
          <a:prstGeom prst="line">
            <a:avLst/>
          </a:prstGeom>
          <a:noFill/>
          <a:ln w="15240">
            <a:solidFill>
              <a:srgbClr val="1D4ED8"/>
            </a:solidFill>
            <a:prstDash val="solid"/>
            <a:headEnd type="none"/>
            <a:tailEnd type="triangle"/>
          </a:ln>
        </p:spPr>
      </p:sp>
      <p:sp>
        <p:nvSpPr>
          <p:cNvPr id="21" name="Shape 19"/>
          <p:cNvSpPr/>
          <p:nvPr/>
        </p:nvSpPr>
        <p:spPr>
          <a:xfrm>
            <a:off x="9509760" y="2734056"/>
            <a:ext cx="0" cy="-347472"/>
          </a:xfrm>
          <a:prstGeom prst="line">
            <a:avLst/>
          </a:prstGeom>
          <a:noFill/>
          <a:ln w="15240">
            <a:solidFill>
              <a:srgbClr val="059669"/>
            </a:solidFill>
            <a:prstDash val="solid"/>
            <a:headEnd type="none"/>
            <a:tailEnd type="triangle"/>
          </a:ln>
        </p:spPr>
      </p:sp>
      <p:sp>
        <p:nvSpPr>
          <p:cNvPr id="22" name="Text 20"/>
          <p:cNvSpPr/>
          <p:nvPr/>
        </p:nvSpPr>
        <p:spPr>
          <a:xfrm>
            <a:off x="7132320" y="4251960"/>
            <a:ext cx="3017520" cy="164592"/>
          </a:xfrm>
          <a:prstGeom prst="rect">
            <a:avLst/>
          </a:prstGeom>
          <a:noFill/>
          <a:ln/>
        </p:spPr>
        <p:txBody>
          <a:bodyPr wrap="square" lIns="0" tIns="0" rIns="0" bIns="0" rtlCol="0" anchor="ctr"/>
          <a:lstStyle/>
          <a:p>
            <a:pPr algn="ctr" indent="0" marL="0">
              <a:buNone/>
            </a:pPr>
            <a:r>
              <a:rPr lang="en-US" sz="850" dirty="0">
                <a:solidFill>
                  <a:srgbClr val="475569"/>
                </a:solidFill>
              </a:rPr>
              <a:t>valid adjacency interval</a:t>
            </a:r>
            <a:endParaRPr lang="en-US" sz="850" dirty="0"/>
          </a:p>
        </p:txBody>
      </p:sp>
      <p:sp>
        <p:nvSpPr>
          <p:cNvPr id="23" name="Text 21"/>
          <p:cNvSpPr/>
          <p:nvPr/>
        </p:nvSpPr>
        <p:spPr>
          <a:xfrm>
            <a:off x="6537960" y="5212080"/>
            <a:ext cx="749808" cy="182880"/>
          </a:xfrm>
          <a:prstGeom prst="rect">
            <a:avLst/>
          </a:prstGeom>
          <a:solidFill>
            <a:srgbClr val="0F766E"/>
          </a:solidFill>
          <a:ln>
            <a:solidFill>
              <a:srgbClr val="0F766E">
                <a:alpha val="0"/>
              </a:srgbClr>
            </a:solidFill>
          </a:ln>
        </p:spPr>
        <p:txBody>
          <a:bodyPr wrap="square" lIns="445" tIns="445" rIns="445" bIns="445" rtlCol="0" anchor="ctr"/>
          <a:lstStyle/>
          <a:p>
            <a:pPr algn="ctr" indent="0" marL="0">
              <a:buNone/>
            </a:pPr>
            <a:r>
              <a:rPr lang="en-US" sz="520" b="1" dirty="0">
                <a:solidFill>
                  <a:srgbClr val="FFFFFF"/>
                </a:solidFill>
              </a:rPr>
              <a:t>stable IDs</a:t>
            </a:r>
            <a:endParaRPr lang="en-US" sz="520" dirty="0"/>
          </a:p>
        </p:txBody>
      </p:sp>
      <p:sp>
        <p:nvSpPr>
          <p:cNvPr id="24" name="Text 22"/>
          <p:cNvSpPr/>
          <p:nvPr/>
        </p:nvSpPr>
        <p:spPr>
          <a:xfrm>
            <a:off x="7406640" y="5212080"/>
            <a:ext cx="749808" cy="182880"/>
          </a:xfrm>
          <a:prstGeom prst="rect">
            <a:avLst/>
          </a:prstGeom>
          <a:solidFill>
            <a:srgbClr val="0F766E"/>
          </a:solidFill>
          <a:ln>
            <a:solidFill>
              <a:srgbClr val="0F766E">
                <a:alpha val="0"/>
              </a:srgbClr>
            </a:solidFill>
          </a:ln>
        </p:spPr>
        <p:txBody>
          <a:bodyPr wrap="square" lIns="445" tIns="445" rIns="445" bIns="445" rtlCol="0" anchor="ctr"/>
          <a:lstStyle/>
          <a:p>
            <a:pPr algn="ctr" indent="0" marL="0">
              <a:buNone/>
            </a:pPr>
            <a:r>
              <a:rPr lang="en-US" sz="520" b="1" dirty="0">
                <a:solidFill>
                  <a:srgbClr val="FFFFFF"/>
                </a:solidFill>
              </a:rPr>
              <a:t>local adjacency</a:t>
            </a:r>
            <a:endParaRPr lang="en-US" sz="520" dirty="0"/>
          </a:p>
        </p:txBody>
      </p:sp>
      <p:sp>
        <p:nvSpPr>
          <p:cNvPr id="25" name="Text 23"/>
          <p:cNvSpPr/>
          <p:nvPr/>
        </p:nvSpPr>
        <p:spPr>
          <a:xfrm>
            <a:off x="8275320" y="5212080"/>
            <a:ext cx="749808" cy="182880"/>
          </a:xfrm>
          <a:prstGeom prst="rect">
            <a:avLst/>
          </a:prstGeom>
          <a:solidFill>
            <a:srgbClr val="0F766E"/>
          </a:solidFill>
          <a:ln>
            <a:solidFill>
              <a:srgbClr val="0F766E">
                <a:alpha val="0"/>
              </a:srgbClr>
            </a:solidFill>
          </a:ln>
        </p:spPr>
        <p:txBody>
          <a:bodyPr wrap="square" lIns="445" tIns="445" rIns="445" bIns="445" rtlCol="0" anchor="ctr"/>
          <a:lstStyle/>
          <a:p>
            <a:pPr algn="ctr" indent="0" marL="0">
              <a:buNone/>
            </a:pPr>
            <a:r>
              <a:rPr lang="en-US" sz="520" b="1" dirty="0">
                <a:solidFill>
                  <a:srgbClr val="FFFFFF"/>
                </a:solidFill>
              </a:rPr>
              <a:t>birth/end</a:t>
            </a:r>
            <a:endParaRPr lang="en-US" sz="520" dirty="0"/>
          </a:p>
        </p:txBody>
      </p:sp>
      <p:sp>
        <p:nvSpPr>
          <p:cNvPr id="26" name="Text 24"/>
          <p:cNvSpPr/>
          <p:nvPr/>
        </p:nvSpPr>
        <p:spPr>
          <a:xfrm>
            <a:off x="9144000" y="5212080"/>
            <a:ext cx="749808" cy="182880"/>
          </a:xfrm>
          <a:prstGeom prst="rect">
            <a:avLst/>
          </a:prstGeom>
          <a:solidFill>
            <a:srgbClr val="0F766E"/>
          </a:solidFill>
          <a:ln>
            <a:solidFill>
              <a:srgbClr val="0F766E">
                <a:alpha val="0"/>
              </a:srgbClr>
            </a:solidFill>
          </a:ln>
        </p:spPr>
        <p:txBody>
          <a:bodyPr wrap="square" lIns="445" tIns="445" rIns="445" bIns="445" rtlCol="0" anchor="ctr"/>
          <a:lstStyle/>
          <a:p>
            <a:pPr algn="ctr" indent="0" marL="0">
              <a:buNone/>
            </a:pPr>
            <a:r>
              <a:rPr lang="en-US" sz="520" b="1" dirty="0">
                <a:solidFill>
                  <a:srgbClr val="FFFFFF"/>
                </a:solidFill>
              </a:rPr>
              <a:t>commit/abort</a:t>
            </a:r>
            <a:endParaRPr lang="en-US" sz="520" dirty="0"/>
          </a:p>
        </p:txBody>
      </p:sp>
      <p:sp>
        <p:nvSpPr>
          <p:cNvPr id="27" name="Text 25"/>
          <p:cNvSpPr/>
          <p:nvPr/>
        </p:nvSpPr>
        <p:spPr>
          <a:xfrm>
            <a:off x="10012680" y="5212080"/>
            <a:ext cx="749808" cy="182880"/>
          </a:xfrm>
          <a:prstGeom prst="rect">
            <a:avLst/>
          </a:prstGeom>
          <a:solidFill>
            <a:srgbClr val="0F766E"/>
          </a:solidFill>
          <a:ln>
            <a:solidFill>
              <a:srgbClr val="0F766E">
                <a:alpha val="0"/>
              </a:srgbClr>
            </a:solidFill>
          </a:ln>
        </p:spPr>
        <p:txBody>
          <a:bodyPr wrap="square" lIns="445" tIns="445" rIns="445" bIns="445" rtlCol="0" anchor="ctr"/>
          <a:lstStyle/>
          <a:p>
            <a:pPr algn="ctr" indent="0" marL="0">
              <a:buNone/>
            </a:pPr>
            <a:r>
              <a:rPr lang="en-US" sz="520" b="1" dirty="0">
                <a:solidFill>
                  <a:srgbClr val="FFFFFF"/>
                </a:solidFill>
              </a:rPr>
              <a:t>polygon collision</a:t>
            </a:r>
            <a:endParaRPr lang="en-US" sz="520" dirty="0"/>
          </a:p>
        </p:txBody>
      </p:sp>
      <p:sp>
        <p:nvSpPr>
          <p:cNvPr id="28" name="Text 26"/>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The trajectory layer executes smooth lateral motion; the policy decision was later moved to V6 lane intent.</a:t>
            </a:r>
            <a:endParaRPr lang="en-US" sz="76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LANE / MERGE INFRASTRUCTURE</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Merge and left-turn-pocket infrastructure: scripted validation only</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21</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Scripted demos validated geometry, not learned lane choice.</a:t>
            </a:r>
            <a:endParaRPr lang="en-US" sz="1230" dirty="0"/>
          </a:p>
        </p:txBody>
      </p:sp>
      <p:sp>
        <p:nvSpPr>
          <p:cNvPr id="7" name="Text 5"/>
          <p:cNvSpPr/>
          <p:nvPr/>
        </p:nvSpPr>
        <p:spPr>
          <a:xfrm>
            <a:off x="594360" y="1325880"/>
            <a:ext cx="5440680" cy="4389120"/>
          </a:xfrm>
          <a:prstGeom prst="rect">
            <a:avLst/>
          </a:prstGeom>
          <a:noFill/>
          <a:ln/>
        </p:spPr>
        <p:txBody>
          <a:bodyPr wrap="square" lIns="1016" tIns="1016" rIns="1016" bIns="1016" rtlCol="0" anchor="t">
            <a:normAutofit/>
          </a:bodyPr>
          <a:lstStyle/>
          <a:p>
            <a:pPr indent="0" marL="0">
              <a:buNone/>
            </a:pPr>
            <a:r>
              <a:rPr lang="en-US" sz="1440" dirty="0">
                <a:solidFill>
                  <a:srgbClr val="0B132B"/>
                </a:solidFill>
                <a:latin typeface="Aptos" pitchFamily="34" charset="0"/>
                <a:ea typeface="Aptos" pitchFamily="34" charset="-122"/>
                <a:cs typeface="Aptos" pitchFamily="34" charset="-120"/>
              </a:rPr>
              <a:t>• [SCRIPTED_ONLY] Merge oracle demo completed in 4.44 s with final lateral offset 3.60 m.</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[SCRIPTED_ONLY] Peak lateral acceleration 1.0635 m/s²; peak lateral jerk 2.5 m/s³; 14 lane tests passed.</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[SCRIPTED_ONLY] Left-turn pocket defines T3 → T2 → T1 → LP and connector to receiving lane.</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[SCRIPTED_ONLY] No pocket PPO ran; scripted merge and pocket routes are not learned behavior.</a:t>
            </a:r>
            <a:endParaRPr lang="en-US" sz="1440" dirty="0"/>
          </a:p>
        </p:txBody>
      </p:sp>
      <p:sp>
        <p:nvSpPr>
          <p:cNvPr id="8" name="Text 6"/>
          <p:cNvSpPr/>
          <p:nvPr/>
        </p:nvSpPr>
        <p:spPr>
          <a:xfrm>
            <a:off x="6446520" y="1051560"/>
            <a:ext cx="2057400" cy="32004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150" b="1" dirty="0">
                <a:solidFill>
                  <a:srgbClr val="FFFFFF"/>
                </a:solidFill>
                <a:latin typeface="Aptos" pitchFamily="34" charset="0"/>
                <a:ea typeface="Aptos" pitchFamily="34" charset="-122"/>
                <a:cs typeface="Aptos" pitchFamily="34" charset="-120"/>
              </a:rPr>
              <a:t>Scripted merge metrics</a:t>
            </a:r>
            <a:endParaRPr lang="en-US" sz="1150" dirty="0"/>
          </a:p>
        </p:txBody>
      </p:sp>
      <p:sp>
        <p:nvSpPr>
          <p:cNvPr id="9" name="Text 7"/>
          <p:cNvSpPr/>
          <p:nvPr/>
        </p:nvSpPr>
        <p:spPr>
          <a:xfrm>
            <a:off x="6446520" y="1554480"/>
            <a:ext cx="960120" cy="329184"/>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80" b="1" dirty="0">
                <a:solidFill>
                  <a:srgbClr val="FFFFFF"/>
                </a:solidFill>
                <a:latin typeface="Aptos" pitchFamily="34" charset="0"/>
                <a:ea typeface="Aptos" pitchFamily="34" charset="-122"/>
                <a:cs typeface="Aptos" pitchFamily="34" charset="-120"/>
              </a:rPr>
              <a:t>Metric</a:t>
            </a:r>
            <a:endParaRPr lang="en-US" sz="780" dirty="0"/>
          </a:p>
        </p:txBody>
      </p:sp>
      <p:sp>
        <p:nvSpPr>
          <p:cNvPr id="10" name="Text 8"/>
          <p:cNvSpPr/>
          <p:nvPr/>
        </p:nvSpPr>
        <p:spPr>
          <a:xfrm>
            <a:off x="7406640" y="1554480"/>
            <a:ext cx="1097280" cy="329184"/>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80" b="1" dirty="0">
                <a:solidFill>
                  <a:srgbClr val="FFFFFF"/>
                </a:solidFill>
                <a:latin typeface="Aptos" pitchFamily="34" charset="0"/>
                <a:ea typeface="Aptos" pitchFamily="34" charset="-122"/>
                <a:cs typeface="Aptos" pitchFamily="34" charset="-120"/>
              </a:rPr>
              <a:t>Value</a:t>
            </a:r>
            <a:endParaRPr lang="en-US" sz="780" dirty="0"/>
          </a:p>
        </p:txBody>
      </p:sp>
      <p:sp>
        <p:nvSpPr>
          <p:cNvPr id="11" name="Text 9"/>
          <p:cNvSpPr/>
          <p:nvPr/>
        </p:nvSpPr>
        <p:spPr>
          <a:xfrm>
            <a:off x="6446520" y="1883664"/>
            <a:ext cx="960120" cy="32918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Duration</a:t>
            </a:r>
            <a:endParaRPr lang="en-US" sz="780" dirty="0"/>
          </a:p>
        </p:txBody>
      </p:sp>
      <p:sp>
        <p:nvSpPr>
          <p:cNvPr id="12" name="Text 10"/>
          <p:cNvSpPr/>
          <p:nvPr/>
        </p:nvSpPr>
        <p:spPr>
          <a:xfrm>
            <a:off x="7406640" y="1883664"/>
            <a:ext cx="1097280" cy="32918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4.44 s</a:t>
            </a:r>
            <a:endParaRPr lang="en-US" sz="780" dirty="0"/>
          </a:p>
        </p:txBody>
      </p:sp>
      <p:sp>
        <p:nvSpPr>
          <p:cNvPr id="13" name="Text 11"/>
          <p:cNvSpPr/>
          <p:nvPr/>
        </p:nvSpPr>
        <p:spPr>
          <a:xfrm>
            <a:off x="6446520" y="2212848"/>
            <a:ext cx="960120" cy="32918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Offset</a:t>
            </a:r>
            <a:endParaRPr lang="en-US" sz="780" dirty="0"/>
          </a:p>
        </p:txBody>
      </p:sp>
      <p:sp>
        <p:nvSpPr>
          <p:cNvPr id="14" name="Text 12"/>
          <p:cNvSpPr/>
          <p:nvPr/>
        </p:nvSpPr>
        <p:spPr>
          <a:xfrm>
            <a:off x="7406640" y="2212848"/>
            <a:ext cx="1097280" cy="32918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3.60 m</a:t>
            </a:r>
            <a:endParaRPr lang="en-US" sz="780" dirty="0"/>
          </a:p>
        </p:txBody>
      </p:sp>
      <p:sp>
        <p:nvSpPr>
          <p:cNvPr id="15" name="Text 13"/>
          <p:cNvSpPr/>
          <p:nvPr/>
        </p:nvSpPr>
        <p:spPr>
          <a:xfrm>
            <a:off x="6446520" y="2542032"/>
            <a:ext cx="960120" cy="32918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Lat accel</a:t>
            </a:r>
            <a:endParaRPr lang="en-US" sz="780" dirty="0"/>
          </a:p>
        </p:txBody>
      </p:sp>
      <p:sp>
        <p:nvSpPr>
          <p:cNvPr id="16" name="Text 14"/>
          <p:cNvSpPr/>
          <p:nvPr/>
        </p:nvSpPr>
        <p:spPr>
          <a:xfrm>
            <a:off x="7406640" y="2542032"/>
            <a:ext cx="1097280" cy="32918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1.0635 m/s²</a:t>
            </a:r>
            <a:endParaRPr lang="en-US" sz="780" dirty="0"/>
          </a:p>
        </p:txBody>
      </p:sp>
      <p:sp>
        <p:nvSpPr>
          <p:cNvPr id="17" name="Text 15"/>
          <p:cNvSpPr/>
          <p:nvPr/>
        </p:nvSpPr>
        <p:spPr>
          <a:xfrm>
            <a:off x="6446520" y="2871216"/>
            <a:ext cx="960120" cy="32918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Lat jerk</a:t>
            </a:r>
            <a:endParaRPr lang="en-US" sz="780" dirty="0"/>
          </a:p>
        </p:txBody>
      </p:sp>
      <p:sp>
        <p:nvSpPr>
          <p:cNvPr id="18" name="Text 16"/>
          <p:cNvSpPr/>
          <p:nvPr/>
        </p:nvSpPr>
        <p:spPr>
          <a:xfrm>
            <a:off x="7406640" y="2871216"/>
            <a:ext cx="1097280" cy="32918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2.5 m/s³</a:t>
            </a:r>
            <a:endParaRPr lang="en-US" sz="780" dirty="0"/>
          </a:p>
        </p:txBody>
      </p:sp>
      <p:sp>
        <p:nvSpPr>
          <p:cNvPr id="19" name="Text 17"/>
          <p:cNvSpPr/>
          <p:nvPr/>
        </p:nvSpPr>
        <p:spPr>
          <a:xfrm>
            <a:off x="6446520" y="3200400"/>
            <a:ext cx="960120" cy="32918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Learned?</a:t>
            </a:r>
            <a:endParaRPr lang="en-US" sz="780" dirty="0"/>
          </a:p>
        </p:txBody>
      </p:sp>
      <p:sp>
        <p:nvSpPr>
          <p:cNvPr id="20" name="Text 18"/>
          <p:cNvSpPr/>
          <p:nvPr/>
        </p:nvSpPr>
        <p:spPr>
          <a:xfrm>
            <a:off x="7406640" y="3200400"/>
            <a:ext cx="1097280" cy="329184"/>
          </a:xfrm>
          <a:prstGeom prst="rect">
            <a:avLst/>
          </a:prstGeom>
          <a:solidFill>
            <a:srgbClr val="FEF2F2"/>
          </a:solidFill>
          <a:ln w="12700">
            <a:solidFill>
              <a:srgbClr val="E2E8F0"/>
            </a:solidFill>
          </a:ln>
        </p:spPr>
        <p:txBody>
          <a:bodyPr wrap="square" lIns="508" tIns="508" rIns="508" bIns="508" rtlCol="0" anchor="ctr">
            <a:normAutofit/>
          </a:bodyPr>
          <a:lstStyle/>
          <a:p>
            <a:pPr algn="ctr" indent="0" marL="0">
              <a:buNone/>
            </a:pPr>
            <a:r>
              <a:rPr lang="en-US" sz="780" dirty="0">
                <a:solidFill>
                  <a:srgbClr val="DC2626"/>
                </a:solidFill>
                <a:latin typeface="Aptos" pitchFamily="34" charset="0"/>
                <a:ea typeface="Aptos" pitchFamily="34" charset="-122"/>
                <a:cs typeface="Aptos" pitchFamily="34" charset="-120"/>
              </a:rPr>
              <a:t>false</a:t>
            </a:r>
            <a:endParaRPr lang="en-US" sz="780" dirty="0"/>
          </a:p>
        </p:txBody>
      </p:sp>
      <p:sp>
        <p:nvSpPr>
          <p:cNvPr id="21" name="Text 19"/>
          <p:cNvSpPr/>
          <p:nvPr/>
        </p:nvSpPr>
        <p:spPr>
          <a:xfrm>
            <a:off x="9189720" y="1051560"/>
            <a:ext cx="2560320" cy="32004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150" b="1" dirty="0">
                <a:solidFill>
                  <a:srgbClr val="FFFFFF"/>
                </a:solidFill>
                <a:latin typeface="Aptos" pitchFamily="34" charset="0"/>
                <a:ea typeface="Aptos" pitchFamily="34" charset="-122"/>
                <a:cs typeface="Aptos" pitchFamily="34" charset="-120"/>
              </a:rPr>
              <a:t>Left-turn pocket topology</a:t>
            </a:r>
            <a:endParaRPr lang="en-US" sz="1150" dirty="0"/>
          </a:p>
        </p:txBody>
      </p:sp>
      <p:sp>
        <p:nvSpPr>
          <p:cNvPr id="22" name="Shape 20"/>
          <p:cNvSpPr/>
          <p:nvPr/>
        </p:nvSpPr>
        <p:spPr>
          <a:xfrm>
            <a:off x="9281160" y="1737360"/>
            <a:ext cx="2194560" cy="0"/>
          </a:xfrm>
          <a:prstGeom prst="line">
            <a:avLst/>
          </a:prstGeom>
          <a:noFill/>
          <a:ln w="50800">
            <a:solidFill>
              <a:srgbClr val="CBD5E1"/>
            </a:solidFill>
            <a:prstDash val="solid"/>
          </a:ln>
        </p:spPr>
      </p:sp>
      <p:sp>
        <p:nvSpPr>
          <p:cNvPr id="23" name="Text 21"/>
          <p:cNvSpPr/>
          <p:nvPr/>
        </p:nvSpPr>
        <p:spPr>
          <a:xfrm>
            <a:off x="8961120" y="1664208"/>
            <a:ext cx="228600" cy="146304"/>
          </a:xfrm>
          <a:prstGeom prst="rect">
            <a:avLst/>
          </a:prstGeom>
          <a:noFill/>
          <a:ln/>
        </p:spPr>
        <p:txBody>
          <a:bodyPr wrap="square" lIns="0" tIns="0" rIns="0" bIns="0" rtlCol="0" anchor="ctr"/>
          <a:lstStyle/>
          <a:p>
            <a:pPr indent="0" marL="0">
              <a:buNone/>
            </a:pPr>
            <a:r>
              <a:rPr lang="en-US" sz="750" dirty="0">
                <a:solidFill>
                  <a:srgbClr val="475569"/>
                </a:solidFill>
              </a:rPr>
              <a:t>T4</a:t>
            </a:r>
            <a:endParaRPr lang="en-US" sz="750" dirty="0"/>
          </a:p>
        </p:txBody>
      </p:sp>
      <p:sp>
        <p:nvSpPr>
          <p:cNvPr id="24" name="Shape 22"/>
          <p:cNvSpPr/>
          <p:nvPr/>
        </p:nvSpPr>
        <p:spPr>
          <a:xfrm>
            <a:off x="9281160" y="2148840"/>
            <a:ext cx="2194560" cy="0"/>
          </a:xfrm>
          <a:prstGeom prst="line">
            <a:avLst/>
          </a:prstGeom>
          <a:noFill/>
          <a:ln w="50800">
            <a:solidFill>
              <a:srgbClr val="CBD5E1"/>
            </a:solidFill>
            <a:prstDash val="solid"/>
          </a:ln>
        </p:spPr>
      </p:sp>
      <p:sp>
        <p:nvSpPr>
          <p:cNvPr id="25" name="Text 23"/>
          <p:cNvSpPr/>
          <p:nvPr/>
        </p:nvSpPr>
        <p:spPr>
          <a:xfrm>
            <a:off x="8961120" y="2075688"/>
            <a:ext cx="228600" cy="146304"/>
          </a:xfrm>
          <a:prstGeom prst="rect">
            <a:avLst/>
          </a:prstGeom>
          <a:noFill/>
          <a:ln/>
        </p:spPr>
        <p:txBody>
          <a:bodyPr wrap="square" lIns="0" tIns="0" rIns="0" bIns="0" rtlCol="0" anchor="ctr"/>
          <a:lstStyle/>
          <a:p>
            <a:pPr indent="0" marL="0">
              <a:buNone/>
            </a:pPr>
            <a:r>
              <a:rPr lang="en-US" sz="750" dirty="0">
                <a:solidFill>
                  <a:srgbClr val="475569"/>
                </a:solidFill>
              </a:rPr>
              <a:t>T3</a:t>
            </a:r>
            <a:endParaRPr lang="en-US" sz="750" dirty="0"/>
          </a:p>
        </p:txBody>
      </p:sp>
      <p:sp>
        <p:nvSpPr>
          <p:cNvPr id="26" name="Shape 24"/>
          <p:cNvSpPr/>
          <p:nvPr/>
        </p:nvSpPr>
        <p:spPr>
          <a:xfrm>
            <a:off x="9281160" y="2560320"/>
            <a:ext cx="2194560" cy="0"/>
          </a:xfrm>
          <a:prstGeom prst="line">
            <a:avLst/>
          </a:prstGeom>
          <a:noFill/>
          <a:ln w="50800">
            <a:solidFill>
              <a:srgbClr val="CBD5E1"/>
            </a:solidFill>
            <a:prstDash val="solid"/>
          </a:ln>
        </p:spPr>
      </p:sp>
      <p:sp>
        <p:nvSpPr>
          <p:cNvPr id="27" name="Text 25"/>
          <p:cNvSpPr/>
          <p:nvPr/>
        </p:nvSpPr>
        <p:spPr>
          <a:xfrm>
            <a:off x="8961120" y="2487168"/>
            <a:ext cx="228600" cy="146304"/>
          </a:xfrm>
          <a:prstGeom prst="rect">
            <a:avLst/>
          </a:prstGeom>
          <a:noFill/>
          <a:ln/>
        </p:spPr>
        <p:txBody>
          <a:bodyPr wrap="square" lIns="0" tIns="0" rIns="0" bIns="0" rtlCol="0" anchor="ctr"/>
          <a:lstStyle/>
          <a:p>
            <a:pPr indent="0" marL="0">
              <a:buNone/>
            </a:pPr>
            <a:r>
              <a:rPr lang="en-US" sz="750" dirty="0">
                <a:solidFill>
                  <a:srgbClr val="475569"/>
                </a:solidFill>
              </a:rPr>
              <a:t>T2</a:t>
            </a:r>
            <a:endParaRPr lang="en-US" sz="750" dirty="0"/>
          </a:p>
        </p:txBody>
      </p:sp>
      <p:sp>
        <p:nvSpPr>
          <p:cNvPr id="28" name="Shape 26"/>
          <p:cNvSpPr/>
          <p:nvPr/>
        </p:nvSpPr>
        <p:spPr>
          <a:xfrm>
            <a:off x="9281160" y="2971800"/>
            <a:ext cx="2194560" cy="0"/>
          </a:xfrm>
          <a:prstGeom prst="line">
            <a:avLst/>
          </a:prstGeom>
          <a:noFill/>
          <a:ln w="50800">
            <a:solidFill>
              <a:srgbClr val="CBD5E1"/>
            </a:solidFill>
            <a:prstDash val="solid"/>
          </a:ln>
        </p:spPr>
      </p:sp>
      <p:sp>
        <p:nvSpPr>
          <p:cNvPr id="29" name="Text 27"/>
          <p:cNvSpPr/>
          <p:nvPr/>
        </p:nvSpPr>
        <p:spPr>
          <a:xfrm>
            <a:off x="8961120" y="2898648"/>
            <a:ext cx="228600" cy="146304"/>
          </a:xfrm>
          <a:prstGeom prst="rect">
            <a:avLst/>
          </a:prstGeom>
          <a:noFill/>
          <a:ln/>
        </p:spPr>
        <p:txBody>
          <a:bodyPr wrap="square" lIns="0" tIns="0" rIns="0" bIns="0" rtlCol="0" anchor="ctr"/>
          <a:lstStyle/>
          <a:p>
            <a:pPr indent="0" marL="0">
              <a:buNone/>
            </a:pPr>
            <a:r>
              <a:rPr lang="en-US" sz="750" dirty="0">
                <a:solidFill>
                  <a:srgbClr val="475569"/>
                </a:solidFill>
              </a:rPr>
              <a:t>T1</a:t>
            </a:r>
            <a:endParaRPr lang="en-US" sz="750" dirty="0"/>
          </a:p>
        </p:txBody>
      </p:sp>
      <p:sp>
        <p:nvSpPr>
          <p:cNvPr id="30" name="Shape 28"/>
          <p:cNvSpPr/>
          <p:nvPr/>
        </p:nvSpPr>
        <p:spPr>
          <a:xfrm>
            <a:off x="10378440" y="3383280"/>
            <a:ext cx="1097280" cy="0"/>
          </a:xfrm>
          <a:prstGeom prst="line">
            <a:avLst/>
          </a:prstGeom>
          <a:noFill/>
          <a:ln w="50800">
            <a:solidFill>
              <a:srgbClr val="F97316"/>
            </a:solidFill>
            <a:prstDash val="solid"/>
          </a:ln>
        </p:spPr>
      </p:sp>
      <p:sp>
        <p:nvSpPr>
          <p:cNvPr id="31" name="Text 29"/>
          <p:cNvSpPr/>
          <p:nvPr/>
        </p:nvSpPr>
        <p:spPr>
          <a:xfrm>
            <a:off x="10149840" y="3310128"/>
            <a:ext cx="228600" cy="146304"/>
          </a:xfrm>
          <a:prstGeom prst="rect">
            <a:avLst/>
          </a:prstGeom>
          <a:noFill/>
          <a:ln/>
        </p:spPr>
        <p:txBody>
          <a:bodyPr wrap="square" lIns="0" tIns="0" rIns="0" bIns="0" rtlCol="0" anchor="ctr"/>
          <a:lstStyle/>
          <a:p>
            <a:pPr indent="0" marL="0">
              <a:buNone/>
            </a:pPr>
            <a:r>
              <a:rPr lang="en-US" sz="750" dirty="0">
                <a:solidFill>
                  <a:srgbClr val="F97316"/>
                </a:solidFill>
              </a:rPr>
              <a:t>LP</a:t>
            </a:r>
            <a:endParaRPr lang="en-US" sz="750" dirty="0"/>
          </a:p>
        </p:txBody>
      </p:sp>
      <p:sp>
        <p:nvSpPr>
          <p:cNvPr id="32" name="Shape 30"/>
          <p:cNvSpPr/>
          <p:nvPr/>
        </p:nvSpPr>
        <p:spPr>
          <a:xfrm>
            <a:off x="10561320" y="2971800"/>
            <a:ext cx="0" cy="411480"/>
          </a:xfrm>
          <a:prstGeom prst="line">
            <a:avLst/>
          </a:prstGeom>
          <a:noFill/>
          <a:ln w="15240">
            <a:solidFill>
              <a:srgbClr val="F97316"/>
            </a:solidFill>
            <a:prstDash val="solid"/>
            <a:headEnd type="none"/>
            <a:tailEnd type="triangle"/>
          </a:ln>
        </p:spPr>
      </p:sp>
      <p:sp>
        <p:nvSpPr>
          <p:cNvPr id="33" name="Shape 31"/>
          <p:cNvSpPr/>
          <p:nvPr/>
        </p:nvSpPr>
        <p:spPr>
          <a:xfrm>
            <a:off x="10927080" y="3383280"/>
            <a:ext cx="594360" cy="457200"/>
          </a:xfrm>
          <a:prstGeom prst="line">
            <a:avLst/>
          </a:prstGeom>
          <a:noFill/>
          <a:ln w="15240">
            <a:solidFill>
              <a:srgbClr val="F97316"/>
            </a:solidFill>
            <a:prstDash val="solid"/>
            <a:headEnd type="none"/>
            <a:tailEnd type="triangle"/>
          </a:ln>
        </p:spPr>
      </p:sp>
      <p:sp>
        <p:nvSpPr>
          <p:cNvPr id="34" name="Text 32"/>
          <p:cNvSpPr/>
          <p:nvPr/>
        </p:nvSpPr>
        <p:spPr>
          <a:xfrm>
            <a:off x="9281160" y="4160520"/>
            <a:ext cx="2468880" cy="420624"/>
          </a:xfrm>
          <a:prstGeom prst="rect">
            <a:avLst/>
          </a:prstGeom>
          <a:noFill/>
          <a:ln/>
        </p:spPr>
        <p:txBody>
          <a:bodyPr wrap="square" lIns="254" tIns="254" rIns="254" bIns="254" rtlCol="0" anchor="ctr"/>
          <a:lstStyle/>
          <a:p>
            <a:pPr algn="ctr" indent="0" marL="0">
              <a:buNone/>
            </a:pPr>
            <a:r>
              <a:rPr lang="en-US" sz="880" dirty="0">
                <a:solidFill>
                  <a:srgbClr val="475569"/>
                </a:solidFill>
              </a:rPr>
              <a:t>T3 → T2 → T1 → LP</a:t>
            </a:r>
            <a:endParaRPr lang="en-US" sz="880" dirty="0"/>
          </a:p>
          <a:p>
            <a:pPr algn="ctr" indent="0" marL="0">
              <a:buNone/>
            </a:pPr>
            <a:r>
              <a:rPr lang="en-US" sz="880" dirty="0">
                <a:solidFill>
                  <a:srgbClr val="475569"/>
                </a:solidFill>
              </a:rPr>
              <a:t>scripted topology / no pocket PPO</a:t>
            </a:r>
            <a:endParaRPr lang="en-US" sz="880" dirty="0"/>
          </a:p>
        </p:txBody>
      </p:sp>
      <p:sp>
        <p:nvSpPr>
          <p:cNvPr id="35" name="Text 33"/>
          <p:cNvSpPr/>
          <p:nvPr/>
        </p:nvSpPr>
        <p:spPr>
          <a:xfrm>
            <a:off x="7589520" y="5303520"/>
            <a:ext cx="1417320" cy="182880"/>
          </a:xfrm>
          <a:prstGeom prst="rect">
            <a:avLst/>
          </a:prstGeom>
          <a:solidFill>
            <a:srgbClr val="F97316"/>
          </a:solidFill>
          <a:ln>
            <a:solidFill>
              <a:srgbClr val="F97316">
                <a:alpha val="0"/>
              </a:srgbClr>
            </a:solidFill>
          </a:ln>
        </p:spPr>
        <p:txBody>
          <a:bodyPr wrap="square" lIns="445" tIns="445" rIns="445" bIns="445" rtlCol="0" anchor="ctr"/>
          <a:lstStyle/>
          <a:p>
            <a:pPr algn="ctr" indent="0" marL="0">
              <a:buNone/>
            </a:pPr>
            <a:r>
              <a:rPr lang="en-US" sz="700" b="1" dirty="0">
                <a:solidFill>
                  <a:srgbClr val="FFFFFF"/>
                </a:solidFill>
              </a:rPr>
              <a:t>SCRIPTED_ONLY</a:t>
            </a:r>
            <a:endParaRPr lang="en-US" sz="700" dirty="0"/>
          </a:p>
        </p:txBody>
      </p:sp>
      <p:sp>
        <p:nvSpPr>
          <p:cNvPr id="36" name="Text 34"/>
          <p:cNvSpPr/>
          <p:nvPr/>
        </p:nvSpPr>
        <p:spPr>
          <a:xfrm>
            <a:off x="10104120" y="5303520"/>
            <a:ext cx="1417320" cy="182880"/>
          </a:xfrm>
          <a:prstGeom prst="rect">
            <a:avLst/>
          </a:prstGeom>
          <a:solidFill>
            <a:srgbClr val="F97316"/>
          </a:solidFill>
          <a:ln>
            <a:solidFill>
              <a:srgbClr val="F97316">
                <a:alpha val="0"/>
              </a:srgbClr>
            </a:solidFill>
          </a:ln>
        </p:spPr>
        <p:txBody>
          <a:bodyPr wrap="square" lIns="445" tIns="445" rIns="445" bIns="445" rtlCol="0" anchor="ctr"/>
          <a:lstStyle/>
          <a:p>
            <a:pPr algn="ctr" indent="0" marL="0">
              <a:buNone/>
            </a:pPr>
            <a:r>
              <a:rPr lang="en-US" sz="700" b="1" dirty="0">
                <a:solidFill>
                  <a:srgbClr val="FFFFFF"/>
                </a:solidFill>
              </a:rPr>
              <a:t>SCRIPTED_ONLY</a:t>
            </a:r>
            <a:endParaRPr lang="en-US" sz="700" dirty="0"/>
          </a:p>
        </p:txBody>
      </p:sp>
      <p:sp>
        <p:nvSpPr>
          <p:cNvPr id="37" name="Text 35"/>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Do not describe scripted merge or pocket behavior as learned.</a:t>
            </a:r>
            <a:endParaRPr lang="en-US" sz="76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V6 LEARNED-MERGE ATTEMPT</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V6 hybrid lane-change policy design</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22</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V6 separated decision ownership: policy chooses lane intent; trajectory layer executes lateral motion.</a:t>
            </a:r>
            <a:endParaRPr lang="en-US" sz="1230" dirty="0"/>
          </a:p>
        </p:txBody>
      </p:sp>
      <p:sp>
        <p:nvSpPr>
          <p:cNvPr id="7" name="Text 5"/>
          <p:cNvSpPr/>
          <p:nvPr/>
        </p:nvSpPr>
        <p:spPr>
          <a:xfrm>
            <a:off x="594360" y="1325880"/>
            <a:ext cx="5394960" cy="4389120"/>
          </a:xfrm>
          <a:prstGeom prst="rect">
            <a:avLst/>
          </a:prstGeom>
          <a:noFill/>
          <a:ln/>
        </p:spPr>
        <p:txBody>
          <a:bodyPr wrap="square" lIns="1016" tIns="1016" rIns="1016" bIns="1016" rtlCol="0" anchor="t">
            <a:normAutofit/>
          </a:bodyPr>
          <a:lstStyle/>
          <a:p>
            <a:pPr indent="0" marL="0">
              <a:buNone/>
            </a:pPr>
            <a:r>
              <a:rPr lang="en-US" sz="1440" dirty="0">
                <a:solidFill>
                  <a:srgbClr val="0B132B"/>
                </a:solidFill>
                <a:latin typeface="Aptos" pitchFamily="34" charset="0"/>
                <a:ea typeface="Aptos" pitchFamily="34" charset="-122"/>
                <a:cs typeface="Aptos" pitchFamily="34" charset="-120"/>
              </a:rPr>
              <a:t>• [IMPLEMENTED_AND_TESTED] Frozen V5 provides the base longitudinal intersection policy.</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[IMPLEMENTED_AND_TESTED] V6 adds categorical adjacent-lane intent: LEFT, KEEP, RIGHT, with invalid intents masked.</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[IMPLEMENTED_AND_TESTED] A bounded 1-D residual adjusts longitudinal acceleration around the V5 base.</a:t>
            </a:r>
            <a:endParaRPr lang="en-US" sz="1440" dirty="0"/>
          </a:p>
          <a:p>
            <a:pPr indent="0" marL="0">
              <a:buNone/>
            </a:pPr>
            <a:r>
              <a:rPr lang="en-US" sz="1440" dirty="0">
                <a:solidFill>
                  <a:srgbClr val="0B132B"/>
                </a:solidFill>
                <a:latin typeface="Aptos" pitchFamily="34" charset="0"/>
                <a:ea typeface="Aptos" pitchFamily="34" charset="-122"/>
                <a:cs typeface="Aptos" pitchFamily="34" charset="-120"/>
              </a:rPr>
              <a:t>• [REJECTED_CANDIDATE] Mechanics were implemented, but no V6 checkpoint was promoted.</a:t>
            </a:r>
            <a:endParaRPr lang="en-US" sz="1440" dirty="0"/>
          </a:p>
        </p:txBody>
      </p:sp>
      <p:sp>
        <p:nvSpPr>
          <p:cNvPr id="8" name="Shape 6"/>
          <p:cNvSpPr/>
          <p:nvPr/>
        </p:nvSpPr>
        <p:spPr>
          <a:xfrm>
            <a:off x="7223760" y="1984248"/>
            <a:ext cx="594360" cy="0"/>
          </a:xfrm>
          <a:prstGeom prst="line">
            <a:avLst/>
          </a:prstGeom>
          <a:noFill/>
          <a:ln w="16510">
            <a:solidFill>
              <a:srgbClr val="64748B"/>
            </a:solidFill>
            <a:prstDash val="solid"/>
            <a:headEnd type="none"/>
            <a:tailEnd type="triangle"/>
          </a:ln>
        </p:spPr>
      </p:sp>
      <p:sp>
        <p:nvSpPr>
          <p:cNvPr id="9" name="Shape 7"/>
          <p:cNvSpPr/>
          <p:nvPr/>
        </p:nvSpPr>
        <p:spPr>
          <a:xfrm>
            <a:off x="8869680" y="1984248"/>
            <a:ext cx="594360" cy="0"/>
          </a:xfrm>
          <a:prstGeom prst="line">
            <a:avLst/>
          </a:prstGeom>
          <a:noFill/>
          <a:ln w="16510">
            <a:solidFill>
              <a:srgbClr val="64748B"/>
            </a:solidFill>
            <a:prstDash val="solid"/>
            <a:headEnd type="none"/>
            <a:tailEnd type="triangle"/>
          </a:ln>
        </p:spPr>
      </p:sp>
      <p:sp>
        <p:nvSpPr>
          <p:cNvPr id="10" name="Shape 8"/>
          <p:cNvSpPr/>
          <p:nvPr/>
        </p:nvSpPr>
        <p:spPr>
          <a:xfrm>
            <a:off x="10515600" y="1984248"/>
            <a:ext cx="548640" cy="0"/>
          </a:xfrm>
          <a:prstGeom prst="line">
            <a:avLst/>
          </a:prstGeom>
          <a:noFill/>
          <a:ln w="16510">
            <a:solidFill>
              <a:srgbClr val="64748B"/>
            </a:solidFill>
            <a:prstDash val="solid"/>
            <a:headEnd type="none"/>
            <a:tailEnd type="triangle"/>
          </a:ln>
        </p:spPr>
      </p:sp>
      <p:sp>
        <p:nvSpPr>
          <p:cNvPr id="11" name="Text 9"/>
          <p:cNvSpPr/>
          <p:nvPr/>
        </p:nvSpPr>
        <p:spPr>
          <a:xfrm>
            <a:off x="5989320" y="1645920"/>
            <a:ext cx="1143000" cy="68580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150" b="1" dirty="0">
                <a:solidFill>
                  <a:srgbClr val="FFFFFF"/>
                </a:solidFill>
                <a:latin typeface="Aptos" pitchFamily="34" charset="0"/>
                <a:ea typeface="Aptos" pitchFamily="34" charset="-122"/>
                <a:cs typeface="Aptos" pitchFamily="34" charset="-120"/>
              </a:rPr>
              <a:t>V5 base</a:t>
            </a:r>
            <a:endParaRPr lang="en-US" sz="1150" dirty="0"/>
          </a:p>
          <a:p>
            <a:pPr algn="ctr" indent="0" marL="0">
              <a:buNone/>
            </a:pPr>
            <a:r>
              <a:rPr lang="en-US" sz="1150" b="1" dirty="0">
                <a:solidFill>
                  <a:srgbClr val="FFFFFF"/>
                </a:solidFill>
                <a:latin typeface="Aptos" pitchFamily="34" charset="0"/>
                <a:ea typeface="Aptos" pitchFamily="34" charset="-122"/>
                <a:cs typeface="Aptos" pitchFamily="34" charset="-120"/>
              </a:rPr>
              <a:t>frozen</a:t>
            </a:r>
            <a:endParaRPr lang="en-US" sz="1150" dirty="0"/>
          </a:p>
        </p:txBody>
      </p:sp>
      <p:sp>
        <p:nvSpPr>
          <p:cNvPr id="12" name="Text 10"/>
          <p:cNvSpPr/>
          <p:nvPr/>
        </p:nvSpPr>
        <p:spPr>
          <a:xfrm>
            <a:off x="7818120" y="1645920"/>
            <a:ext cx="1005840" cy="68580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b="1" dirty="0">
                <a:solidFill>
                  <a:srgbClr val="0B132B"/>
                </a:solidFill>
                <a:latin typeface="Aptos" pitchFamily="34" charset="0"/>
                <a:ea typeface="Aptos" pitchFamily="34" charset="-122"/>
                <a:cs typeface="Aptos" pitchFamily="34" charset="-120"/>
              </a:rPr>
              <a:t>merge context</a:t>
            </a:r>
            <a:endParaRPr lang="en-US" sz="1000" dirty="0"/>
          </a:p>
          <a:p>
            <a:pPr algn="ctr" indent="0" marL="0">
              <a:buNone/>
            </a:pPr>
            <a:r>
              <a:rPr lang="en-US" sz="1000" b="1" dirty="0">
                <a:solidFill>
                  <a:srgbClr val="0B132B"/>
                </a:solidFill>
                <a:latin typeface="Aptos" pitchFamily="34" charset="0"/>
                <a:ea typeface="Aptos" pitchFamily="34" charset="-122"/>
                <a:cs typeface="Aptos" pitchFamily="34" charset="-120"/>
              </a:rPr>
              <a:t>24 features</a:t>
            </a:r>
            <a:endParaRPr lang="en-US" sz="1000" dirty="0"/>
          </a:p>
        </p:txBody>
      </p:sp>
      <p:sp>
        <p:nvSpPr>
          <p:cNvPr id="13" name="Text 11"/>
          <p:cNvSpPr/>
          <p:nvPr/>
        </p:nvSpPr>
        <p:spPr>
          <a:xfrm>
            <a:off x="9464040" y="1645920"/>
            <a:ext cx="1005840" cy="68580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b="1" dirty="0">
                <a:solidFill>
                  <a:srgbClr val="0B132B"/>
                </a:solidFill>
                <a:latin typeface="Aptos" pitchFamily="34" charset="0"/>
                <a:ea typeface="Aptos" pitchFamily="34" charset="-122"/>
                <a:cs typeface="Aptos" pitchFamily="34" charset="-120"/>
              </a:rPr>
              <a:t>V6 heads</a:t>
            </a:r>
            <a:endParaRPr lang="en-US" sz="1000" dirty="0"/>
          </a:p>
        </p:txBody>
      </p:sp>
      <p:sp>
        <p:nvSpPr>
          <p:cNvPr id="14" name="Text 12"/>
          <p:cNvSpPr/>
          <p:nvPr/>
        </p:nvSpPr>
        <p:spPr>
          <a:xfrm>
            <a:off x="11064240" y="1645920"/>
            <a:ext cx="1051560" cy="68580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b="1" dirty="0">
                <a:solidFill>
                  <a:srgbClr val="0B132B"/>
                </a:solidFill>
                <a:latin typeface="Aptos" pitchFamily="34" charset="0"/>
                <a:ea typeface="Aptos" pitchFamily="34" charset="-122"/>
                <a:cs typeface="Aptos" pitchFamily="34" charset="-120"/>
              </a:rPr>
              <a:t>trajectory</a:t>
            </a:r>
            <a:endParaRPr lang="en-US" sz="1000" dirty="0"/>
          </a:p>
          <a:p>
            <a:pPr algn="ctr" indent="0" marL="0">
              <a:buNone/>
            </a:pPr>
            <a:r>
              <a:rPr lang="en-US" sz="1000" b="1" dirty="0">
                <a:solidFill>
                  <a:srgbClr val="0B132B"/>
                </a:solidFill>
                <a:latin typeface="Aptos" pitchFamily="34" charset="0"/>
                <a:ea typeface="Aptos" pitchFamily="34" charset="-122"/>
                <a:cs typeface="Aptos" pitchFamily="34" charset="-120"/>
              </a:rPr>
              <a:t>layer</a:t>
            </a:r>
            <a:endParaRPr lang="en-US" sz="1000" dirty="0"/>
          </a:p>
        </p:txBody>
      </p:sp>
      <p:sp>
        <p:nvSpPr>
          <p:cNvPr id="15" name="Text 13"/>
          <p:cNvSpPr/>
          <p:nvPr/>
        </p:nvSpPr>
        <p:spPr>
          <a:xfrm>
            <a:off x="9052560" y="2926080"/>
            <a:ext cx="1508760" cy="502920"/>
          </a:xfrm>
          <a:prstGeom prst="rect">
            <a:avLst/>
          </a:prstGeom>
          <a:solidFill>
            <a:srgbClr val="EFF6FF"/>
          </a:solidFill>
          <a:ln w="12700">
            <a:solidFill>
              <a:srgbClr val="BFDBFE"/>
            </a:solidFill>
          </a:ln>
        </p:spPr>
        <p:txBody>
          <a:bodyPr wrap="square" lIns="1016" tIns="1016" rIns="1016" bIns="1016" rtlCol="0" anchor="ctr">
            <a:normAutofit/>
          </a:bodyPr>
          <a:lstStyle/>
          <a:p>
            <a:pPr algn="ctr" indent="0" marL="0">
              <a:buNone/>
            </a:pPr>
            <a:r>
              <a:rPr lang="en-US" sz="950" b="1" dirty="0">
                <a:solidFill>
                  <a:srgbClr val="0B132B"/>
                </a:solidFill>
                <a:latin typeface="Aptos" pitchFamily="34" charset="0"/>
                <a:ea typeface="Aptos" pitchFamily="34" charset="-122"/>
                <a:cs typeface="Aptos" pitchFamily="34" charset="-120"/>
              </a:rPr>
              <a:t>lane intent</a:t>
            </a:r>
            <a:endParaRPr lang="en-US" sz="950" dirty="0"/>
          </a:p>
          <a:p>
            <a:pPr algn="ctr" indent="0" marL="0">
              <a:buNone/>
            </a:pPr>
            <a:r>
              <a:rPr lang="en-US" sz="950" b="1" dirty="0">
                <a:solidFill>
                  <a:srgbClr val="0B132B"/>
                </a:solidFill>
                <a:latin typeface="Aptos" pitchFamily="34" charset="0"/>
                <a:ea typeface="Aptos" pitchFamily="34" charset="-122"/>
                <a:cs typeface="Aptos" pitchFamily="34" charset="-120"/>
              </a:rPr>
              <a:t>LEFT / KEEP / RIGHT</a:t>
            </a:r>
            <a:endParaRPr lang="en-US" sz="950" dirty="0"/>
          </a:p>
        </p:txBody>
      </p:sp>
      <p:sp>
        <p:nvSpPr>
          <p:cNvPr id="16" name="Text 14"/>
          <p:cNvSpPr/>
          <p:nvPr/>
        </p:nvSpPr>
        <p:spPr>
          <a:xfrm>
            <a:off x="10789920" y="2926080"/>
            <a:ext cx="1005840" cy="502920"/>
          </a:xfrm>
          <a:prstGeom prst="rect">
            <a:avLst/>
          </a:prstGeom>
          <a:solidFill>
            <a:srgbClr val="ECFDF5"/>
          </a:solidFill>
          <a:ln w="12700">
            <a:solidFill>
              <a:srgbClr val="A7F3D0"/>
            </a:solidFill>
          </a:ln>
        </p:spPr>
        <p:txBody>
          <a:bodyPr wrap="square" lIns="1016" tIns="1016" rIns="1016" bIns="1016" rtlCol="0" anchor="ctr">
            <a:normAutofit/>
          </a:bodyPr>
          <a:lstStyle/>
          <a:p>
            <a:pPr algn="ctr" indent="0" marL="0">
              <a:buNone/>
            </a:pPr>
            <a:r>
              <a:rPr lang="en-US" sz="950" b="1" dirty="0">
                <a:solidFill>
                  <a:srgbClr val="0B132B"/>
                </a:solidFill>
                <a:latin typeface="Aptos" pitchFamily="34" charset="0"/>
                <a:ea typeface="Aptos" pitchFamily="34" charset="-122"/>
                <a:cs typeface="Aptos" pitchFamily="34" charset="-120"/>
              </a:rPr>
              <a:t>longitudinal</a:t>
            </a:r>
            <a:endParaRPr lang="en-US" sz="950" dirty="0"/>
          </a:p>
          <a:p>
            <a:pPr algn="ctr" indent="0" marL="0">
              <a:buNone/>
            </a:pPr>
            <a:r>
              <a:rPr lang="en-US" sz="950" b="1" dirty="0">
                <a:solidFill>
                  <a:srgbClr val="0B132B"/>
                </a:solidFill>
                <a:latin typeface="Aptos" pitchFamily="34" charset="0"/>
                <a:ea typeface="Aptos" pitchFamily="34" charset="-122"/>
                <a:cs typeface="Aptos" pitchFamily="34" charset="-120"/>
              </a:rPr>
              <a:t>residual</a:t>
            </a:r>
            <a:endParaRPr lang="en-US" sz="950" dirty="0"/>
          </a:p>
        </p:txBody>
      </p:sp>
      <p:sp>
        <p:nvSpPr>
          <p:cNvPr id="17" name="Shape 15"/>
          <p:cNvSpPr/>
          <p:nvPr/>
        </p:nvSpPr>
        <p:spPr>
          <a:xfrm>
            <a:off x="9829800" y="2423160"/>
            <a:ext cx="0" cy="502920"/>
          </a:xfrm>
          <a:prstGeom prst="line">
            <a:avLst/>
          </a:prstGeom>
          <a:noFill/>
          <a:ln w="16510">
            <a:solidFill>
              <a:srgbClr val="64748B"/>
            </a:solidFill>
            <a:prstDash val="solid"/>
            <a:headEnd type="none"/>
            <a:tailEnd type="triangle"/>
          </a:ln>
        </p:spPr>
      </p:sp>
      <p:sp>
        <p:nvSpPr>
          <p:cNvPr id="18" name="Shape 16"/>
          <p:cNvSpPr/>
          <p:nvPr/>
        </p:nvSpPr>
        <p:spPr>
          <a:xfrm>
            <a:off x="9829800" y="3474720"/>
            <a:ext cx="1463040" cy="0"/>
          </a:xfrm>
          <a:prstGeom prst="line">
            <a:avLst/>
          </a:prstGeom>
          <a:noFill/>
          <a:ln w="16510">
            <a:solidFill>
              <a:srgbClr val="64748B"/>
            </a:solidFill>
            <a:prstDash val="solid"/>
            <a:headEnd type="none"/>
            <a:tailEnd type="triangle"/>
          </a:ln>
        </p:spPr>
      </p:sp>
      <p:sp>
        <p:nvSpPr>
          <p:cNvPr id="19" name="Text 17"/>
          <p:cNvSpPr/>
          <p:nvPr/>
        </p:nvSpPr>
        <p:spPr>
          <a:xfrm>
            <a:off x="6309360" y="4389120"/>
            <a:ext cx="5394960" cy="1097280"/>
          </a:xfrm>
          <a:prstGeom prst="rect">
            <a:avLst/>
          </a:prstGeom>
          <a:solidFill>
            <a:srgbClr val="F8FAFC"/>
          </a:solidFill>
          <a:ln w="12700">
            <a:solidFill>
              <a:srgbClr val="E2E8F0"/>
            </a:solidFill>
          </a:ln>
        </p:spPr>
        <p:txBody>
          <a:bodyPr wrap="square" lIns="1016" tIns="1016" rIns="1016" bIns="1016" rtlCol="0" anchor="ctr">
            <a:normAutofit/>
          </a:bodyPr>
          <a:lstStyle/>
          <a:p>
            <a:pPr algn="l" indent="0" marL="0">
              <a:buNone/>
            </a:pPr>
            <a:r>
              <a:rPr lang="en-US" sz="1220" dirty="0">
                <a:solidFill>
                  <a:srgbClr val="0B132B"/>
                </a:solidFill>
                <a:latin typeface="Aptos" pitchFamily="34" charset="0"/>
                <a:ea typeface="Aptos" pitchFamily="34" charset="-122"/>
                <a:cs typeface="Aptos" pitchFamily="34" charset="-120"/>
              </a:rPr>
              <a:t>Why categorical intent?</a:t>
            </a:r>
            <a:endParaRPr lang="en-US" sz="1220" dirty="0"/>
          </a:p>
          <a:p>
            <a:pPr algn="l" indent="0" marL="0">
              <a:buNone/>
            </a:pPr>
            <a:r>
              <a:rPr lang="en-US" sz="1220" dirty="0">
                <a:solidFill>
                  <a:srgbClr val="0B132B"/>
                </a:solidFill>
                <a:latin typeface="Aptos" pitchFamily="34" charset="0"/>
                <a:ea typeface="Aptos" pitchFamily="34" charset="-122"/>
                <a:cs typeface="Aptos" pitchFamily="34" charset="-120"/>
              </a:rPr>
              <a:t>Topology-level lane decisions should not fight a continuous steering scalar. Smooth lateral realization is deterministic and adjacent-only.</a:t>
            </a:r>
            <a:endParaRPr lang="en-US" sz="1220" dirty="0"/>
          </a:p>
        </p:txBody>
      </p:sp>
      <p:sp>
        <p:nvSpPr>
          <p:cNvPr id="20" name="Text 18"/>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Design was coherent; integrated learning still failed safety/promotion gates.</a:t>
            </a:r>
            <a:endParaRPr lang="en-US" sz="76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V6 LEARNED-MERGE ATTEMPT</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Learned-merge result: from KEEP collapse to unsafe exploration</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23</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Stage 4.2 avoided degeneracy, but unsafe entries and collisions were far beyond gates.</a:t>
            </a:r>
            <a:endParaRPr lang="en-US" sz="1230" dirty="0"/>
          </a:p>
        </p:txBody>
      </p:sp>
      <p:sp>
        <p:nvSpPr>
          <p:cNvPr id="7" name="Text 5"/>
          <p:cNvSpPr/>
          <p:nvPr/>
        </p:nvSpPr>
        <p:spPr>
          <a:xfrm>
            <a:off x="594360" y="1325880"/>
            <a:ext cx="5486400" cy="4617720"/>
          </a:xfrm>
          <a:prstGeom prst="rect">
            <a:avLst/>
          </a:prstGeom>
          <a:noFill/>
          <a:ln/>
        </p:spPr>
        <p:txBody>
          <a:bodyPr wrap="square" lIns="1016" tIns="1016" rIns="1016" bIns="1016" rtlCol="0" anchor="t">
            <a:normAutofit/>
          </a:bodyPr>
          <a:lstStyle/>
          <a:p>
            <a:pPr indent="0" marL="0">
              <a:buNone/>
            </a:pPr>
            <a:r>
              <a:rPr lang="en-US" sz="1350" dirty="0">
                <a:solidFill>
                  <a:srgbClr val="0B132B"/>
                </a:solidFill>
                <a:latin typeface="Aptos" pitchFamily="34" charset="0"/>
                <a:ea typeface="Aptos" pitchFamily="34" charset="-122"/>
                <a:cs typeface="Aptos" pitchFamily="34" charset="-120"/>
              </a:rPr>
              <a:t>• [REJECTED_CANDIDATE] Initial V6 saved candidates: 0% required open-gap merges and 0% request rate—KEEP collapse.</a:t>
            </a:r>
            <a:endParaRPr lang="en-US" sz="1350" dirty="0"/>
          </a:p>
          <a:p>
            <a:pPr indent="0" marL="0">
              <a:buNone/>
            </a:pPr>
            <a:r>
              <a:rPr lang="en-US" sz="1350" dirty="0">
                <a:solidFill>
                  <a:srgbClr val="0B132B"/>
                </a:solidFill>
                <a:latin typeface="Aptos" pitchFamily="34" charset="0"/>
                <a:ea typeface="Aptos" pitchFamily="34" charset="-122"/>
                <a:cs typeface="Aptos" pitchFamily="34" charset="-120"/>
              </a:rPr>
              <a:t>• [REJECTED_CANDIDATE] Stage 4.1 reached 92.36% offline test accuracy but integrated open-gap completion was 43.17%.</a:t>
            </a:r>
            <a:endParaRPr lang="en-US" sz="1350" dirty="0"/>
          </a:p>
          <a:p>
            <a:pPr indent="0" marL="0">
              <a:buNone/>
            </a:pPr>
            <a:r>
              <a:rPr lang="en-US" sz="1350" dirty="0">
                <a:solidFill>
                  <a:srgbClr val="0B132B"/>
                </a:solidFill>
                <a:latin typeface="Aptos" pitchFamily="34" charset="0"/>
                <a:ea typeface="Aptos" pitchFamily="34" charset="-122"/>
                <a:cs typeface="Aptos" pitchFamily="34" charset="-120"/>
              </a:rPr>
              <a:t>• [IMPLEMENTED_AND_TESTED] `merge_reward_v2` passed all 168 paired reward-order gates; no DAgger/BC/prewarm/oracle loss in Stage 4.2.</a:t>
            </a:r>
            <a:endParaRPr lang="en-US" sz="1350" dirty="0"/>
          </a:p>
          <a:p>
            <a:pPr indent="0" marL="0">
              <a:buNone/>
            </a:pPr>
            <a:r>
              <a:rPr lang="en-US" sz="1350" dirty="0">
                <a:solidFill>
                  <a:srgbClr val="0B132B"/>
                </a:solidFill>
                <a:latin typeface="Aptos" pitchFamily="34" charset="0"/>
                <a:ea typeface="Aptos" pitchFamily="34" charset="-122"/>
                <a:cs typeface="Aptos" pitchFamily="34" charset="-120"/>
              </a:rPr>
              <a:t>• [REJECTED_CANDIDATE] Stage 4.2 PPO-only runs stopped at 2,048 steps: unsafe entry 23.17/24.05%, collisions 11.84/16.00%.</a:t>
            </a:r>
            <a:endParaRPr lang="en-US" sz="1350" dirty="0"/>
          </a:p>
          <a:p>
            <a:pPr indent="0" marL="0">
              <a:buNone/>
            </a:pPr>
            <a:r>
              <a:rPr lang="en-US" sz="1350" dirty="0">
                <a:solidFill>
                  <a:srgbClr val="0B132B"/>
                </a:solidFill>
                <a:latin typeface="Aptos" pitchFamily="34" charset="0"/>
                <a:ea typeface="Aptos" pitchFamily="34" charset="-122"/>
                <a:cs typeface="Aptos" pitchFamily="34" charset="-120"/>
              </a:rPr>
              <a:t>• [INCONCLUSIVE] No checkpoint saved/promoted; future-final bank not run.</a:t>
            </a:r>
            <a:endParaRPr lang="en-US" sz="1350" dirty="0"/>
          </a:p>
        </p:txBody>
      </p:sp>
      <p:sp>
        <p:nvSpPr>
          <p:cNvPr id="8" name="Text 6"/>
          <p:cNvSpPr/>
          <p:nvPr/>
        </p:nvSpPr>
        <p:spPr>
          <a:xfrm>
            <a:off x="6400800" y="1051560"/>
            <a:ext cx="1371600" cy="36576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Initial V6</a:t>
            </a:r>
            <a:endParaRPr lang="en-US" sz="1050" dirty="0"/>
          </a:p>
        </p:txBody>
      </p:sp>
      <p:sp>
        <p:nvSpPr>
          <p:cNvPr id="9" name="Text 7"/>
          <p:cNvSpPr/>
          <p:nvPr/>
        </p:nvSpPr>
        <p:spPr>
          <a:xfrm>
            <a:off x="6400800" y="1554480"/>
            <a:ext cx="1371600" cy="6400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60" b="1" dirty="0">
                <a:solidFill>
                  <a:srgbClr val="0B132B"/>
                </a:solidFill>
                <a:latin typeface="Aptos" pitchFamily="34" charset="0"/>
                <a:ea typeface="Aptos" pitchFamily="34" charset="-122"/>
                <a:cs typeface="Aptos" pitchFamily="34" charset="-120"/>
              </a:rPr>
              <a:t>0% merge</a:t>
            </a:r>
            <a:endParaRPr lang="en-US" sz="860" dirty="0"/>
          </a:p>
          <a:p>
            <a:pPr algn="ctr" indent="0" marL="0">
              <a:buNone/>
            </a:pPr>
            <a:r>
              <a:rPr lang="en-US" sz="860" b="1" dirty="0">
                <a:solidFill>
                  <a:srgbClr val="0B132B"/>
                </a:solidFill>
                <a:latin typeface="Aptos" pitchFamily="34" charset="0"/>
                <a:ea typeface="Aptos" pitchFamily="34" charset="-122"/>
                <a:cs typeface="Aptos" pitchFamily="34" charset="-120"/>
              </a:rPr>
              <a:t>0% request</a:t>
            </a:r>
            <a:endParaRPr lang="en-US" sz="860" dirty="0"/>
          </a:p>
        </p:txBody>
      </p:sp>
      <p:sp>
        <p:nvSpPr>
          <p:cNvPr id="10" name="Text 8"/>
          <p:cNvSpPr/>
          <p:nvPr/>
        </p:nvSpPr>
        <p:spPr>
          <a:xfrm>
            <a:off x="6400800" y="2377440"/>
            <a:ext cx="1371600" cy="594360"/>
          </a:xfrm>
          <a:prstGeom prst="rect">
            <a:avLst/>
          </a:prstGeom>
          <a:solidFill>
            <a:srgbClr val="FFF7ED"/>
          </a:solidFill>
          <a:ln w="12700">
            <a:solidFill>
              <a:srgbClr val="FED7AA"/>
            </a:solidFill>
          </a:ln>
        </p:spPr>
        <p:txBody>
          <a:bodyPr wrap="square" lIns="1016" tIns="1016" rIns="1016" bIns="1016"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KEEP collapse</a:t>
            </a:r>
            <a:endParaRPr lang="en-US" sz="820" dirty="0"/>
          </a:p>
        </p:txBody>
      </p:sp>
      <p:sp>
        <p:nvSpPr>
          <p:cNvPr id="11" name="Text 9"/>
          <p:cNvSpPr/>
          <p:nvPr/>
        </p:nvSpPr>
        <p:spPr>
          <a:xfrm>
            <a:off x="6382512" y="3200400"/>
            <a:ext cx="141732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520" b="1" dirty="0">
                <a:solidFill>
                  <a:srgbClr val="FFFFFF"/>
                </a:solidFill>
              </a:rPr>
              <a:t>REJECTED</a:t>
            </a:r>
            <a:endParaRPr lang="en-US" sz="520" dirty="0"/>
          </a:p>
          <a:p>
            <a:pPr algn="ctr" indent="0" marL="0">
              <a:buNone/>
            </a:pPr>
            <a:r>
              <a:rPr lang="en-US" sz="520" b="1" dirty="0">
                <a:solidFill>
                  <a:srgbClr val="FFFFFF"/>
                </a:solidFill>
              </a:rPr>
              <a:t>CANDIDATE</a:t>
            </a:r>
            <a:endParaRPr lang="en-US" sz="520" dirty="0"/>
          </a:p>
        </p:txBody>
      </p:sp>
      <p:sp>
        <p:nvSpPr>
          <p:cNvPr id="12" name="Shape 10"/>
          <p:cNvSpPr/>
          <p:nvPr/>
        </p:nvSpPr>
        <p:spPr>
          <a:xfrm>
            <a:off x="7818120" y="1828800"/>
            <a:ext cx="246888" cy="0"/>
          </a:xfrm>
          <a:prstGeom prst="line">
            <a:avLst/>
          </a:prstGeom>
          <a:noFill/>
          <a:ln w="16510">
            <a:solidFill>
              <a:srgbClr val="64748B"/>
            </a:solidFill>
            <a:prstDash val="solid"/>
            <a:headEnd type="none"/>
            <a:tailEnd type="triangle"/>
          </a:ln>
        </p:spPr>
      </p:sp>
      <p:sp>
        <p:nvSpPr>
          <p:cNvPr id="13" name="Text 11"/>
          <p:cNvSpPr/>
          <p:nvPr/>
        </p:nvSpPr>
        <p:spPr>
          <a:xfrm>
            <a:off x="8138160" y="1051560"/>
            <a:ext cx="1371600" cy="36576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Stage 4.1</a:t>
            </a:r>
            <a:endParaRPr lang="en-US" sz="1050" dirty="0"/>
          </a:p>
        </p:txBody>
      </p:sp>
      <p:sp>
        <p:nvSpPr>
          <p:cNvPr id="14" name="Text 12"/>
          <p:cNvSpPr/>
          <p:nvPr/>
        </p:nvSpPr>
        <p:spPr>
          <a:xfrm>
            <a:off x="8138160" y="1554480"/>
            <a:ext cx="1371600" cy="6400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60" b="1" dirty="0">
                <a:solidFill>
                  <a:srgbClr val="0B132B"/>
                </a:solidFill>
                <a:latin typeface="Aptos" pitchFamily="34" charset="0"/>
                <a:ea typeface="Aptos" pitchFamily="34" charset="-122"/>
                <a:cs typeface="Aptos" pitchFamily="34" charset="-120"/>
              </a:rPr>
              <a:t>92.36% offline</a:t>
            </a:r>
            <a:endParaRPr lang="en-US" sz="860" dirty="0"/>
          </a:p>
          <a:p>
            <a:pPr algn="ctr" indent="0" marL="0">
              <a:buNone/>
            </a:pPr>
            <a:r>
              <a:rPr lang="en-US" sz="860" b="1" dirty="0">
                <a:solidFill>
                  <a:srgbClr val="0B132B"/>
                </a:solidFill>
                <a:latin typeface="Aptos" pitchFamily="34" charset="0"/>
                <a:ea typeface="Aptos" pitchFamily="34" charset="-122"/>
                <a:cs typeface="Aptos" pitchFamily="34" charset="-120"/>
              </a:rPr>
              <a:t>17.36% unsafe</a:t>
            </a:r>
            <a:endParaRPr lang="en-US" sz="860" dirty="0"/>
          </a:p>
        </p:txBody>
      </p:sp>
      <p:sp>
        <p:nvSpPr>
          <p:cNvPr id="15" name="Text 13"/>
          <p:cNvSpPr/>
          <p:nvPr/>
        </p:nvSpPr>
        <p:spPr>
          <a:xfrm>
            <a:off x="8138160" y="2377440"/>
            <a:ext cx="1371600" cy="594360"/>
          </a:xfrm>
          <a:prstGeom prst="rect">
            <a:avLst/>
          </a:prstGeom>
          <a:solidFill>
            <a:srgbClr val="FFF7ED"/>
          </a:solidFill>
          <a:ln w="12700">
            <a:solidFill>
              <a:srgbClr val="FED7AA"/>
            </a:solidFill>
          </a:ln>
        </p:spPr>
        <p:txBody>
          <a:bodyPr wrap="square" lIns="1016" tIns="1016" rIns="1016" bIns="1016"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reward/action mismatch</a:t>
            </a:r>
            <a:endParaRPr lang="en-US" sz="820" dirty="0"/>
          </a:p>
        </p:txBody>
      </p:sp>
      <p:sp>
        <p:nvSpPr>
          <p:cNvPr id="16" name="Text 14"/>
          <p:cNvSpPr/>
          <p:nvPr/>
        </p:nvSpPr>
        <p:spPr>
          <a:xfrm>
            <a:off x="8119872" y="3200400"/>
            <a:ext cx="141732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520" b="1" dirty="0">
                <a:solidFill>
                  <a:srgbClr val="FFFFFF"/>
                </a:solidFill>
              </a:rPr>
              <a:t>REJECTED</a:t>
            </a:r>
            <a:endParaRPr lang="en-US" sz="520" dirty="0"/>
          </a:p>
          <a:p>
            <a:pPr algn="ctr" indent="0" marL="0">
              <a:buNone/>
            </a:pPr>
            <a:r>
              <a:rPr lang="en-US" sz="520" b="1" dirty="0">
                <a:solidFill>
                  <a:srgbClr val="FFFFFF"/>
                </a:solidFill>
              </a:rPr>
              <a:t>CANDIDATE</a:t>
            </a:r>
            <a:endParaRPr lang="en-US" sz="520" dirty="0"/>
          </a:p>
        </p:txBody>
      </p:sp>
      <p:sp>
        <p:nvSpPr>
          <p:cNvPr id="17" name="Shape 15"/>
          <p:cNvSpPr/>
          <p:nvPr/>
        </p:nvSpPr>
        <p:spPr>
          <a:xfrm>
            <a:off x="9555480" y="1828800"/>
            <a:ext cx="246888" cy="0"/>
          </a:xfrm>
          <a:prstGeom prst="line">
            <a:avLst/>
          </a:prstGeom>
          <a:noFill/>
          <a:ln w="16510">
            <a:solidFill>
              <a:srgbClr val="64748B"/>
            </a:solidFill>
            <a:prstDash val="solid"/>
            <a:headEnd type="none"/>
            <a:tailEnd type="triangle"/>
          </a:ln>
        </p:spPr>
      </p:sp>
      <p:sp>
        <p:nvSpPr>
          <p:cNvPr id="18" name="Text 16"/>
          <p:cNvSpPr/>
          <p:nvPr/>
        </p:nvSpPr>
        <p:spPr>
          <a:xfrm>
            <a:off x="9875520" y="1051560"/>
            <a:ext cx="1371600" cy="36576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Stage 4.2</a:t>
            </a:r>
            <a:endParaRPr lang="en-US" sz="1050" dirty="0"/>
          </a:p>
        </p:txBody>
      </p:sp>
      <p:sp>
        <p:nvSpPr>
          <p:cNvPr id="19" name="Text 17"/>
          <p:cNvSpPr/>
          <p:nvPr/>
        </p:nvSpPr>
        <p:spPr>
          <a:xfrm>
            <a:off x="9875520" y="1554480"/>
            <a:ext cx="1371600" cy="64008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60" b="1" dirty="0">
                <a:solidFill>
                  <a:srgbClr val="0B132B"/>
                </a:solidFill>
                <a:latin typeface="Aptos" pitchFamily="34" charset="0"/>
                <a:ea typeface="Aptos" pitchFamily="34" charset="-122"/>
                <a:cs typeface="Aptos" pitchFamily="34" charset="-120"/>
              </a:rPr>
              <a:t>97.37/96% open</a:t>
            </a:r>
            <a:endParaRPr lang="en-US" sz="860" dirty="0"/>
          </a:p>
          <a:p>
            <a:pPr algn="ctr" indent="0" marL="0">
              <a:buNone/>
            </a:pPr>
            <a:r>
              <a:rPr lang="en-US" sz="860" b="1" dirty="0">
                <a:solidFill>
                  <a:srgbClr val="0B132B"/>
                </a:solidFill>
                <a:latin typeface="Aptos" pitchFamily="34" charset="0"/>
                <a:ea typeface="Aptos" pitchFamily="34" charset="-122"/>
                <a:cs typeface="Aptos" pitchFamily="34" charset="-120"/>
              </a:rPr>
              <a:t>23–24% unsafe</a:t>
            </a:r>
            <a:endParaRPr lang="en-US" sz="860" dirty="0"/>
          </a:p>
        </p:txBody>
      </p:sp>
      <p:sp>
        <p:nvSpPr>
          <p:cNvPr id="20" name="Text 18"/>
          <p:cNvSpPr/>
          <p:nvPr/>
        </p:nvSpPr>
        <p:spPr>
          <a:xfrm>
            <a:off x="9875520" y="2377440"/>
            <a:ext cx="1371600" cy="594360"/>
          </a:xfrm>
          <a:prstGeom prst="rect">
            <a:avLst/>
          </a:prstGeom>
          <a:solidFill>
            <a:srgbClr val="FFF7ED"/>
          </a:solidFill>
          <a:ln w="12700">
            <a:solidFill>
              <a:srgbClr val="FED7AA"/>
            </a:solidFill>
          </a:ln>
        </p:spPr>
        <p:txBody>
          <a:bodyPr wrap="square" lIns="1016" tIns="1016" rIns="1016" bIns="1016"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nondegenerate but unsafe</a:t>
            </a:r>
            <a:endParaRPr lang="en-US" sz="820" dirty="0"/>
          </a:p>
        </p:txBody>
      </p:sp>
      <p:sp>
        <p:nvSpPr>
          <p:cNvPr id="21" name="Text 19"/>
          <p:cNvSpPr/>
          <p:nvPr/>
        </p:nvSpPr>
        <p:spPr>
          <a:xfrm>
            <a:off x="9857232" y="3200400"/>
            <a:ext cx="141732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520" b="1" dirty="0">
                <a:solidFill>
                  <a:srgbClr val="FFFFFF"/>
                </a:solidFill>
              </a:rPr>
              <a:t>REJECTED</a:t>
            </a:r>
            <a:endParaRPr lang="en-US" sz="520" dirty="0"/>
          </a:p>
          <a:p>
            <a:pPr algn="ctr" indent="0" marL="0">
              <a:buNone/>
            </a:pPr>
            <a:r>
              <a:rPr lang="en-US" sz="520" b="1" dirty="0">
                <a:solidFill>
                  <a:srgbClr val="FFFFFF"/>
                </a:solidFill>
              </a:rPr>
              <a:t>CANDIDATE</a:t>
            </a:r>
            <a:endParaRPr lang="en-US" sz="520" dirty="0"/>
          </a:p>
        </p:txBody>
      </p:sp>
      <p:sp>
        <p:nvSpPr>
          <p:cNvPr id="22" name="Text 20"/>
          <p:cNvSpPr/>
          <p:nvPr/>
        </p:nvSpPr>
        <p:spPr>
          <a:xfrm>
            <a:off x="6629400" y="3977640"/>
            <a:ext cx="4617720" cy="960120"/>
          </a:xfrm>
          <a:prstGeom prst="rect">
            <a:avLst/>
          </a:prstGeom>
          <a:solidFill>
            <a:srgbClr val="FEF2F2"/>
          </a:solidFill>
          <a:ln w="12700">
            <a:solidFill>
              <a:srgbClr val="FECACA"/>
            </a:solidFill>
          </a:ln>
        </p:spPr>
        <p:txBody>
          <a:bodyPr wrap="square" lIns="1016" tIns="1016" rIns="1016" bIns="1016" rtlCol="0" anchor="ctr">
            <a:normAutofit/>
          </a:bodyPr>
          <a:lstStyle/>
          <a:p>
            <a:pPr algn="l" indent="0" marL="0">
              <a:buNone/>
            </a:pPr>
            <a:r>
              <a:rPr lang="en-US" sz="1130" dirty="0">
                <a:solidFill>
                  <a:srgbClr val="0B132B"/>
                </a:solidFill>
                <a:latin typeface="Aptos" pitchFamily="34" charset="0"/>
                <a:ea typeface="Aptos" pitchFamily="34" charset="-122"/>
                <a:cs typeface="Aptos" pitchFamily="34" charset="-120"/>
              </a:rPr>
              <a:t>Stage 4.2 early gate table</a:t>
            </a:r>
            <a:endParaRPr lang="en-US" sz="1130" dirty="0"/>
          </a:p>
          <a:p>
            <a:pPr algn="l" indent="0" marL="0">
              <a:buNone/>
            </a:pPr>
            <a:r>
              <a:rPr lang="en-US" sz="1130" dirty="0">
                <a:solidFill>
                  <a:srgbClr val="0B132B"/>
                </a:solidFill>
                <a:latin typeface="Aptos" pitchFamily="34" charset="0"/>
                <a:ea typeface="Aptos" pitchFamily="34" charset="-122"/>
                <a:cs typeface="Aptos" pitchFamily="34" charset="-120"/>
              </a:rPr>
              <a:t>Main: 97.37% open completion, 23.17% unsafe, 11.84% collision.</a:t>
            </a:r>
            <a:endParaRPr lang="en-US" sz="1130" dirty="0"/>
          </a:p>
          <a:p>
            <a:pPr algn="l" indent="0" marL="0">
              <a:buNone/>
            </a:pPr>
            <a:r>
              <a:rPr lang="en-US" sz="1130" dirty="0">
                <a:solidFill>
                  <a:srgbClr val="0B132B"/>
                </a:solidFill>
                <a:latin typeface="Aptos" pitchFamily="34" charset="0"/>
                <a:ea typeface="Aptos" pitchFamily="34" charset="-122"/>
                <a:cs typeface="Aptos" pitchFamily="34" charset="-120"/>
              </a:rPr>
              <a:t>Fallback: 96.00% open completion, 24.05% unsafe, 16.00% collision.</a:t>
            </a:r>
            <a:endParaRPr lang="en-US" sz="1130" dirty="0"/>
          </a:p>
        </p:txBody>
      </p:sp>
      <p:sp>
        <p:nvSpPr>
          <p:cNvPr id="23" name="Text 21"/>
          <p:cNvSpPr/>
          <p:nvPr/>
        </p:nvSpPr>
        <p:spPr>
          <a:xfrm>
            <a:off x="7726680" y="5303520"/>
            <a:ext cx="210312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720" b="1" dirty="0">
                <a:solidFill>
                  <a:srgbClr val="FFFFFF"/>
                </a:solidFill>
              </a:rPr>
              <a:t>NO CHECKPOINT PROMOTED</a:t>
            </a:r>
            <a:endParaRPr lang="en-US" sz="720" dirty="0"/>
          </a:p>
        </p:txBody>
      </p:sp>
      <p:sp>
        <p:nvSpPr>
          <p:cNvPr id="24" name="Text 22"/>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Stage 4.2 used mandatory PPO-only runs; no DAgger, behavior cloning, prewarming, or supervised oracle-action loss.</a:t>
            </a:r>
            <a:endParaRPr lang="en-US" sz="7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STATUS / PLAN</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Current status matrix and next technical plan</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24</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The project ends with an immutable V5 baseline and a sharply localized lane-learning plan.</a:t>
            </a:r>
            <a:endParaRPr lang="en-US" sz="1230" dirty="0"/>
          </a:p>
        </p:txBody>
      </p:sp>
      <p:sp>
        <p:nvSpPr>
          <p:cNvPr id="7" name="Text 5"/>
          <p:cNvSpPr/>
          <p:nvPr/>
        </p:nvSpPr>
        <p:spPr>
          <a:xfrm>
            <a:off x="594360" y="1325880"/>
            <a:ext cx="5486400" cy="4617720"/>
          </a:xfrm>
          <a:prstGeom prst="rect">
            <a:avLst/>
          </a:prstGeom>
          <a:noFill/>
          <a:ln/>
        </p:spPr>
        <p:txBody>
          <a:bodyPr wrap="square" lIns="1016" tIns="1016" rIns="1016" bIns="1016" rtlCol="0" anchor="t">
            <a:normAutofit/>
          </a:bodyPr>
          <a:lstStyle/>
          <a:p>
            <a:pPr indent="0" marL="0">
              <a:buNone/>
            </a:pPr>
            <a:r>
              <a:rPr lang="en-US" sz="1380" dirty="0">
                <a:solidFill>
                  <a:srgbClr val="0B132B"/>
                </a:solidFill>
                <a:latin typeface="Aptos" pitchFamily="34" charset="0"/>
                <a:ea typeface="Aptos" pitchFamily="34" charset="-122"/>
                <a:cs typeface="Aptos" pitchFamily="34" charset="-120"/>
              </a:rPr>
              <a:t>• [PRODUCTION] Immutable V5 + `crosswalk_wide_v1` + `legacy_path_v1` + `jerk_limited_v1`.</a:t>
            </a:r>
            <a:endParaRPr lang="en-US" sz="1380" dirty="0"/>
          </a:p>
          <a:p>
            <a:pPr indent="0" marL="0">
              <a:buNone/>
            </a:pPr>
            <a:r>
              <a:rPr lang="en-US" sz="1380" dirty="0">
                <a:solidFill>
                  <a:srgbClr val="0B132B"/>
                </a:solidFill>
                <a:latin typeface="Aptos" pitchFamily="34" charset="0"/>
                <a:ea typeface="Aptos" pitchFamily="34" charset="-122"/>
                <a:cs typeface="Aptos" pitchFamily="34" charset="-120"/>
              </a:rPr>
              <a:t>• [TRAINING_ONLY] V2.1 is available only as a future training environment.</a:t>
            </a:r>
            <a:endParaRPr lang="en-US" sz="1380" dirty="0"/>
          </a:p>
          <a:p>
            <a:pPr indent="0" marL="0">
              <a:buNone/>
            </a:pPr>
            <a:r>
              <a:rPr lang="en-US" sz="1380" dirty="0">
                <a:solidFill>
                  <a:srgbClr val="0B132B"/>
                </a:solidFill>
                <a:latin typeface="Aptos" pitchFamily="34" charset="0"/>
                <a:ea typeface="Aptos" pitchFamily="34" charset="-122"/>
                <a:cs typeface="Aptos" pitchFamily="34" charset="-120"/>
              </a:rPr>
              <a:t>• [SCRIPTED_ONLY] Merge oracle/demo and pocket routes validate infrastructure only.</a:t>
            </a:r>
            <a:endParaRPr lang="en-US" sz="1380" dirty="0"/>
          </a:p>
          <a:p>
            <a:pPr indent="0" marL="0">
              <a:buNone/>
            </a:pPr>
            <a:r>
              <a:rPr lang="en-US" sz="1380" dirty="0">
                <a:solidFill>
                  <a:srgbClr val="0B132B"/>
                </a:solidFill>
                <a:latin typeface="Aptos" pitchFamily="34" charset="0"/>
                <a:ea typeface="Aptos" pitchFamily="34" charset="-122"/>
                <a:cs typeface="Aptos" pitchFamily="34" charset="-120"/>
              </a:rPr>
              <a:t>• [REJECTED_CANDIDATE] No V5.1 or V6 checkpoint promoted; final banks not run after failed gates.</a:t>
            </a:r>
            <a:endParaRPr lang="en-US" sz="1380" dirty="0"/>
          </a:p>
          <a:p>
            <a:pPr indent="0" marL="0">
              <a:buNone/>
            </a:pPr>
            <a:r>
              <a:rPr lang="en-US" sz="1380" dirty="0">
                <a:solidFill>
                  <a:srgbClr val="0B132B"/>
                </a:solidFill>
                <a:latin typeface="Aptos" pitchFamily="34" charset="0"/>
                <a:ea typeface="Aptos" pitchFamily="34" charset="-122"/>
                <a:cs typeface="Aptos" pitchFamily="34" charset="-120"/>
              </a:rPr>
              <a:t>• [PLANNED] Stage 4.3: PPO-only, safer nondegenerate prior, 1:1 safe/unsafe eligible-decision curriculum.</a:t>
            </a:r>
            <a:endParaRPr lang="en-US" sz="1380" dirty="0"/>
          </a:p>
        </p:txBody>
      </p:sp>
      <p:sp>
        <p:nvSpPr>
          <p:cNvPr id="8" name="Text 6"/>
          <p:cNvSpPr/>
          <p:nvPr/>
        </p:nvSpPr>
        <p:spPr>
          <a:xfrm>
            <a:off x="6400800" y="960120"/>
            <a:ext cx="1325880" cy="384048"/>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60" b="1" dirty="0">
                <a:solidFill>
                  <a:srgbClr val="FFFFFF"/>
                </a:solidFill>
                <a:latin typeface="Aptos" pitchFamily="34" charset="0"/>
                <a:ea typeface="Aptos" pitchFamily="34" charset="-122"/>
                <a:cs typeface="Aptos" pitchFamily="34" charset="-120"/>
              </a:rPr>
              <a:t>Status</a:t>
            </a:r>
            <a:endParaRPr lang="en-US" sz="760" dirty="0"/>
          </a:p>
        </p:txBody>
      </p:sp>
      <p:sp>
        <p:nvSpPr>
          <p:cNvPr id="9" name="Text 7"/>
          <p:cNvSpPr/>
          <p:nvPr/>
        </p:nvSpPr>
        <p:spPr>
          <a:xfrm>
            <a:off x="7726680" y="960120"/>
            <a:ext cx="3931920" cy="384048"/>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60" b="1" dirty="0">
                <a:solidFill>
                  <a:srgbClr val="FFFFFF"/>
                </a:solidFill>
                <a:latin typeface="Aptos" pitchFamily="34" charset="0"/>
                <a:ea typeface="Aptos" pitchFamily="34" charset="-122"/>
                <a:cs typeface="Aptos" pitchFamily="34" charset="-120"/>
              </a:rPr>
              <a:t>Items</a:t>
            </a:r>
            <a:endParaRPr lang="en-US" sz="760" dirty="0"/>
          </a:p>
        </p:txBody>
      </p:sp>
      <p:sp>
        <p:nvSpPr>
          <p:cNvPr id="10" name="Text 8"/>
          <p:cNvSpPr/>
          <p:nvPr/>
        </p:nvSpPr>
        <p:spPr>
          <a:xfrm>
            <a:off x="6400800" y="1344168"/>
            <a:ext cx="1325880" cy="384048"/>
          </a:xfrm>
          <a:prstGeom prst="rect">
            <a:avLst/>
          </a:prstGeom>
          <a:solidFill>
            <a:srgbClr val="059669"/>
          </a:solidFill>
          <a:ln w="12700">
            <a:solidFill>
              <a:srgbClr val="E2E8F0"/>
            </a:solidFill>
          </a:ln>
        </p:spPr>
        <p:txBody>
          <a:bodyPr wrap="square" lIns="508" tIns="508" rIns="508" bIns="508" rtlCol="0" anchor="ctr">
            <a:normAutofit/>
          </a:bodyPr>
          <a:lstStyle/>
          <a:p>
            <a:pPr algn="ctr" indent="0" marL="0">
              <a:buNone/>
            </a:pPr>
            <a:r>
              <a:rPr lang="en-US" sz="760" dirty="0">
                <a:solidFill>
                  <a:srgbClr val="FFFFFF"/>
                </a:solidFill>
                <a:latin typeface="Aptos" pitchFamily="34" charset="0"/>
                <a:ea typeface="Aptos" pitchFamily="34" charset="-122"/>
                <a:cs typeface="Aptos" pitchFamily="34" charset="-120"/>
              </a:rPr>
              <a:t>PRODUCTION</a:t>
            </a:r>
            <a:endParaRPr lang="en-US" sz="760" dirty="0"/>
          </a:p>
        </p:txBody>
      </p:sp>
      <p:sp>
        <p:nvSpPr>
          <p:cNvPr id="11" name="Text 9"/>
          <p:cNvSpPr/>
          <p:nvPr/>
        </p:nvSpPr>
        <p:spPr>
          <a:xfrm>
            <a:off x="7726680" y="1344168"/>
            <a:ext cx="393192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60" dirty="0">
                <a:solidFill>
                  <a:srgbClr val="0B132B"/>
                </a:solidFill>
                <a:latin typeface="Aptos" pitchFamily="34" charset="0"/>
                <a:ea typeface="Aptos" pitchFamily="34" charset="-122"/>
                <a:cs typeface="Aptos" pitchFamily="34" charset="-120"/>
              </a:rPr>
              <a:t>V5 checkpoint; crosswalk-wide; legacy path; jerk-limited dynamics</a:t>
            </a:r>
            <a:endParaRPr lang="en-US" sz="760" dirty="0"/>
          </a:p>
        </p:txBody>
      </p:sp>
      <p:sp>
        <p:nvSpPr>
          <p:cNvPr id="12" name="Text 10"/>
          <p:cNvSpPr/>
          <p:nvPr/>
        </p:nvSpPr>
        <p:spPr>
          <a:xfrm>
            <a:off x="6400800" y="1728216"/>
            <a:ext cx="1325880" cy="384048"/>
          </a:xfrm>
          <a:prstGeom prst="rect">
            <a:avLst/>
          </a:prstGeom>
          <a:solidFill>
            <a:srgbClr val="7C3AED"/>
          </a:solidFill>
          <a:ln w="12700">
            <a:solidFill>
              <a:srgbClr val="E2E8F0"/>
            </a:solidFill>
          </a:ln>
        </p:spPr>
        <p:txBody>
          <a:bodyPr wrap="square" lIns="508" tIns="508" rIns="508" bIns="508" rtlCol="0" anchor="ctr">
            <a:normAutofit/>
          </a:bodyPr>
          <a:lstStyle/>
          <a:p>
            <a:pPr algn="ctr" indent="0" marL="0">
              <a:buNone/>
            </a:pPr>
            <a:r>
              <a:rPr lang="en-US" sz="760" dirty="0">
                <a:solidFill>
                  <a:srgbClr val="FFFFFF"/>
                </a:solidFill>
                <a:latin typeface="Aptos" pitchFamily="34" charset="0"/>
                <a:ea typeface="Aptos" pitchFamily="34" charset="-122"/>
                <a:cs typeface="Aptos" pitchFamily="34" charset="-120"/>
              </a:rPr>
              <a:t>TRAINING_ONLY</a:t>
            </a:r>
            <a:endParaRPr lang="en-US" sz="760" dirty="0"/>
          </a:p>
        </p:txBody>
      </p:sp>
      <p:sp>
        <p:nvSpPr>
          <p:cNvPr id="13" name="Text 11"/>
          <p:cNvSpPr/>
          <p:nvPr/>
        </p:nvSpPr>
        <p:spPr>
          <a:xfrm>
            <a:off x="7726680" y="1728216"/>
            <a:ext cx="393192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60" dirty="0">
                <a:solidFill>
                  <a:srgbClr val="0B132B"/>
                </a:solidFill>
                <a:latin typeface="Aptos" pitchFamily="34" charset="0"/>
                <a:ea typeface="Aptos" pitchFamily="34" charset="-122"/>
                <a:cs typeface="Aptos" pitchFamily="34" charset="-120"/>
              </a:rPr>
              <a:t>Predictive pedestrian V2.1</a:t>
            </a:r>
            <a:endParaRPr lang="en-US" sz="760" dirty="0"/>
          </a:p>
        </p:txBody>
      </p:sp>
      <p:sp>
        <p:nvSpPr>
          <p:cNvPr id="14" name="Text 12"/>
          <p:cNvSpPr/>
          <p:nvPr/>
        </p:nvSpPr>
        <p:spPr>
          <a:xfrm>
            <a:off x="6400800" y="2112264"/>
            <a:ext cx="1325880" cy="384048"/>
          </a:xfrm>
          <a:prstGeom prst="rect">
            <a:avLst/>
          </a:prstGeom>
          <a:solidFill>
            <a:srgbClr val="0F766E"/>
          </a:solidFill>
          <a:ln w="12700">
            <a:solidFill>
              <a:srgbClr val="E2E8F0"/>
            </a:solidFill>
          </a:ln>
        </p:spPr>
        <p:txBody>
          <a:bodyPr wrap="square" lIns="508" tIns="508" rIns="508" bIns="508" rtlCol="0" anchor="ctr">
            <a:normAutofit/>
          </a:bodyPr>
          <a:lstStyle/>
          <a:p>
            <a:pPr algn="ctr" indent="0" marL="0">
              <a:buNone/>
            </a:pPr>
            <a:r>
              <a:rPr lang="en-US" sz="760" dirty="0">
                <a:solidFill>
                  <a:srgbClr val="FFFFFF"/>
                </a:solidFill>
                <a:latin typeface="Aptos" pitchFamily="34" charset="0"/>
                <a:ea typeface="Aptos" pitchFamily="34" charset="-122"/>
                <a:cs typeface="Aptos" pitchFamily="34" charset="-120"/>
              </a:rPr>
              <a:t>IMPLEMENTED</a:t>
            </a:r>
            <a:endParaRPr lang="en-US" sz="760" dirty="0"/>
          </a:p>
        </p:txBody>
      </p:sp>
      <p:sp>
        <p:nvSpPr>
          <p:cNvPr id="15" name="Text 13"/>
          <p:cNvSpPr/>
          <p:nvPr/>
        </p:nvSpPr>
        <p:spPr>
          <a:xfrm>
            <a:off x="7726680" y="2112264"/>
            <a:ext cx="393192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60" dirty="0">
                <a:solidFill>
                  <a:srgbClr val="0B132B"/>
                </a:solidFill>
                <a:latin typeface="Aptos" pitchFamily="34" charset="0"/>
                <a:ea typeface="Aptos" pitchFamily="34" charset="-122"/>
                <a:cs typeface="Aptos" pitchFamily="34" charset="-120"/>
              </a:rPr>
              <a:t>LaneSegment; trajectory; V6 mechanics; merge_reward_v2</a:t>
            </a:r>
            <a:endParaRPr lang="en-US" sz="760" dirty="0"/>
          </a:p>
        </p:txBody>
      </p:sp>
      <p:sp>
        <p:nvSpPr>
          <p:cNvPr id="16" name="Text 14"/>
          <p:cNvSpPr/>
          <p:nvPr/>
        </p:nvSpPr>
        <p:spPr>
          <a:xfrm>
            <a:off x="6400800" y="2496312"/>
            <a:ext cx="1325880" cy="384048"/>
          </a:xfrm>
          <a:prstGeom prst="rect">
            <a:avLst/>
          </a:prstGeom>
          <a:solidFill>
            <a:srgbClr val="F97316"/>
          </a:solidFill>
          <a:ln w="12700">
            <a:solidFill>
              <a:srgbClr val="E2E8F0"/>
            </a:solidFill>
          </a:ln>
        </p:spPr>
        <p:txBody>
          <a:bodyPr wrap="square" lIns="508" tIns="508" rIns="508" bIns="508" rtlCol="0" anchor="ctr">
            <a:normAutofit/>
          </a:bodyPr>
          <a:lstStyle/>
          <a:p>
            <a:pPr algn="ctr" indent="0" marL="0">
              <a:buNone/>
            </a:pPr>
            <a:r>
              <a:rPr lang="en-US" sz="760" dirty="0">
                <a:solidFill>
                  <a:srgbClr val="FFFFFF"/>
                </a:solidFill>
                <a:latin typeface="Aptos" pitchFamily="34" charset="0"/>
                <a:ea typeface="Aptos" pitchFamily="34" charset="-122"/>
                <a:cs typeface="Aptos" pitchFamily="34" charset="-120"/>
              </a:rPr>
              <a:t>SCRIPTED_ONLY</a:t>
            </a:r>
            <a:endParaRPr lang="en-US" sz="760" dirty="0"/>
          </a:p>
        </p:txBody>
      </p:sp>
      <p:sp>
        <p:nvSpPr>
          <p:cNvPr id="17" name="Text 15"/>
          <p:cNvSpPr/>
          <p:nvPr/>
        </p:nvSpPr>
        <p:spPr>
          <a:xfrm>
            <a:off x="7726680" y="2496312"/>
            <a:ext cx="393192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60" dirty="0">
                <a:solidFill>
                  <a:srgbClr val="0B132B"/>
                </a:solidFill>
                <a:latin typeface="Aptos" pitchFamily="34" charset="0"/>
                <a:ea typeface="Aptos" pitchFamily="34" charset="-122"/>
                <a:cs typeface="Aptos" pitchFamily="34" charset="-120"/>
              </a:rPr>
              <a:t>Merge oracle/demo; left-turn pocket routes</a:t>
            </a:r>
            <a:endParaRPr lang="en-US" sz="760" dirty="0"/>
          </a:p>
        </p:txBody>
      </p:sp>
      <p:sp>
        <p:nvSpPr>
          <p:cNvPr id="18" name="Text 16"/>
          <p:cNvSpPr/>
          <p:nvPr/>
        </p:nvSpPr>
        <p:spPr>
          <a:xfrm>
            <a:off x="6400800" y="2880360"/>
            <a:ext cx="1325880" cy="384048"/>
          </a:xfrm>
          <a:prstGeom prst="rect">
            <a:avLst/>
          </a:prstGeom>
          <a:solidFill>
            <a:srgbClr val="DC2626"/>
          </a:solidFill>
          <a:ln w="12700">
            <a:solidFill>
              <a:srgbClr val="E2E8F0"/>
            </a:solidFill>
          </a:ln>
        </p:spPr>
        <p:txBody>
          <a:bodyPr wrap="square" lIns="508" tIns="508" rIns="508" bIns="508" rtlCol="0" anchor="ctr">
            <a:normAutofit/>
          </a:bodyPr>
          <a:lstStyle/>
          <a:p>
            <a:pPr algn="ctr" indent="0" marL="0">
              <a:buNone/>
            </a:pPr>
            <a:r>
              <a:rPr lang="en-US" sz="760" dirty="0">
                <a:solidFill>
                  <a:srgbClr val="FFFFFF"/>
                </a:solidFill>
                <a:latin typeface="Aptos" pitchFamily="34" charset="0"/>
                <a:ea typeface="Aptos" pitchFamily="34" charset="-122"/>
                <a:cs typeface="Aptos" pitchFamily="34" charset="-120"/>
              </a:rPr>
              <a:t>REJECTED</a:t>
            </a:r>
            <a:endParaRPr lang="en-US" sz="760" dirty="0"/>
          </a:p>
        </p:txBody>
      </p:sp>
      <p:sp>
        <p:nvSpPr>
          <p:cNvPr id="19" name="Text 17"/>
          <p:cNvSpPr/>
          <p:nvPr/>
        </p:nvSpPr>
        <p:spPr>
          <a:xfrm>
            <a:off x="7726680" y="2880360"/>
            <a:ext cx="393192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60" dirty="0">
                <a:solidFill>
                  <a:srgbClr val="0B132B"/>
                </a:solidFill>
                <a:latin typeface="Aptos" pitchFamily="34" charset="0"/>
                <a:ea typeface="Aptos" pitchFamily="34" charset="-122"/>
                <a:cs typeface="Aptos" pitchFamily="34" charset="-120"/>
              </a:rPr>
              <a:t>Ped V1/V2; all V5.1; all V6</a:t>
            </a:r>
            <a:endParaRPr lang="en-US" sz="760" dirty="0"/>
          </a:p>
        </p:txBody>
      </p:sp>
      <p:sp>
        <p:nvSpPr>
          <p:cNvPr id="20" name="Text 18"/>
          <p:cNvSpPr/>
          <p:nvPr/>
        </p:nvSpPr>
        <p:spPr>
          <a:xfrm>
            <a:off x="6400800" y="3264408"/>
            <a:ext cx="1325880" cy="384048"/>
          </a:xfrm>
          <a:prstGeom prst="rect">
            <a:avLst/>
          </a:prstGeom>
          <a:solidFill>
            <a:srgbClr val="0891B2"/>
          </a:solidFill>
          <a:ln w="12700">
            <a:solidFill>
              <a:srgbClr val="E2E8F0"/>
            </a:solidFill>
          </a:ln>
        </p:spPr>
        <p:txBody>
          <a:bodyPr wrap="square" lIns="508" tIns="508" rIns="508" bIns="508" rtlCol="0" anchor="ctr">
            <a:normAutofit/>
          </a:bodyPr>
          <a:lstStyle/>
          <a:p>
            <a:pPr algn="ctr" indent="0" marL="0">
              <a:buNone/>
            </a:pPr>
            <a:r>
              <a:rPr lang="en-US" sz="760" dirty="0">
                <a:solidFill>
                  <a:srgbClr val="FFFFFF"/>
                </a:solidFill>
                <a:latin typeface="Aptos" pitchFamily="34" charset="0"/>
                <a:ea typeface="Aptos" pitchFamily="34" charset="-122"/>
                <a:cs typeface="Aptos" pitchFamily="34" charset="-120"/>
              </a:rPr>
              <a:t>PLANNED</a:t>
            </a:r>
            <a:endParaRPr lang="en-US" sz="760" dirty="0"/>
          </a:p>
        </p:txBody>
      </p:sp>
      <p:sp>
        <p:nvSpPr>
          <p:cNvPr id="21" name="Text 19"/>
          <p:cNvSpPr/>
          <p:nvPr/>
        </p:nvSpPr>
        <p:spPr>
          <a:xfrm>
            <a:off x="7726680" y="3264408"/>
            <a:ext cx="393192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60" dirty="0">
                <a:solidFill>
                  <a:srgbClr val="0B132B"/>
                </a:solidFill>
                <a:latin typeface="Aptos" pitchFamily="34" charset="0"/>
                <a:ea typeface="Aptos" pitchFamily="34" charset="-122"/>
                <a:cs typeface="Aptos" pitchFamily="34" charset="-120"/>
              </a:rPr>
              <a:t>Stage 4.3 controlled PPO-only merge experiment</a:t>
            </a:r>
            <a:endParaRPr lang="en-US" sz="760" dirty="0"/>
          </a:p>
        </p:txBody>
      </p:sp>
      <p:sp>
        <p:nvSpPr>
          <p:cNvPr id="22" name="Text 20"/>
          <p:cNvSpPr/>
          <p:nvPr/>
        </p:nvSpPr>
        <p:spPr>
          <a:xfrm>
            <a:off x="6629400" y="4114800"/>
            <a:ext cx="4754880" cy="868680"/>
          </a:xfrm>
          <a:prstGeom prst="rect">
            <a:avLst/>
          </a:prstGeom>
          <a:solidFill>
            <a:srgbClr val="EFF6FF"/>
          </a:solidFill>
          <a:ln w="12700">
            <a:solidFill>
              <a:srgbClr val="BFDBFE"/>
            </a:solidFill>
          </a:ln>
        </p:spPr>
        <p:txBody>
          <a:bodyPr wrap="square" lIns="1016" tIns="1016" rIns="1016" bIns="1016" rtlCol="0" anchor="ctr">
            <a:normAutofit/>
          </a:bodyPr>
          <a:lstStyle/>
          <a:p>
            <a:pPr algn="ctr" indent="0" marL="0">
              <a:buNone/>
            </a:pPr>
            <a:r>
              <a:rPr lang="en-US" sz="1150" b="1" dirty="0">
                <a:solidFill>
                  <a:srgbClr val="0B132B"/>
                </a:solidFill>
                <a:latin typeface="Aptos" pitchFamily="34" charset="0"/>
                <a:ea typeface="Aptos" pitchFamily="34" charset="-122"/>
                <a:cs typeface="Aptos" pitchFamily="34" charset="-120"/>
              </a:rPr>
              <a:t>Stage 4.3 must keep fixed</a:t>
            </a:r>
            <a:endParaRPr lang="en-US" sz="1150" dirty="0"/>
          </a:p>
          <a:p>
            <a:pPr algn="ctr" indent="0" marL="0">
              <a:buNone/>
            </a:pPr>
            <a:r>
              <a:rPr lang="en-US" sz="1150" b="1" dirty="0">
                <a:solidFill>
                  <a:srgbClr val="0B132B"/>
                </a:solidFill>
                <a:latin typeface="Aptos" pitchFamily="34" charset="0"/>
                <a:ea typeface="Aptos" pitchFamily="34" charset="-122"/>
                <a:cs typeface="Aptos" pitchFamily="34" charset="-120"/>
              </a:rPr>
              <a:t>reward V2 • topology • frozen V5 base • 24-feature context • runtime action path • safety gates</a:t>
            </a:r>
            <a:endParaRPr lang="en-US" sz="1150" dirty="0"/>
          </a:p>
        </p:txBody>
      </p:sp>
      <p:sp>
        <p:nvSpPr>
          <p:cNvPr id="23" name="Text 21"/>
          <p:cNvSpPr/>
          <p:nvPr/>
        </p:nvSpPr>
        <p:spPr>
          <a:xfrm>
            <a:off x="6629400" y="5303520"/>
            <a:ext cx="4754880" cy="685800"/>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1120" dirty="0">
                <a:solidFill>
                  <a:srgbClr val="0B132B"/>
                </a:solidFill>
                <a:latin typeface="Aptos" pitchFamily="34" charset="0"/>
                <a:ea typeface="Aptos" pitchFamily="34" charset="-122"/>
                <a:cs typeface="Aptos" pitchFamily="34" charset="-120"/>
              </a:rPr>
              <a:t>Gate before final bank</a:t>
            </a:r>
            <a:endParaRPr lang="en-US" sz="1120" dirty="0"/>
          </a:p>
          <a:p>
            <a:pPr algn="ctr" indent="0" marL="0">
              <a:buNone/>
            </a:pPr>
            <a:r>
              <a:rPr lang="en-US" sz="1120" dirty="0">
                <a:solidFill>
                  <a:srgbClr val="0B132B"/>
                </a:solidFill>
                <a:latin typeface="Aptos" pitchFamily="34" charset="0"/>
                <a:ea typeface="Aptos" pitchFamily="34" charset="-122"/>
                <a:cs typeface="Aptos" pitchFamily="34" charset="-120"/>
              </a:rPr>
              <a:t>non-degeneracy + opportunity use + unsafe choice + collisions + V5 regression</a:t>
            </a:r>
            <a:endParaRPr lang="en-US" sz="1120" dirty="0"/>
          </a:p>
        </p:txBody>
      </p:sp>
      <p:sp>
        <p:nvSpPr>
          <p:cNvPr id="24" name="Text 22"/>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Future work should run final banks only after earlier gates pass.</a:t>
            </a:r>
            <a:endParaRPr lang="en-US" sz="76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CONCLUSION</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Key takeaways and future direction</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25</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The durable result is an auditable way to add driving complexity without confusing policy, simulator, and script.</a:t>
            </a:r>
            <a:endParaRPr lang="en-US" sz="1230" dirty="0"/>
          </a:p>
        </p:txBody>
      </p:sp>
      <p:sp>
        <p:nvSpPr>
          <p:cNvPr id="7" name="Text 5"/>
          <p:cNvSpPr/>
          <p:nvPr/>
        </p:nvSpPr>
        <p:spPr>
          <a:xfrm>
            <a:off x="594360" y="1325880"/>
            <a:ext cx="5577840" cy="4617720"/>
          </a:xfrm>
          <a:prstGeom prst="rect">
            <a:avLst/>
          </a:prstGeom>
          <a:noFill/>
          <a:ln/>
        </p:spPr>
        <p:txBody>
          <a:bodyPr wrap="square" lIns="1016" tIns="1016" rIns="1016" bIns="1016" rtlCol="0" anchor="t">
            <a:normAutofit/>
          </a:bodyPr>
          <a:lstStyle/>
          <a:p>
            <a:pPr indent="0" marL="0">
              <a:buNone/>
            </a:pPr>
            <a:r>
              <a:rPr lang="en-US" sz="1390" dirty="0">
                <a:solidFill>
                  <a:srgbClr val="0B132B"/>
                </a:solidFill>
                <a:latin typeface="Aptos" pitchFamily="34" charset="0"/>
                <a:ea typeface="Aptos" pitchFamily="34" charset="-122"/>
                <a:cs typeface="Aptos" pitchFamily="34" charset="-120"/>
              </a:rPr>
              <a:t>• [IMPLEMENTED_AND_TESTED] Built a reproducible multi-agent intersection research platform.</a:t>
            </a:r>
            <a:endParaRPr lang="en-US" sz="1390" dirty="0"/>
          </a:p>
          <a:p>
            <a:pPr indent="0" marL="0">
              <a:buNone/>
            </a:pPr>
            <a:r>
              <a:rPr lang="en-US" sz="1390" dirty="0">
                <a:solidFill>
                  <a:srgbClr val="0B132B"/>
                </a:solidFill>
                <a:latin typeface="Aptos" pitchFamily="34" charset="0"/>
                <a:ea typeface="Aptos" pitchFamily="34" charset="-122"/>
                <a:cs typeface="Aptos" pitchFamily="34" charset="-120"/>
              </a:rPr>
              <a:t>• [PRODUCTION] Produced a qualified V5 shared graph longitudinal policy for the declared simulator scope.</a:t>
            </a:r>
            <a:endParaRPr lang="en-US" sz="1390" dirty="0"/>
          </a:p>
          <a:p>
            <a:pPr indent="0" marL="0">
              <a:buNone/>
            </a:pPr>
            <a:r>
              <a:rPr lang="en-US" sz="1390" dirty="0">
                <a:solidFill>
                  <a:srgbClr val="0B132B"/>
                </a:solidFill>
                <a:latin typeface="Aptos" pitchFamily="34" charset="0"/>
                <a:ea typeface="Aptos" pitchFamily="34" charset="-122"/>
                <a:cs typeface="Aptos" pitchFamily="34" charset="-120"/>
              </a:rPr>
              <a:t>• [IMPLEMENTED_AND_TESTED] Added jerk-limited dynamics and stopping-feasibility reasoning to make labels and rewards more honest.</a:t>
            </a:r>
            <a:endParaRPr lang="en-US" sz="1390" dirty="0"/>
          </a:p>
          <a:p>
            <a:pPr indent="0" marL="0">
              <a:buNone/>
            </a:pPr>
            <a:r>
              <a:rPr lang="en-US" sz="1390" dirty="0">
                <a:solidFill>
                  <a:srgbClr val="0B132B"/>
                </a:solidFill>
                <a:latin typeface="Aptos" pitchFamily="34" charset="0"/>
                <a:ea typeface="Aptos" pitchFamily="34" charset="-122"/>
                <a:cs typeface="Aptos" pitchFamily="34" charset="-120"/>
              </a:rPr>
              <a:t>• [IMPLEMENTED_AND_TESTED] Created lane topology/trajectory foundation for future lane-intent learning.</a:t>
            </a:r>
            <a:endParaRPr lang="en-US" sz="1390" dirty="0"/>
          </a:p>
          <a:p>
            <a:pPr indent="0" marL="0">
              <a:buNone/>
            </a:pPr>
            <a:r>
              <a:rPr lang="en-US" sz="1390" dirty="0">
                <a:solidFill>
                  <a:srgbClr val="0B132B"/>
                </a:solidFill>
                <a:latin typeface="Aptos" pitchFamily="34" charset="0"/>
                <a:ea typeface="Aptos" pitchFamily="34" charset="-122"/>
                <a:cs typeface="Aptos" pitchFamily="34" charset="-120"/>
              </a:rPr>
              <a:t>• [REJECTED_CANDIDATE] Used negative results to localize remaining issues: pedestrian conservatism, longitudinal retention, and safe nondegenerate merge.</a:t>
            </a:r>
            <a:endParaRPr lang="en-US" sz="1390" dirty="0"/>
          </a:p>
        </p:txBody>
      </p:sp>
      <p:sp>
        <p:nvSpPr>
          <p:cNvPr id="8" name="Text 6"/>
          <p:cNvSpPr/>
          <p:nvPr/>
        </p:nvSpPr>
        <p:spPr>
          <a:xfrm>
            <a:off x="6446520" y="1143000"/>
            <a:ext cx="1508760" cy="411480"/>
          </a:xfrm>
          <a:prstGeom prst="rect">
            <a:avLst/>
          </a:prstGeom>
          <a:solidFill>
            <a:srgbClr val="059669"/>
          </a:solidFill>
          <a:ln w="9525">
            <a:solidFill>
              <a:srgbClr val="059669"/>
            </a:solidFill>
          </a:ln>
        </p:spPr>
        <p:txBody>
          <a:bodyPr wrap="square" lIns="1016" tIns="1016" rIns="1016" bIns="1016"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Retain</a:t>
            </a:r>
            <a:endParaRPr lang="en-US" sz="1200" dirty="0"/>
          </a:p>
        </p:txBody>
      </p:sp>
      <p:sp>
        <p:nvSpPr>
          <p:cNvPr id="9" name="Text 7"/>
          <p:cNvSpPr/>
          <p:nvPr/>
        </p:nvSpPr>
        <p:spPr>
          <a:xfrm>
            <a:off x="6446520" y="1737360"/>
            <a:ext cx="1508760" cy="9601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dirty="0">
                <a:solidFill>
                  <a:srgbClr val="0B132B"/>
                </a:solidFill>
                <a:latin typeface="Aptos" pitchFamily="34" charset="0"/>
                <a:ea typeface="Aptos" pitchFamily="34" charset="-122"/>
                <a:cs typeface="Aptos" pitchFamily="34" charset="-120"/>
              </a:rPr>
              <a:t>Immutable V5</a:t>
            </a:r>
            <a:endParaRPr lang="en-US" sz="1000" dirty="0"/>
          </a:p>
          <a:p>
            <a:pPr algn="ctr" indent="0" marL="0">
              <a:buNone/>
            </a:pPr>
            <a:r>
              <a:rPr lang="en-US" sz="1000" dirty="0">
                <a:solidFill>
                  <a:srgbClr val="0B132B"/>
                </a:solidFill>
                <a:latin typeface="Aptos" pitchFamily="34" charset="0"/>
                <a:ea typeface="Aptos" pitchFamily="34" charset="-122"/>
                <a:cs typeface="Aptos" pitchFamily="34" charset="-120"/>
              </a:rPr>
              <a:t>policy-owned</a:t>
            </a:r>
            <a:endParaRPr lang="en-US" sz="1000" dirty="0"/>
          </a:p>
          <a:p>
            <a:pPr algn="ctr" indent="0" marL="0">
              <a:buNone/>
            </a:pPr>
            <a:r>
              <a:rPr lang="en-US" sz="1000" dirty="0">
                <a:solidFill>
                  <a:srgbClr val="0B132B"/>
                </a:solidFill>
                <a:latin typeface="Aptos" pitchFamily="34" charset="0"/>
                <a:ea typeface="Aptos" pitchFamily="34" charset="-122"/>
                <a:cs typeface="Aptos" pitchFamily="34" charset="-120"/>
              </a:rPr>
              <a:t>qualification</a:t>
            </a:r>
            <a:endParaRPr lang="en-US" sz="1000" dirty="0"/>
          </a:p>
        </p:txBody>
      </p:sp>
      <p:sp>
        <p:nvSpPr>
          <p:cNvPr id="10" name="Text 8"/>
          <p:cNvSpPr/>
          <p:nvPr/>
        </p:nvSpPr>
        <p:spPr>
          <a:xfrm>
            <a:off x="8321040" y="1143000"/>
            <a:ext cx="1508760" cy="411480"/>
          </a:xfrm>
          <a:prstGeom prst="rect">
            <a:avLst/>
          </a:prstGeom>
          <a:solidFill>
            <a:srgbClr val="F97316"/>
          </a:solidFill>
          <a:ln w="9525">
            <a:solidFill>
              <a:srgbClr val="F97316"/>
            </a:solidFill>
          </a:ln>
        </p:spPr>
        <p:txBody>
          <a:bodyPr wrap="square" lIns="1016" tIns="1016" rIns="1016" bIns="1016"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Improve</a:t>
            </a:r>
            <a:endParaRPr lang="en-US" sz="1200" dirty="0"/>
          </a:p>
        </p:txBody>
      </p:sp>
      <p:sp>
        <p:nvSpPr>
          <p:cNvPr id="11" name="Text 9"/>
          <p:cNvSpPr/>
          <p:nvPr/>
        </p:nvSpPr>
        <p:spPr>
          <a:xfrm>
            <a:off x="8321040" y="1737360"/>
            <a:ext cx="1508760" cy="9601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dirty="0">
                <a:solidFill>
                  <a:srgbClr val="0B132B"/>
                </a:solidFill>
                <a:latin typeface="Aptos" pitchFamily="34" charset="0"/>
                <a:ea typeface="Aptos" pitchFamily="34" charset="-122"/>
                <a:cs typeface="Aptos" pitchFamily="34" charset="-120"/>
              </a:rPr>
              <a:t>Pedestrian realism</a:t>
            </a:r>
            <a:endParaRPr lang="en-US" sz="1000" dirty="0"/>
          </a:p>
          <a:p>
            <a:pPr algn="ctr" indent="0" marL="0">
              <a:buNone/>
            </a:pPr>
            <a:r>
              <a:rPr lang="en-US" sz="1000" dirty="0">
                <a:solidFill>
                  <a:srgbClr val="0B132B"/>
                </a:solidFill>
                <a:latin typeface="Aptos" pitchFamily="34" charset="0"/>
                <a:ea typeface="Aptos" pitchFamily="34" charset="-122"/>
                <a:cs typeface="Aptos" pitchFamily="34" charset="-120"/>
              </a:rPr>
              <a:t>longitudinal retention</a:t>
            </a:r>
            <a:endParaRPr lang="en-US" sz="1000" dirty="0"/>
          </a:p>
          <a:p>
            <a:pPr algn="ctr" indent="0" marL="0">
              <a:buNone/>
            </a:pPr>
            <a:r>
              <a:rPr lang="en-US" sz="1000" dirty="0">
                <a:solidFill>
                  <a:srgbClr val="0B132B"/>
                </a:solidFill>
                <a:latin typeface="Aptos" pitchFamily="34" charset="0"/>
                <a:ea typeface="Aptos" pitchFamily="34" charset="-122"/>
                <a:cs typeface="Aptos" pitchFamily="34" charset="-120"/>
              </a:rPr>
              <a:t>lane intent safety</a:t>
            </a:r>
            <a:endParaRPr lang="en-US" sz="1000" dirty="0"/>
          </a:p>
        </p:txBody>
      </p:sp>
      <p:sp>
        <p:nvSpPr>
          <p:cNvPr id="12" name="Text 10"/>
          <p:cNvSpPr/>
          <p:nvPr/>
        </p:nvSpPr>
        <p:spPr>
          <a:xfrm>
            <a:off x="10195560" y="1143000"/>
            <a:ext cx="1508760" cy="411480"/>
          </a:xfrm>
          <a:prstGeom prst="rect">
            <a:avLst/>
          </a:prstGeom>
          <a:solidFill>
            <a:srgbClr val="1D4ED8"/>
          </a:solidFill>
          <a:ln w="9525">
            <a:solidFill>
              <a:srgbClr val="1D4ED8"/>
            </a:solidFill>
          </a:ln>
        </p:spPr>
        <p:txBody>
          <a:bodyPr wrap="square" lIns="1016" tIns="1016" rIns="1016" bIns="1016"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Validate</a:t>
            </a:r>
            <a:endParaRPr lang="en-US" sz="1200" dirty="0"/>
          </a:p>
        </p:txBody>
      </p:sp>
      <p:sp>
        <p:nvSpPr>
          <p:cNvPr id="13" name="Text 11"/>
          <p:cNvSpPr/>
          <p:nvPr/>
        </p:nvSpPr>
        <p:spPr>
          <a:xfrm>
            <a:off x="10195560" y="1737360"/>
            <a:ext cx="1508760" cy="96012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1000" dirty="0">
                <a:solidFill>
                  <a:srgbClr val="0B132B"/>
                </a:solidFill>
                <a:latin typeface="Aptos" pitchFamily="34" charset="0"/>
                <a:ea typeface="Aptos" pitchFamily="34" charset="-122"/>
                <a:cs typeface="Aptos" pitchFamily="34" charset="-120"/>
              </a:rPr>
              <a:t>Separated seeds</a:t>
            </a:r>
            <a:endParaRPr lang="en-US" sz="1000" dirty="0"/>
          </a:p>
          <a:p>
            <a:pPr algn="ctr" indent="0" marL="0">
              <a:buNone/>
            </a:pPr>
            <a:r>
              <a:rPr lang="en-US" sz="1000" dirty="0">
                <a:solidFill>
                  <a:srgbClr val="0B132B"/>
                </a:solidFill>
                <a:latin typeface="Aptos" pitchFamily="34" charset="0"/>
                <a:ea typeface="Aptos" pitchFamily="34" charset="-122"/>
                <a:cs typeface="Aptos" pitchFamily="34" charset="-120"/>
              </a:rPr>
              <a:t>hard gates</a:t>
            </a:r>
            <a:endParaRPr lang="en-US" sz="1000" dirty="0"/>
          </a:p>
          <a:p>
            <a:pPr algn="ctr" indent="0" marL="0">
              <a:buNone/>
            </a:pPr>
            <a:r>
              <a:rPr lang="en-US" sz="1000" dirty="0">
                <a:solidFill>
                  <a:srgbClr val="0B132B"/>
                </a:solidFill>
                <a:latin typeface="Aptos" pitchFamily="34" charset="0"/>
                <a:ea typeface="Aptos" pitchFamily="34" charset="-122"/>
                <a:cs typeface="Aptos" pitchFamily="34" charset="-120"/>
              </a:rPr>
              <a:t>final bank only after pass</a:t>
            </a:r>
            <a:endParaRPr lang="en-US" sz="1000" dirty="0"/>
          </a:p>
        </p:txBody>
      </p:sp>
      <p:sp>
        <p:nvSpPr>
          <p:cNvPr id="14" name="Shape 12"/>
          <p:cNvSpPr/>
          <p:nvPr/>
        </p:nvSpPr>
        <p:spPr>
          <a:xfrm>
            <a:off x="7982712" y="2203704"/>
            <a:ext cx="310896" cy="0"/>
          </a:xfrm>
          <a:prstGeom prst="line">
            <a:avLst/>
          </a:prstGeom>
          <a:noFill/>
          <a:ln w="16510">
            <a:solidFill>
              <a:srgbClr val="64748B"/>
            </a:solidFill>
            <a:prstDash val="solid"/>
            <a:headEnd type="none"/>
            <a:tailEnd type="triangle"/>
          </a:ln>
        </p:spPr>
      </p:sp>
      <p:sp>
        <p:nvSpPr>
          <p:cNvPr id="15" name="Shape 13"/>
          <p:cNvSpPr/>
          <p:nvPr/>
        </p:nvSpPr>
        <p:spPr>
          <a:xfrm>
            <a:off x="9857232" y="2203704"/>
            <a:ext cx="310896" cy="0"/>
          </a:xfrm>
          <a:prstGeom prst="line">
            <a:avLst/>
          </a:prstGeom>
          <a:noFill/>
          <a:ln w="16510">
            <a:solidFill>
              <a:srgbClr val="64748B"/>
            </a:solidFill>
            <a:prstDash val="solid"/>
            <a:headEnd type="none"/>
            <a:tailEnd type="triangle"/>
          </a:ln>
        </p:spPr>
      </p:sp>
      <p:sp>
        <p:nvSpPr>
          <p:cNvPr id="16" name="Text 14"/>
          <p:cNvSpPr/>
          <p:nvPr/>
        </p:nvSpPr>
        <p:spPr>
          <a:xfrm>
            <a:off x="6766560" y="4160520"/>
            <a:ext cx="4800600" cy="1143000"/>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1300" dirty="0">
                <a:solidFill>
                  <a:srgbClr val="FFFFFF"/>
                </a:solidFill>
                <a:latin typeface="Aptos" pitchFamily="34" charset="0"/>
                <a:ea typeface="Aptos" pitchFamily="34" charset="-122"/>
                <a:cs typeface="Aptos" pitchFamily="34" charset="-120"/>
              </a:rPr>
              <a:t>Closing statement</a:t>
            </a:r>
            <a:endParaRPr lang="en-US" sz="1300" dirty="0"/>
          </a:p>
          <a:p>
            <a:pPr algn="l" indent="0" marL="0">
              <a:buNone/>
            </a:pPr>
            <a:r>
              <a:rPr lang="en-US" sz="1300" dirty="0">
                <a:solidFill>
                  <a:srgbClr val="FFFFFF"/>
                </a:solidFill>
                <a:latin typeface="Aptos" pitchFamily="34" charset="0"/>
                <a:ea typeface="Aptos" pitchFamily="34" charset="-122"/>
                <a:cs typeface="Aptos" pitchFamily="34" charset="-120"/>
              </a:rPr>
              <a:t>The internship’s strongest contribution is not one checkpoint; it is a disciplined evidence chain for adding interaction complexity while preserving claim ownership.</a:t>
            </a:r>
            <a:endParaRPr lang="en-US" sz="1300" dirty="0"/>
          </a:p>
        </p:txBody>
      </p:sp>
      <p:sp>
        <p:nvSpPr>
          <p:cNvPr id="17" name="Text 15"/>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Appendix contains exact metrics, equations, Q&amp;A, and safe/unsafe claim language.</a:t>
            </a:r>
            <a:endParaRPr lang="en-US" sz="76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APPENDIX / TECHNICAL BACKUP</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A1 — Exact V5 release metrics and gates</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26</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V5 production identity and release-claim metrics.</a:t>
            </a:r>
            <a:endParaRPr lang="en-US" sz="1230" dirty="0"/>
          </a:p>
        </p:txBody>
      </p:sp>
      <p:sp>
        <p:nvSpPr>
          <p:cNvPr id="7" name="Text 5"/>
          <p:cNvSpPr/>
          <p:nvPr/>
        </p:nvSpPr>
        <p:spPr>
          <a:xfrm>
            <a:off x="685800" y="1325880"/>
            <a:ext cx="1600200" cy="402336"/>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Item</a:t>
            </a:r>
            <a:endParaRPr lang="en-US" sz="860" dirty="0"/>
          </a:p>
        </p:txBody>
      </p:sp>
      <p:sp>
        <p:nvSpPr>
          <p:cNvPr id="8" name="Text 6"/>
          <p:cNvSpPr/>
          <p:nvPr/>
        </p:nvSpPr>
        <p:spPr>
          <a:xfrm>
            <a:off x="2286000" y="1325880"/>
            <a:ext cx="9509760" cy="402336"/>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Value</a:t>
            </a:r>
            <a:endParaRPr lang="en-US" sz="860" dirty="0"/>
          </a:p>
        </p:txBody>
      </p:sp>
      <p:sp>
        <p:nvSpPr>
          <p:cNvPr id="9" name="Text 7"/>
          <p:cNvSpPr/>
          <p:nvPr/>
        </p:nvSpPr>
        <p:spPr>
          <a:xfrm>
            <a:off x="685800" y="1728216"/>
            <a:ext cx="160020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Checkpoint</a:t>
            </a:r>
            <a:endParaRPr lang="en-US" sz="860" dirty="0"/>
          </a:p>
        </p:txBody>
      </p:sp>
      <p:sp>
        <p:nvSpPr>
          <p:cNvPr id="10" name="Text 8"/>
          <p:cNvSpPr/>
          <p:nvPr/>
        </p:nvSpPr>
        <p:spPr>
          <a:xfrm>
            <a:off x="2286000" y="1728216"/>
            <a:ext cx="950976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yield_kinodynamic_v5_combined_production.npz</a:t>
            </a:r>
            <a:endParaRPr lang="en-US" sz="860" dirty="0"/>
          </a:p>
        </p:txBody>
      </p:sp>
      <p:sp>
        <p:nvSpPr>
          <p:cNvPr id="11" name="Text 9"/>
          <p:cNvSpPr/>
          <p:nvPr/>
        </p:nvSpPr>
        <p:spPr>
          <a:xfrm>
            <a:off x="685800" y="2130552"/>
            <a:ext cx="160020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SHA-256</a:t>
            </a:r>
            <a:endParaRPr lang="en-US" sz="860" dirty="0"/>
          </a:p>
        </p:txBody>
      </p:sp>
      <p:sp>
        <p:nvSpPr>
          <p:cNvPr id="12" name="Text 10"/>
          <p:cNvSpPr/>
          <p:nvPr/>
        </p:nvSpPr>
        <p:spPr>
          <a:xfrm>
            <a:off x="2286000" y="2130552"/>
            <a:ext cx="950976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e0c5a656eda95915db0b33aab86e8c2779c85c53b4f401c6b880725649aa0cba</a:t>
            </a:r>
            <a:endParaRPr lang="en-US" sz="860" dirty="0"/>
          </a:p>
        </p:txBody>
      </p:sp>
      <p:sp>
        <p:nvSpPr>
          <p:cNvPr id="13" name="Text 11"/>
          <p:cNvSpPr/>
          <p:nvPr/>
        </p:nvSpPr>
        <p:spPr>
          <a:xfrm>
            <a:off x="685800" y="2532888"/>
            <a:ext cx="160020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Gates</a:t>
            </a:r>
            <a:endParaRPr lang="en-US" sz="860" dirty="0"/>
          </a:p>
        </p:txBody>
      </p:sp>
      <p:sp>
        <p:nvSpPr>
          <p:cNvPr id="14" name="Text 12"/>
          <p:cNvSpPr/>
          <p:nvPr/>
        </p:nvSpPr>
        <p:spPr>
          <a:xfrm>
            <a:off x="2286000" y="2532888"/>
            <a:ext cx="950976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completion ≥90%; collision-event ≤1%; involved ≤2%; other ≤3%</a:t>
            </a:r>
            <a:endParaRPr lang="en-US" sz="860" dirty="0"/>
          </a:p>
        </p:txBody>
      </p:sp>
      <p:sp>
        <p:nvSpPr>
          <p:cNvPr id="15" name="Text 13"/>
          <p:cNvSpPr/>
          <p:nvPr/>
        </p:nvSpPr>
        <p:spPr>
          <a:xfrm>
            <a:off x="685800" y="2935224"/>
            <a:ext cx="160020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Qualification</a:t>
            </a:r>
            <a:endParaRPr lang="en-US" sz="860" dirty="0"/>
          </a:p>
        </p:txBody>
      </p:sp>
      <p:sp>
        <p:nvSpPr>
          <p:cNvPr id="16" name="Text 14"/>
          <p:cNvSpPr/>
          <p:nvPr/>
        </p:nvSpPr>
        <p:spPr>
          <a:xfrm>
            <a:off x="2286000" y="2935224"/>
            <a:ext cx="950976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60" dirty="0">
                <a:solidFill>
                  <a:srgbClr val="0B132B"/>
                </a:solidFill>
                <a:latin typeface="Aptos" pitchFamily="34" charset="0"/>
                <a:ea typeface="Aptos" pitchFamily="34" charset="-122"/>
                <a:cs typeface="Aptos" pitchFamily="34" charset="-120"/>
              </a:rPr>
              <a:t>30/30 groups passed</a:t>
            </a:r>
            <a:endParaRPr lang="en-US" sz="860" dirty="0"/>
          </a:p>
        </p:txBody>
      </p:sp>
      <p:sp>
        <p:nvSpPr>
          <p:cNvPr id="17" name="Text 15"/>
          <p:cNvSpPr/>
          <p:nvPr/>
        </p:nvSpPr>
        <p:spPr>
          <a:xfrm>
            <a:off x="685800" y="3703320"/>
            <a:ext cx="2331720" cy="457200"/>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Group</a:t>
            </a:r>
            <a:endParaRPr lang="en-US" sz="820" dirty="0"/>
          </a:p>
        </p:txBody>
      </p:sp>
      <p:sp>
        <p:nvSpPr>
          <p:cNvPr id="18" name="Text 16"/>
          <p:cNvSpPr/>
          <p:nvPr/>
        </p:nvSpPr>
        <p:spPr>
          <a:xfrm>
            <a:off x="3017520" y="3703320"/>
            <a:ext cx="1325880" cy="457200"/>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Completion</a:t>
            </a:r>
            <a:endParaRPr lang="en-US" sz="820" dirty="0"/>
          </a:p>
        </p:txBody>
      </p:sp>
      <p:sp>
        <p:nvSpPr>
          <p:cNvPr id="19" name="Text 17"/>
          <p:cNvSpPr/>
          <p:nvPr/>
        </p:nvSpPr>
        <p:spPr>
          <a:xfrm>
            <a:off x="4343400" y="3703320"/>
            <a:ext cx="1508760" cy="457200"/>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Collision events</a:t>
            </a:r>
            <a:endParaRPr lang="en-US" sz="820" dirty="0"/>
          </a:p>
        </p:txBody>
      </p:sp>
      <p:sp>
        <p:nvSpPr>
          <p:cNvPr id="20" name="Text 18"/>
          <p:cNvSpPr/>
          <p:nvPr/>
        </p:nvSpPr>
        <p:spPr>
          <a:xfrm>
            <a:off x="5852160" y="3703320"/>
            <a:ext cx="1508760" cy="457200"/>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Collided vehicles</a:t>
            </a:r>
            <a:endParaRPr lang="en-US" sz="820" dirty="0"/>
          </a:p>
        </p:txBody>
      </p:sp>
      <p:sp>
        <p:nvSpPr>
          <p:cNvPr id="21" name="Text 19"/>
          <p:cNvSpPr/>
          <p:nvPr/>
        </p:nvSpPr>
        <p:spPr>
          <a:xfrm>
            <a:off x="7360920" y="3703320"/>
            <a:ext cx="1508760" cy="457200"/>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Other violations</a:t>
            </a:r>
            <a:endParaRPr lang="en-US" sz="820" dirty="0"/>
          </a:p>
        </p:txBody>
      </p:sp>
      <p:sp>
        <p:nvSpPr>
          <p:cNvPr id="22" name="Text 20"/>
          <p:cNvSpPr/>
          <p:nvPr/>
        </p:nvSpPr>
        <p:spPr>
          <a:xfrm>
            <a:off x="685800" y="4160520"/>
            <a:ext cx="2331720" cy="45720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Sparse 3 lanes / 12 cars</a:t>
            </a:r>
            <a:endParaRPr lang="en-US" sz="820" dirty="0"/>
          </a:p>
        </p:txBody>
      </p:sp>
      <p:sp>
        <p:nvSpPr>
          <p:cNvPr id="23" name="Text 21"/>
          <p:cNvSpPr/>
          <p:nvPr/>
        </p:nvSpPr>
        <p:spPr>
          <a:xfrm>
            <a:off x="3017520" y="4160520"/>
            <a:ext cx="1325880" cy="45720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99.72%</a:t>
            </a:r>
            <a:endParaRPr lang="en-US" sz="820" dirty="0"/>
          </a:p>
        </p:txBody>
      </p:sp>
      <p:sp>
        <p:nvSpPr>
          <p:cNvPr id="24" name="Text 22"/>
          <p:cNvSpPr/>
          <p:nvPr/>
        </p:nvSpPr>
        <p:spPr>
          <a:xfrm>
            <a:off x="4343400" y="4160520"/>
            <a:ext cx="1508760" cy="45720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0.00%</a:t>
            </a:r>
            <a:endParaRPr lang="en-US" sz="820" dirty="0"/>
          </a:p>
        </p:txBody>
      </p:sp>
      <p:sp>
        <p:nvSpPr>
          <p:cNvPr id="25" name="Text 23"/>
          <p:cNvSpPr/>
          <p:nvPr/>
        </p:nvSpPr>
        <p:spPr>
          <a:xfrm>
            <a:off x="5852160" y="4160520"/>
            <a:ext cx="1508760" cy="45720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0.00%</a:t>
            </a:r>
            <a:endParaRPr lang="en-US" sz="820" dirty="0"/>
          </a:p>
        </p:txBody>
      </p:sp>
      <p:sp>
        <p:nvSpPr>
          <p:cNvPr id="26" name="Text 24"/>
          <p:cNvSpPr/>
          <p:nvPr/>
        </p:nvSpPr>
        <p:spPr>
          <a:xfrm>
            <a:off x="7360920" y="4160520"/>
            <a:ext cx="1508760" cy="45720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0.28%</a:t>
            </a:r>
            <a:endParaRPr lang="en-US" sz="820" dirty="0"/>
          </a:p>
        </p:txBody>
      </p:sp>
      <p:sp>
        <p:nvSpPr>
          <p:cNvPr id="27" name="Text 25"/>
          <p:cNvSpPr/>
          <p:nvPr/>
        </p:nvSpPr>
        <p:spPr>
          <a:xfrm>
            <a:off x="685800" y="4617720"/>
            <a:ext cx="2331720" cy="45720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Dense 3 lanes / 24 cars</a:t>
            </a:r>
            <a:endParaRPr lang="en-US" sz="820" dirty="0"/>
          </a:p>
        </p:txBody>
      </p:sp>
      <p:sp>
        <p:nvSpPr>
          <p:cNvPr id="28" name="Text 26"/>
          <p:cNvSpPr/>
          <p:nvPr/>
        </p:nvSpPr>
        <p:spPr>
          <a:xfrm>
            <a:off x="3017520" y="4617720"/>
            <a:ext cx="1325880" cy="45720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96.67%</a:t>
            </a:r>
            <a:endParaRPr lang="en-US" sz="820" dirty="0"/>
          </a:p>
        </p:txBody>
      </p:sp>
      <p:sp>
        <p:nvSpPr>
          <p:cNvPr id="29" name="Text 27"/>
          <p:cNvSpPr/>
          <p:nvPr/>
        </p:nvSpPr>
        <p:spPr>
          <a:xfrm>
            <a:off x="4343400" y="4617720"/>
            <a:ext cx="1508760" cy="45720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0.63%</a:t>
            </a:r>
            <a:endParaRPr lang="en-US" sz="820" dirty="0"/>
          </a:p>
        </p:txBody>
      </p:sp>
      <p:sp>
        <p:nvSpPr>
          <p:cNvPr id="30" name="Text 28"/>
          <p:cNvSpPr/>
          <p:nvPr/>
        </p:nvSpPr>
        <p:spPr>
          <a:xfrm>
            <a:off x="5852160" y="4617720"/>
            <a:ext cx="1508760" cy="45720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1.25%</a:t>
            </a:r>
            <a:endParaRPr lang="en-US" sz="820" dirty="0"/>
          </a:p>
        </p:txBody>
      </p:sp>
      <p:sp>
        <p:nvSpPr>
          <p:cNvPr id="31" name="Text 29"/>
          <p:cNvSpPr/>
          <p:nvPr/>
        </p:nvSpPr>
        <p:spPr>
          <a:xfrm>
            <a:off x="7360920" y="4617720"/>
            <a:ext cx="1508760" cy="45720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1.88%</a:t>
            </a:r>
            <a:endParaRPr lang="en-US" sz="820" dirty="0"/>
          </a:p>
        </p:txBody>
      </p:sp>
      <p:sp>
        <p:nvSpPr>
          <p:cNvPr id="32" name="Text 30"/>
          <p:cNvSpPr/>
          <p:nvPr/>
        </p:nvSpPr>
        <p:spPr>
          <a:xfrm>
            <a:off x="685800" y="5074920"/>
            <a:ext cx="2331720" cy="45720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Stress 3 lanes / 36 cars</a:t>
            </a:r>
            <a:endParaRPr lang="en-US" sz="820" dirty="0"/>
          </a:p>
        </p:txBody>
      </p:sp>
      <p:sp>
        <p:nvSpPr>
          <p:cNvPr id="33" name="Text 31"/>
          <p:cNvSpPr/>
          <p:nvPr/>
        </p:nvSpPr>
        <p:spPr>
          <a:xfrm>
            <a:off x="3017520" y="5074920"/>
            <a:ext cx="1325880" cy="45720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92.22%</a:t>
            </a:r>
            <a:endParaRPr lang="en-US" sz="820" dirty="0"/>
          </a:p>
        </p:txBody>
      </p:sp>
      <p:sp>
        <p:nvSpPr>
          <p:cNvPr id="34" name="Text 32"/>
          <p:cNvSpPr/>
          <p:nvPr/>
        </p:nvSpPr>
        <p:spPr>
          <a:xfrm>
            <a:off x="4343400" y="5074920"/>
            <a:ext cx="1508760" cy="45720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0.56%</a:t>
            </a:r>
            <a:endParaRPr lang="en-US" sz="820" dirty="0"/>
          </a:p>
        </p:txBody>
      </p:sp>
      <p:sp>
        <p:nvSpPr>
          <p:cNvPr id="35" name="Text 33"/>
          <p:cNvSpPr/>
          <p:nvPr/>
        </p:nvSpPr>
        <p:spPr>
          <a:xfrm>
            <a:off x="5852160" y="5074920"/>
            <a:ext cx="1508760" cy="45720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1.11%</a:t>
            </a:r>
            <a:endParaRPr lang="en-US" sz="820" dirty="0"/>
          </a:p>
        </p:txBody>
      </p:sp>
      <p:sp>
        <p:nvSpPr>
          <p:cNvPr id="36" name="Text 34"/>
          <p:cNvSpPr/>
          <p:nvPr/>
        </p:nvSpPr>
        <p:spPr>
          <a:xfrm>
            <a:off x="7360920" y="5074920"/>
            <a:ext cx="1508760" cy="45720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2.64%</a:t>
            </a:r>
            <a:endParaRPr lang="en-US" sz="820" dirty="0"/>
          </a:p>
        </p:txBody>
      </p:sp>
      <p:sp>
        <p:nvSpPr>
          <p:cNvPr id="37" name="Text 35"/>
          <p:cNvSpPr/>
          <p:nvPr/>
        </p:nvSpPr>
        <p:spPr>
          <a:xfrm>
            <a:off x="9646920" y="3703320"/>
            <a:ext cx="1417320" cy="182880"/>
          </a:xfrm>
          <a:prstGeom prst="rect">
            <a:avLst/>
          </a:prstGeom>
          <a:solidFill>
            <a:srgbClr val="059669"/>
          </a:solidFill>
          <a:ln>
            <a:solidFill>
              <a:srgbClr val="059669">
                <a:alpha val="0"/>
              </a:srgbClr>
            </a:solidFill>
          </a:ln>
        </p:spPr>
        <p:txBody>
          <a:bodyPr wrap="square" lIns="445" tIns="445" rIns="445" bIns="445" rtlCol="0" anchor="ctr"/>
          <a:lstStyle/>
          <a:p>
            <a:pPr algn="ctr" indent="0" marL="0">
              <a:buNone/>
            </a:pPr>
            <a:r>
              <a:rPr lang="en-US" sz="720" b="1" dirty="0">
                <a:solidFill>
                  <a:srgbClr val="FFFFFF"/>
                </a:solidFill>
              </a:rPr>
              <a:t>PRODUCTION</a:t>
            </a:r>
            <a:endParaRPr lang="en-US" sz="720" dirty="0"/>
          </a:p>
        </p:txBody>
      </p:sp>
      <p:sp>
        <p:nvSpPr>
          <p:cNvPr id="38" name="Text 36"/>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Production means accepted simulator checkpoint/configuration, not road deployment.</a:t>
            </a:r>
            <a:endParaRPr lang="en-US" sz="76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APPENDIX / TECHNICAL BACKUP</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A2 — V5 tensor and actor detail</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27</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Production tensor contract and actor heads.</a:t>
            </a:r>
            <a:endParaRPr lang="en-US" sz="1230" dirty="0"/>
          </a:p>
        </p:txBody>
      </p:sp>
      <p:sp>
        <p:nvSpPr>
          <p:cNvPr id="7" name="Text 5"/>
          <p:cNvSpPr/>
          <p:nvPr/>
        </p:nvSpPr>
        <p:spPr>
          <a:xfrm>
            <a:off x="685800" y="1325880"/>
            <a:ext cx="2011680" cy="402336"/>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Property</a:t>
            </a:r>
            <a:endParaRPr lang="en-US" sz="820" dirty="0"/>
          </a:p>
        </p:txBody>
      </p:sp>
      <p:sp>
        <p:nvSpPr>
          <p:cNvPr id="8" name="Text 6"/>
          <p:cNvSpPr/>
          <p:nvPr/>
        </p:nvSpPr>
        <p:spPr>
          <a:xfrm>
            <a:off x="2697480" y="1325880"/>
            <a:ext cx="6400800" cy="402336"/>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Value / boundary</a:t>
            </a:r>
            <a:endParaRPr lang="en-US" sz="820" dirty="0"/>
          </a:p>
        </p:txBody>
      </p:sp>
      <p:sp>
        <p:nvSpPr>
          <p:cNvPr id="9" name="Text 7"/>
          <p:cNvSpPr/>
          <p:nvPr/>
        </p:nvSpPr>
        <p:spPr>
          <a:xfrm>
            <a:off x="9098280" y="1325880"/>
            <a:ext cx="2011680" cy="402336"/>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Status</a:t>
            </a:r>
            <a:endParaRPr lang="en-US" sz="820" dirty="0"/>
          </a:p>
        </p:txBody>
      </p:sp>
      <p:sp>
        <p:nvSpPr>
          <p:cNvPr id="10" name="Text 8"/>
          <p:cNvSpPr/>
          <p:nvPr/>
        </p:nvSpPr>
        <p:spPr>
          <a:xfrm>
            <a:off x="685800" y="1728216"/>
            <a:ext cx="201168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Ego / node / edge</a:t>
            </a:r>
            <a:endParaRPr lang="en-US" sz="820" dirty="0"/>
          </a:p>
        </p:txBody>
      </p:sp>
      <p:sp>
        <p:nvSpPr>
          <p:cNvPr id="11" name="Text 9"/>
          <p:cNvSpPr/>
          <p:nvPr/>
        </p:nvSpPr>
        <p:spPr>
          <a:xfrm>
            <a:off x="2697480" y="1728216"/>
            <a:ext cx="640080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49 / 27 / 25</a:t>
            </a:r>
            <a:endParaRPr lang="en-US" sz="820" dirty="0"/>
          </a:p>
        </p:txBody>
      </p:sp>
      <p:sp>
        <p:nvSpPr>
          <p:cNvPr id="12" name="Text 10"/>
          <p:cNvSpPr/>
          <p:nvPr/>
        </p:nvSpPr>
        <p:spPr>
          <a:xfrm>
            <a:off x="9098280" y="1728216"/>
            <a:ext cx="2011680" cy="402336"/>
          </a:xfrm>
          <a:prstGeom prst="rect">
            <a:avLst/>
          </a:prstGeom>
          <a:solidFill>
            <a:srgbClr val="059669"/>
          </a:solidFill>
          <a:ln w="12700">
            <a:solidFill>
              <a:srgbClr val="E2E8F0"/>
            </a:solidFill>
          </a:ln>
        </p:spPr>
        <p:txBody>
          <a:bodyPr wrap="square" lIns="508" tIns="508" rIns="508" bIns="508" rtlCol="0" anchor="ctr">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PRODUCTION</a:t>
            </a:r>
            <a:endParaRPr lang="en-US" sz="820" dirty="0"/>
          </a:p>
        </p:txBody>
      </p:sp>
      <p:sp>
        <p:nvSpPr>
          <p:cNvPr id="13" name="Text 11"/>
          <p:cNvSpPr/>
          <p:nvPr/>
        </p:nvSpPr>
        <p:spPr>
          <a:xfrm>
            <a:off x="685800" y="2130552"/>
            <a:ext cx="201168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Max nodes</a:t>
            </a:r>
            <a:endParaRPr lang="en-US" sz="820" dirty="0"/>
          </a:p>
        </p:txBody>
      </p:sp>
      <p:sp>
        <p:nvSpPr>
          <p:cNvPr id="14" name="Text 12"/>
          <p:cNvSpPr/>
          <p:nvPr/>
        </p:nvSpPr>
        <p:spPr>
          <a:xfrm>
            <a:off x="2697480" y="2130552"/>
            <a:ext cx="640080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52 in selected checkpoint</a:t>
            </a:r>
            <a:endParaRPr lang="en-US" sz="820" dirty="0"/>
          </a:p>
        </p:txBody>
      </p:sp>
      <p:sp>
        <p:nvSpPr>
          <p:cNvPr id="15" name="Text 13"/>
          <p:cNvSpPr/>
          <p:nvPr/>
        </p:nvSpPr>
        <p:spPr>
          <a:xfrm>
            <a:off x="9098280" y="2130552"/>
            <a:ext cx="2011680" cy="402336"/>
          </a:xfrm>
          <a:prstGeom prst="rect">
            <a:avLst/>
          </a:prstGeom>
          <a:solidFill>
            <a:srgbClr val="059669"/>
          </a:solidFill>
          <a:ln w="12700">
            <a:solidFill>
              <a:srgbClr val="E2E8F0"/>
            </a:solidFill>
          </a:ln>
        </p:spPr>
        <p:txBody>
          <a:bodyPr wrap="square" lIns="508" tIns="508" rIns="508" bIns="508" rtlCol="0" anchor="ctr">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PRODUCTION</a:t>
            </a:r>
            <a:endParaRPr lang="en-US" sz="820" dirty="0"/>
          </a:p>
        </p:txBody>
      </p:sp>
      <p:sp>
        <p:nvSpPr>
          <p:cNvPr id="16" name="Text 14"/>
          <p:cNvSpPr/>
          <p:nvPr/>
        </p:nvSpPr>
        <p:spPr>
          <a:xfrm>
            <a:off x="685800" y="2532888"/>
            <a:ext cx="201168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Hidden size</a:t>
            </a:r>
            <a:endParaRPr lang="en-US" sz="820" dirty="0"/>
          </a:p>
        </p:txBody>
      </p:sp>
      <p:sp>
        <p:nvSpPr>
          <p:cNvPr id="17" name="Text 15"/>
          <p:cNvSpPr/>
          <p:nvPr/>
        </p:nvSpPr>
        <p:spPr>
          <a:xfrm>
            <a:off x="2697480" y="2532888"/>
            <a:ext cx="640080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128</a:t>
            </a:r>
            <a:endParaRPr lang="en-US" sz="820" dirty="0"/>
          </a:p>
        </p:txBody>
      </p:sp>
      <p:sp>
        <p:nvSpPr>
          <p:cNvPr id="18" name="Text 16"/>
          <p:cNvSpPr/>
          <p:nvPr/>
        </p:nvSpPr>
        <p:spPr>
          <a:xfrm>
            <a:off x="9098280" y="2532888"/>
            <a:ext cx="2011680" cy="402336"/>
          </a:xfrm>
          <a:prstGeom prst="rect">
            <a:avLst/>
          </a:prstGeom>
          <a:solidFill>
            <a:srgbClr val="059669"/>
          </a:solidFill>
          <a:ln w="12700">
            <a:solidFill>
              <a:srgbClr val="E2E8F0"/>
            </a:solidFill>
          </a:ln>
        </p:spPr>
        <p:txBody>
          <a:bodyPr wrap="square" lIns="508" tIns="508" rIns="508" bIns="508" rtlCol="0" anchor="ctr">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PRODUCTION</a:t>
            </a:r>
            <a:endParaRPr lang="en-US" sz="820" dirty="0"/>
          </a:p>
        </p:txBody>
      </p:sp>
      <p:sp>
        <p:nvSpPr>
          <p:cNvPr id="19" name="Text 17"/>
          <p:cNvSpPr/>
          <p:nvPr/>
        </p:nvSpPr>
        <p:spPr>
          <a:xfrm>
            <a:off x="685800" y="2935224"/>
            <a:ext cx="201168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Attention blocks</a:t>
            </a:r>
            <a:endParaRPr lang="en-US" sz="820" dirty="0"/>
          </a:p>
        </p:txBody>
      </p:sp>
      <p:sp>
        <p:nvSpPr>
          <p:cNvPr id="20" name="Text 18"/>
          <p:cNvSpPr/>
          <p:nvPr/>
        </p:nvSpPr>
        <p:spPr>
          <a:xfrm>
            <a:off x="2697480" y="2935224"/>
            <a:ext cx="640080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2 custom typed graph-attention blocks</a:t>
            </a:r>
            <a:endParaRPr lang="en-US" sz="820" dirty="0"/>
          </a:p>
        </p:txBody>
      </p:sp>
      <p:sp>
        <p:nvSpPr>
          <p:cNvPr id="21" name="Text 19"/>
          <p:cNvSpPr/>
          <p:nvPr/>
        </p:nvSpPr>
        <p:spPr>
          <a:xfrm>
            <a:off x="9098280" y="2935224"/>
            <a:ext cx="2011680" cy="402336"/>
          </a:xfrm>
          <a:prstGeom prst="rect">
            <a:avLst/>
          </a:prstGeom>
          <a:solidFill>
            <a:srgbClr val="059669"/>
          </a:solidFill>
          <a:ln w="12700">
            <a:solidFill>
              <a:srgbClr val="E2E8F0"/>
            </a:solidFill>
          </a:ln>
        </p:spPr>
        <p:txBody>
          <a:bodyPr wrap="square" lIns="508" tIns="508" rIns="508" bIns="508" rtlCol="0" anchor="ctr">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PRODUCTION</a:t>
            </a:r>
            <a:endParaRPr lang="en-US" sz="820" dirty="0"/>
          </a:p>
        </p:txBody>
      </p:sp>
      <p:sp>
        <p:nvSpPr>
          <p:cNvPr id="22" name="Text 20"/>
          <p:cNvSpPr/>
          <p:nvPr/>
        </p:nvSpPr>
        <p:spPr>
          <a:xfrm>
            <a:off x="685800" y="3337560"/>
            <a:ext cx="201168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Longitudinal modes</a:t>
            </a:r>
            <a:endParaRPr lang="en-US" sz="820" dirty="0"/>
          </a:p>
        </p:txBody>
      </p:sp>
      <p:sp>
        <p:nvSpPr>
          <p:cNvPr id="23" name="Text 21"/>
          <p:cNvSpPr/>
          <p:nvPr/>
        </p:nvSpPr>
        <p:spPr>
          <a:xfrm>
            <a:off x="2697480" y="3337560"/>
            <a:ext cx="640080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brake / creep / go with learned mixture gate</a:t>
            </a:r>
            <a:endParaRPr lang="en-US" sz="820" dirty="0"/>
          </a:p>
        </p:txBody>
      </p:sp>
      <p:sp>
        <p:nvSpPr>
          <p:cNvPr id="24" name="Text 22"/>
          <p:cNvSpPr/>
          <p:nvPr/>
        </p:nvSpPr>
        <p:spPr>
          <a:xfrm>
            <a:off x="9098280" y="3337560"/>
            <a:ext cx="2011680" cy="402336"/>
          </a:xfrm>
          <a:prstGeom prst="rect">
            <a:avLst/>
          </a:prstGeom>
          <a:solidFill>
            <a:srgbClr val="059669"/>
          </a:solidFill>
          <a:ln w="12700">
            <a:solidFill>
              <a:srgbClr val="E2E8F0"/>
            </a:solidFill>
          </a:ln>
        </p:spPr>
        <p:txBody>
          <a:bodyPr wrap="square" lIns="508" tIns="508" rIns="508" bIns="508" rtlCol="0" anchor="ctr">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PRODUCTION</a:t>
            </a:r>
            <a:endParaRPr lang="en-US" sz="820" dirty="0"/>
          </a:p>
        </p:txBody>
      </p:sp>
      <p:sp>
        <p:nvSpPr>
          <p:cNvPr id="25" name="Text 23"/>
          <p:cNvSpPr/>
          <p:nvPr/>
        </p:nvSpPr>
        <p:spPr>
          <a:xfrm>
            <a:off x="685800" y="3739896"/>
            <a:ext cx="201168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Action 0</a:t>
            </a:r>
            <a:endParaRPr lang="en-US" sz="820" dirty="0"/>
          </a:p>
        </p:txBody>
      </p:sp>
      <p:sp>
        <p:nvSpPr>
          <p:cNvPr id="26" name="Text 24"/>
          <p:cNvSpPr/>
          <p:nvPr/>
        </p:nvSpPr>
        <p:spPr>
          <a:xfrm>
            <a:off x="2697480" y="3739896"/>
            <a:ext cx="640080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normalized longitudinal acceleration</a:t>
            </a:r>
            <a:endParaRPr lang="en-US" sz="820" dirty="0"/>
          </a:p>
        </p:txBody>
      </p:sp>
      <p:sp>
        <p:nvSpPr>
          <p:cNvPr id="27" name="Text 25"/>
          <p:cNvSpPr/>
          <p:nvPr/>
        </p:nvSpPr>
        <p:spPr>
          <a:xfrm>
            <a:off x="9098280" y="3739896"/>
            <a:ext cx="2011680" cy="402336"/>
          </a:xfrm>
          <a:prstGeom prst="rect">
            <a:avLst/>
          </a:prstGeom>
          <a:solidFill>
            <a:srgbClr val="059669"/>
          </a:solidFill>
          <a:ln w="12700">
            <a:solidFill>
              <a:srgbClr val="E2E8F0"/>
            </a:solidFill>
          </a:ln>
        </p:spPr>
        <p:txBody>
          <a:bodyPr wrap="square" lIns="508" tIns="508" rIns="508" bIns="508" rtlCol="0" anchor="ctr">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PRODUCTION</a:t>
            </a:r>
            <a:endParaRPr lang="en-US" sz="820" dirty="0"/>
          </a:p>
        </p:txBody>
      </p:sp>
      <p:sp>
        <p:nvSpPr>
          <p:cNvPr id="28" name="Text 26"/>
          <p:cNvSpPr/>
          <p:nvPr/>
        </p:nvSpPr>
        <p:spPr>
          <a:xfrm>
            <a:off x="685800" y="4142232"/>
            <a:ext cx="201168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Action 1</a:t>
            </a:r>
            <a:endParaRPr lang="en-US" sz="820" dirty="0"/>
          </a:p>
        </p:txBody>
      </p:sp>
      <p:sp>
        <p:nvSpPr>
          <p:cNvPr id="29" name="Text 27"/>
          <p:cNvSpPr/>
          <p:nvPr/>
        </p:nvSpPr>
        <p:spPr>
          <a:xfrm>
            <a:off x="2697480" y="4142232"/>
            <a:ext cx="640080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steering output retained but inert/path-locked</a:t>
            </a:r>
            <a:endParaRPr lang="en-US" sz="820" dirty="0"/>
          </a:p>
        </p:txBody>
      </p:sp>
      <p:sp>
        <p:nvSpPr>
          <p:cNvPr id="30" name="Text 28"/>
          <p:cNvSpPr/>
          <p:nvPr/>
        </p:nvSpPr>
        <p:spPr>
          <a:xfrm>
            <a:off x="9098280" y="4142232"/>
            <a:ext cx="2011680" cy="402336"/>
          </a:xfrm>
          <a:prstGeom prst="rect">
            <a:avLst/>
          </a:prstGeom>
          <a:solidFill>
            <a:srgbClr val="DC2626"/>
          </a:solidFill>
          <a:ln w="12700">
            <a:solidFill>
              <a:srgbClr val="E2E8F0"/>
            </a:solidFill>
          </a:ln>
        </p:spPr>
        <p:txBody>
          <a:bodyPr wrap="square" lIns="508" tIns="508" rIns="508" bIns="508" rtlCol="0" anchor="ctr">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LIMITATION</a:t>
            </a:r>
            <a:endParaRPr lang="en-US" sz="820" dirty="0"/>
          </a:p>
        </p:txBody>
      </p:sp>
      <p:sp>
        <p:nvSpPr>
          <p:cNvPr id="31" name="Text 29"/>
          <p:cNvSpPr/>
          <p:nvPr/>
        </p:nvSpPr>
        <p:spPr>
          <a:xfrm>
            <a:off x="685800" y="4544568"/>
            <a:ext cx="201168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Runtime shield</a:t>
            </a:r>
            <a:endParaRPr lang="en-US" sz="820" dirty="0"/>
          </a:p>
        </p:txBody>
      </p:sp>
      <p:sp>
        <p:nvSpPr>
          <p:cNvPr id="32" name="Text 30"/>
          <p:cNvSpPr/>
          <p:nvPr/>
        </p:nvSpPr>
        <p:spPr>
          <a:xfrm>
            <a:off x="2697480" y="4544568"/>
            <a:ext cx="6400800" cy="40233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off in formal qualification</a:t>
            </a:r>
            <a:endParaRPr lang="en-US" sz="820" dirty="0"/>
          </a:p>
        </p:txBody>
      </p:sp>
      <p:sp>
        <p:nvSpPr>
          <p:cNvPr id="33" name="Text 31"/>
          <p:cNvSpPr/>
          <p:nvPr/>
        </p:nvSpPr>
        <p:spPr>
          <a:xfrm>
            <a:off x="9098280" y="4544568"/>
            <a:ext cx="2011680" cy="402336"/>
          </a:xfrm>
          <a:prstGeom prst="rect">
            <a:avLst/>
          </a:prstGeom>
          <a:solidFill>
            <a:srgbClr val="059669"/>
          </a:solidFill>
          <a:ln w="12700">
            <a:solidFill>
              <a:srgbClr val="E2E8F0"/>
            </a:solidFill>
          </a:ln>
        </p:spPr>
        <p:txBody>
          <a:bodyPr wrap="square" lIns="508" tIns="508" rIns="508" bIns="508" rtlCol="0" anchor="ctr">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PRODUCTION</a:t>
            </a:r>
            <a:endParaRPr lang="en-US" sz="820" dirty="0"/>
          </a:p>
        </p:txBody>
      </p:sp>
      <p:sp>
        <p:nvSpPr>
          <p:cNvPr id="34" name="Text 32"/>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Do not claim learned V5 lateral control.</a:t>
            </a:r>
            <a:endParaRPr lang="en-US" sz="76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APPENDIX / TECHNICAL BACKUP</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A3 — Dynamics equations and stopping feasibility</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28</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Jerk-aware stop distance can differ sharply from v²/(2b).</a:t>
            </a:r>
            <a:endParaRPr lang="en-US" sz="1230" dirty="0"/>
          </a:p>
        </p:txBody>
      </p:sp>
      <p:sp>
        <p:nvSpPr>
          <p:cNvPr id="7" name="Text 5"/>
          <p:cNvSpPr/>
          <p:nvPr/>
        </p:nvSpPr>
        <p:spPr>
          <a:xfrm>
            <a:off x="685800" y="1325880"/>
            <a:ext cx="5120640" cy="3931920"/>
          </a:xfrm>
          <a:prstGeom prst="rect">
            <a:avLst/>
          </a:prstGeom>
          <a:noFill/>
          <a:ln/>
        </p:spPr>
        <p:txBody>
          <a:bodyPr wrap="square" lIns="1016" tIns="1016" rIns="1016" bIns="1016" rtlCol="0" anchor="t">
            <a:normAutofit/>
          </a:bodyPr>
          <a:lstStyle/>
          <a:p>
            <a:pPr indent="0" marL="0">
              <a:buNone/>
            </a:pPr>
            <a:r>
              <a:rPr lang="en-US" sz="1450" dirty="0">
                <a:solidFill>
                  <a:srgbClr val="0B132B"/>
                </a:solidFill>
                <a:latin typeface="Aptos" pitchFamily="34" charset="0"/>
                <a:ea typeface="Aptos" pitchFamily="34" charset="-122"/>
                <a:cs typeface="Aptos" pitchFamily="34" charset="-120"/>
              </a:rPr>
              <a:t>• Request scaling: u ≥ 0 → 2.5u m/s²; u &lt; 0 → 4.0u m/s².</a:t>
            </a:r>
            <a:endParaRPr lang="en-US" sz="1450" dirty="0"/>
          </a:p>
          <a:p>
            <a:pPr indent="0" marL="0">
              <a:buNone/>
            </a:pPr>
            <a:r>
              <a:rPr lang="en-US" sz="1450" dirty="0">
                <a:solidFill>
                  <a:srgbClr val="0B132B"/>
                </a:solidFill>
                <a:latin typeface="Aptos" pitchFamily="34" charset="0"/>
                <a:ea typeface="Aptos" pitchFamily="34" charset="-122"/>
                <a:cs typeface="Aptos" pitchFamily="34" charset="-120"/>
              </a:rPr>
              <a:t>• Jerk selection: J = 3.0 m/s³ when increasing acceleration; J = 6.0 m/s³ when decreasing/braking.</a:t>
            </a:r>
            <a:endParaRPr lang="en-US" sz="1450" dirty="0"/>
          </a:p>
          <a:p>
            <a:pPr indent="0" marL="0">
              <a:buNone/>
            </a:pPr>
            <a:r>
              <a:rPr lang="en-US" sz="1450" dirty="0">
                <a:solidFill>
                  <a:srgbClr val="0B132B"/>
                </a:solidFill>
                <a:latin typeface="Aptos" pitchFamily="34" charset="0"/>
                <a:ea typeface="Aptos" pitchFamily="34" charset="-122"/>
                <a:cs typeface="Aptos" pitchFamily="34" charset="-120"/>
              </a:rPr>
              <a:t>• Discrete integration uses trapezoidal average acceleration and average speed at dt = 0.2 s.</a:t>
            </a:r>
            <a:endParaRPr lang="en-US" sz="1450" dirty="0"/>
          </a:p>
          <a:p>
            <a:pPr indent="0" marL="0">
              <a:buNone/>
            </a:pPr>
            <a:r>
              <a:rPr lang="en-US" sz="1450" dirty="0">
                <a:solidFill>
                  <a:srgbClr val="0B132B"/>
                </a:solidFill>
                <a:latin typeface="Aptos" pitchFamily="34" charset="0"/>
                <a:ea typeface="Aptos" pitchFamily="34" charset="-122"/>
                <a:cs typeface="Aptos" pitchFamily="34" charset="-120"/>
              </a:rPr>
              <a:t>• Example: v₀=4, a₀=+2, b=4, J=6 gives 5.125 m vs 2.0 m instant-brake estimate.</a:t>
            </a:r>
            <a:endParaRPr lang="en-US" sz="1450" dirty="0"/>
          </a:p>
        </p:txBody>
      </p:sp>
      <p:sp>
        <p:nvSpPr>
          <p:cNvPr id="8" name="Text 6"/>
          <p:cNvSpPr/>
          <p:nvPr/>
        </p:nvSpPr>
        <p:spPr>
          <a:xfrm>
            <a:off x="6309360" y="1325880"/>
            <a:ext cx="5074920" cy="2011680"/>
          </a:xfrm>
          <a:prstGeom prst="rect">
            <a:avLst/>
          </a:prstGeom>
          <a:solidFill>
            <a:srgbClr val="F8FAFC"/>
          </a:solidFill>
          <a:ln w="12700">
            <a:solidFill>
              <a:srgbClr val="E2E8F0"/>
            </a:solidFill>
          </a:ln>
        </p:spPr>
        <p:txBody>
          <a:bodyPr wrap="square" lIns="1016" tIns="1016" rIns="1016" bIns="1016" rtlCol="0" anchor="ctr">
            <a:normAutofit/>
          </a:bodyPr>
          <a:lstStyle/>
          <a:p>
            <a:pPr algn="l" indent="0" marL="0">
              <a:buNone/>
            </a:pPr>
            <a:r>
              <a:rPr lang="en-US" sz="1500" dirty="0">
                <a:solidFill>
                  <a:srgbClr val="0B132B"/>
                </a:solidFill>
                <a:latin typeface="Aptos" pitchFamily="34" charset="0"/>
                <a:ea typeface="Aptos" pitchFamily="34" charset="-122"/>
                <a:cs typeface="Aptos" pitchFamily="34" charset="-120"/>
              </a:rPr>
              <a:t>a_req = u·2.5 if u≥0; u·4.0 if u&lt;0</a:t>
            </a:r>
            <a:endParaRPr lang="en-US" sz="1500" dirty="0"/>
          </a:p>
          <a:p>
            <a:pPr algn="l" indent="0" marL="0">
              <a:buNone/>
            </a:pPr>
            <a:r>
              <a:rPr lang="en-US" sz="1500" dirty="0">
                <a:solidFill>
                  <a:srgbClr val="0B132B"/>
                </a:solidFill>
                <a:latin typeface="Aptos" pitchFamily="34" charset="0"/>
                <a:ea typeface="Aptos" pitchFamily="34" charset="-122"/>
                <a:cs typeface="Aptos" pitchFamily="34" charset="-120"/>
              </a:rPr>
              <a:t>Δa = clip(a_req − a_t, −JΔt, JΔt)</a:t>
            </a:r>
            <a:endParaRPr lang="en-US" sz="1500" dirty="0"/>
          </a:p>
          <a:p>
            <a:pPr algn="l" indent="0" marL="0">
              <a:buNone/>
            </a:pPr>
            <a:r>
              <a:rPr lang="en-US" sz="1500" dirty="0">
                <a:solidFill>
                  <a:srgbClr val="0B132B"/>
                </a:solidFill>
                <a:latin typeface="Aptos" pitchFamily="34" charset="0"/>
                <a:ea typeface="Aptos" pitchFamily="34" charset="-122"/>
                <a:cs typeface="Aptos" pitchFamily="34" charset="-120"/>
              </a:rPr>
              <a:t>a_{t+1}=a_t+Δa</a:t>
            </a:r>
            <a:endParaRPr lang="en-US" sz="1500" dirty="0"/>
          </a:p>
          <a:p>
            <a:pPr algn="l" indent="0" marL="0">
              <a:buNone/>
            </a:pPr>
            <a:r>
              <a:rPr lang="en-US" sz="1500" dirty="0">
                <a:solidFill>
                  <a:srgbClr val="0B132B"/>
                </a:solidFill>
                <a:latin typeface="Aptos" pitchFamily="34" charset="0"/>
                <a:ea typeface="Aptos" pitchFamily="34" charset="-122"/>
                <a:cs typeface="Aptos" pitchFamily="34" charset="-120"/>
              </a:rPr>
              <a:t>v_{t+1}=clip(v_t+(a_t+a_{t+1})Δt/2,0,13.4)</a:t>
            </a:r>
            <a:endParaRPr lang="en-US" sz="1500" dirty="0"/>
          </a:p>
          <a:p>
            <a:pPr algn="l" indent="0" marL="0">
              <a:buNone/>
            </a:pPr>
            <a:r>
              <a:rPr lang="en-US" sz="1500" dirty="0">
                <a:solidFill>
                  <a:srgbClr val="0B132B"/>
                </a:solidFill>
                <a:latin typeface="Aptos" pitchFamily="34" charset="0"/>
                <a:ea typeface="Aptos" pitchFamily="34" charset="-122"/>
                <a:cs typeface="Aptos" pitchFamily="34" charset="-120"/>
              </a:rPr>
              <a:t>s_{t+1}=s_t+(v_t+v_{t+1})Δt/2</a:t>
            </a:r>
            <a:endParaRPr lang="en-US" sz="1500" dirty="0"/>
          </a:p>
        </p:txBody>
      </p:sp>
      <p:sp>
        <p:nvSpPr>
          <p:cNvPr id="9" name="Shape 7"/>
          <p:cNvSpPr/>
          <p:nvPr/>
        </p:nvSpPr>
        <p:spPr>
          <a:xfrm>
            <a:off x="6537960" y="4389120"/>
            <a:ext cx="4206240" cy="0"/>
          </a:xfrm>
          <a:prstGeom prst="line">
            <a:avLst/>
          </a:prstGeom>
          <a:noFill/>
          <a:ln w="15240">
            <a:solidFill>
              <a:srgbClr val="64748B"/>
            </a:solidFill>
            <a:prstDash val="solid"/>
            <a:headEnd type="none"/>
            <a:tailEnd type="triangle"/>
          </a:ln>
        </p:spPr>
      </p:sp>
      <p:sp>
        <p:nvSpPr>
          <p:cNvPr id="10" name="Shape 8"/>
          <p:cNvSpPr/>
          <p:nvPr/>
        </p:nvSpPr>
        <p:spPr>
          <a:xfrm>
            <a:off x="7955280" y="4160520"/>
            <a:ext cx="0" cy="457200"/>
          </a:xfrm>
          <a:prstGeom prst="line">
            <a:avLst/>
          </a:prstGeom>
          <a:noFill/>
          <a:ln w="25400">
            <a:solidFill>
              <a:srgbClr val="1D4ED8"/>
            </a:solidFill>
            <a:prstDash val="solid"/>
          </a:ln>
        </p:spPr>
      </p:sp>
      <p:sp>
        <p:nvSpPr>
          <p:cNvPr id="11" name="Shape 9"/>
          <p:cNvSpPr/>
          <p:nvPr/>
        </p:nvSpPr>
        <p:spPr>
          <a:xfrm>
            <a:off x="10149840" y="4160520"/>
            <a:ext cx="0" cy="457200"/>
          </a:xfrm>
          <a:prstGeom prst="line">
            <a:avLst/>
          </a:prstGeom>
          <a:noFill/>
          <a:ln w="25400">
            <a:solidFill>
              <a:srgbClr val="DC2626"/>
            </a:solidFill>
            <a:prstDash val="solid"/>
          </a:ln>
        </p:spPr>
      </p:sp>
      <p:sp>
        <p:nvSpPr>
          <p:cNvPr id="12" name="Text 10"/>
          <p:cNvSpPr/>
          <p:nvPr/>
        </p:nvSpPr>
        <p:spPr>
          <a:xfrm>
            <a:off x="7635240" y="4636008"/>
            <a:ext cx="777240" cy="347472"/>
          </a:xfrm>
          <a:prstGeom prst="rect">
            <a:avLst/>
          </a:prstGeom>
          <a:noFill/>
          <a:ln/>
        </p:spPr>
        <p:txBody>
          <a:bodyPr wrap="square" lIns="127" tIns="127" rIns="127" bIns="127" rtlCol="0" anchor="ctr"/>
          <a:lstStyle/>
          <a:p>
            <a:pPr algn="ctr" indent="0" marL="0">
              <a:buNone/>
            </a:pPr>
            <a:r>
              <a:rPr lang="en-US" sz="820" dirty="0">
                <a:solidFill>
                  <a:srgbClr val="1D4ED8"/>
                </a:solidFill>
              </a:rPr>
              <a:t>instant</a:t>
            </a:r>
            <a:endParaRPr lang="en-US" sz="820" dirty="0"/>
          </a:p>
          <a:p>
            <a:pPr algn="ctr" indent="0" marL="0">
              <a:buNone/>
            </a:pPr>
            <a:r>
              <a:rPr lang="en-US" sz="820" dirty="0">
                <a:solidFill>
                  <a:srgbClr val="1D4ED8"/>
                </a:solidFill>
              </a:rPr>
              <a:t>2.0 m</a:t>
            </a:r>
            <a:endParaRPr lang="en-US" sz="820" dirty="0"/>
          </a:p>
        </p:txBody>
      </p:sp>
      <p:sp>
        <p:nvSpPr>
          <p:cNvPr id="13" name="Text 11"/>
          <p:cNvSpPr/>
          <p:nvPr/>
        </p:nvSpPr>
        <p:spPr>
          <a:xfrm>
            <a:off x="9784080" y="4636008"/>
            <a:ext cx="960120" cy="347472"/>
          </a:xfrm>
          <a:prstGeom prst="rect">
            <a:avLst/>
          </a:prstGeom>
          <a:noFill/>
          <a:ln/>
        </p:spPr>
        <p:txBody>
          <a:bodyPr wrap="square" lIns="127" tIns="127" rIns="127" bIns="127" rtlCol="0" anchor="ctr"/>
          <a:lstStyle/>
          <a:p>
            <a:pPr algn="ctr" indent="0" marL="0">
              <a:buNone/>
            </a:pPr>
            <a:r>
              <a:rPr lang="en-US" sz="820" dirty="0">
                <a:solidFill>
                  <a:srgbClr val="DC2626"/>
                </a:solidFill>
              </a:rPr>
              <a:t>jerk-aware</a:t>
            </a:r>
            <a:endParaRPr lang="en-US" sz="820" dirty="0"/>
          </a:p>
          <a:p>
            <a:pPr algn="ctr" indent="0" marL="0">
              <a:buNone/>
            </a:pPr>
            <a:r>
              <a:rPr lang="en-US" sz="820" dirty="0">
                <a:solidFill>
                  <a:srgbClr val="DC2626"/>
                </a:solidFill>
              </a:rPr>
              <a:t>5.125 m</a:t>
            </a:r>
            <a:endParaRPr lang="en-US" sz="820" dirty="0"/>
          </a:p>
        </p:txBody>
      </p:sp>
      <p:sp>
        <p:nvSpPr>
          <p:cNvPr id="14" name="Text 12"/>
          <p:cNvSpPr/>
          <p:nvPr/>
        </p:nvSpPr>
        <p:spPr>
          <a:xfrm>
            <a:off x="6537960" y="5074920"/>
            <a:ext cx="4389120" cy="201168"/>
          </a:xfrm>
          <a:prstGeom prst="rect">
            <a:avLst/>
          </a:prstGeom>
          <a:noFill/>
          <a:ln/>
        </p:spPr>
        <p:txBody>
          <a:bodyPr wrap="square" lIns="0" tIns="0" rIns="0" bIns="0" rtlCol="0" anchor="ctr"/>
          <a:lstStyle/>
          <a:p>
            <a:pPr algn="ctr" indent="0" marL="0">
              <a:buNone/>
            </a:pPr>
            <a:r>
              <a:rPr lang="en-US" sz="840" dirty="0">
                <a:solidFill>
                  <a:srgbClr val="475569"/>
                </a:solidFill>
              </a:rPr>
              <a:t>v=4 m/s, a=+2 m/s², brake=4 m/s², J=6 m/s³</a:t>
            </a:r>
            <a:endParaRPr lang="en-US" sz="840" dirty="0"/>
          </a:p>
        </p:txBody>
      </p:sp>
      <p:sp>
        <p:nvSpPr>
          <p:cNvPr id="15" name="Text 13"/>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These are simulator parameters, not universal vehicle limits.</a:t>
            </a:r>
            <a:endParaRPr lang="en-US" sz="76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APPENDIX / TECHNICAL BACKUP</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A4 — PPO, prewarm, and provenance rule</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29</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Promoted learned behavior required positive PPO and independent deterministic qualification.</a:t>
            </a:r>
            <a:endParaRPr lang="en-US" sz="1230" dirty="0"/>
          </a:p>
        </p:txBody>
      </p:sp>
      <p:sp>
        <p:nvSpPr>
          <p:cNvPr id="7" name="Text 5"/>
          <p:cNvSpPr/>
          <p:nvPr/>
        </p:nvSpPr>
        <p:spPr>
          <a:xfrm>
            <a:off x="685800" y="1325880"/>
            <a:ext cx="5669280" cy="4297680"/>
          </a:xfrm>
          <a:prstGeom prst="rect">
            <a:avLst/>
          </a:prstGeom>
          <a:noFill/>
          <a:ln/>
        </p:spPr>
        <p:txBody>
          <a:bodyPr wrap="square" lIns="1016" tIns="1016" rIns="1016" bIns="1016" rtlCol="0" anchor="t">
            <a:normAutofit/>
          </a:bodyPr>
          <a:lstStyle/>
          <a:p>
            <a:pPr indent="0" marL="0">
              <a:buNone/>
            </a:pPr>
            <a:r>
              <a:rPr lang="en-US" sz="1400" dirty="0">
                <a:solidFill>
                  <a:srgbClr val="0B132B"/>
                </a:solidFill>
                <a:latin typeface="Aptos" pitchFamily="34" charset="0"/>
                <a:ea typeface="Aptos" pitchFamily="34" charset="-122"/>
                <a:cs typeface="Aptos" pitchFamily="34" charset="-120"/>
              </a:rPr>
              <a:t>• PPO with γ = 0.99, GAE λ = 0.95, clipped policy objective, value loss, entropy, and stage-specific auxiliary/retention terms.</a:t>
            </a:r>
            <a:endParaRPr lang="en-US" sz="1400" dirty="0"/>
          </a:p>
          <a:p>
            <a:pPr indent="0" marL="0">
              <a:buNone/>
            </a:pPr>
            <a:r>
              <a:rPr lang="en-US" sz="1400" dirty="0">
                <a:solidFill>
                  <a:srgbClr val="0B132B"/>
                </a:solidFill>
                <a:latin typeface="Aptos" pitchFamily="34" charset="0"/>
                <a:ea typeface="Aptos" pitchFamily="34" charset="-122"/>
                <a:cs typeface="Aptos" pitchFamily="34" charset="-120"/>
              </a:rPr>
              <a:t>• V5 selected lineage: 51,200 PPO environment steps; 500 bounded prewarm steps only in ROR stage.</a:t>
            </a:r>
            <a:endParaRPr lang="en-US" sz="1400" dirty="0"/>
          </a:p>
          <a:p>
            <a:pPr indent="0" marL="0">
              <a:buNone/>
            </a:pPr>
            <a:r>
              <a:rPr lang="en-US" sz="1400" dirty="0">
                <a:solidFill>
                  <a:srgbClr val="0B132B"/>
                </a:solidFill>
                <a:latin typeface="Aptos" pitchFamily="34" charset="0"/>
                <a:ea typeface="Aptos" pitchFamily="34" charset="-122"/>
                <a:cs typeface="Aptos" pitchFamily="34" charset="-120"/>
              </a:rPr>
              <a:t>• Prewarm, gate CE, physics targets, reference KL, and labels are optimizer-only supports.</a:t>
            </a:r>
            <a:endParaRPr lang="en-US" sz="1400" dirty="0"/>
          </a:p>
          <a:p>
            <a:pPr indent="0" marL="0">
              <a:buNone/>
            </a:pPr>
            <a:r>
              <a:rPr lang="en-US" sz="1400" dirty="0">
                <a:solidFill>
                  <a:srgbClr val="0B132B"/>
                </a:solidFill>
                <a:latin typeface="Aptos" pitchFamily="34" charset="0"/>
                <a:ea typeface="Aptos" pitchFamily="34" charset="-122"/>
                <a:cs typeface="Aptos" pitchFamily="34" charset="-120"/>
              </a:rPr>
              <a:t>• Stage 4.2 explicitly used mandatory PPO-only runs: no DAgger, behavior cloning, prewarm, or supervised oracle-action loss.</a:t>
            </a:r>
            <a:endParaRPr lang="en-US" sz="1400" dirty="0"/>
          </a:p>
          <a:p>
            <a:pPr indent="0" marL="0">
              <a:buNone/>
            </a:pPr>
            <a:r>
              <a:rPr lang="en-US" sz="1400" dirty="0">
                <a:solidFill>
                  <a:srgbClr val="0B132B"/>
                </a:solidFill>
                <a:latin typeface="Aptos" pitchFamily="34" charset="0"/>
                <a:ea typeface="Aptos" pitchFamily="34" charset="-122"/>
                <a:cs typeface="Aptos" pitchFamily="34" charset="-120"/>
              </a:rPr>
              <a:t>• Formal evaluation: deterministic policy output, no runtime acceleration shield, separated seeds, hard gates.</a:t>
            </a:r>
            <a:endParaRPr lang="en-US" sz="1400" dirty="0"/>
          </a:p>
        </p:txBody>
      </p:sp>
      <p:sp>
        <p:nvSpPr>
          <p:cNvPr id="8" name="Text 6"/>
          <p:cNvSpPr/>
          <p:nvPr/>
        </p:nvSpPr>
        <p:spPr>
          <a:xfrm>
            <a:off x="6629400" y="1234440"/>
            <a:ext cx="4251960" cy="32004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Provenance rule</a:t>
            </a:r>
            <a:endParaRPr lang="en-US" sz="1200" dirty="0"/>
          </a:p>
        </p:txBody>
      </p:sp>
      <p:sp>
        <p:nvSpPr>
          <p:cNvPr id="9" name="Text 7"/>
          <p:cNvSpPr/>
          <p:nvPr/>
        </p:nvSpPr>
        <p:spPr>
          <a:xfrm>
            <a:off x="6629400" y="1828800"/>
            <a:ext cx="173736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50" dirty="0">
                <a:solidFill>
                  <a:srgbClr val="0B132B"/>
                </a:solidFill>
                <a:latin typeface="Aptos" pitchFamily="34" charset="0"/>
                <a:ea typeface="Aptos" pitchFamily="34" charset="-122"/>
                <a:cs typeface="Aptos" pitchFamily="34" charset="-120"/>
              </a:rPr>
              <a:t>prewarm-only</a:t>
            </a:r>
            <a:endParaRPr lang="en-US" sz="950" dirty="0"/>
          </a:p>
        </p:txBody>
      </p:sp>
      <p:sp>
        <p:nvSpPr>
          <p:cNvPr id="10" name="Text 8"/>
          <p:cNvSpPr/>
          <p:nvPr/>
        </p:nvSpPr>
        <p:spPr>
          <a:xfrm>
            <a:off x="8641080" y="1828800"/>
            <a:ext cx="219456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70" b="1" dirty="0">
                <a:solidFill>
                  <a:srgbClr val="0B132B"/>
                </a:solidFill>
                <a:latin typeface="Aptos" pitchFamily="34" charset="0"/>
                <a:ea typeface="Aptos" pitchFamily="34" charset="-122"/>
                <a:cs typeface="Aptos" pitchFamily="34" charset="-120"/>
              </a:rPr>
              <a:t>TRAINING_ONLY / DIAGNOSTIC_ONLY</a:t>
            </a:r>
            <a:endParaRPr lang="en-US" sz="870" dirty="0"/>
          </a:p>
        </p:txBody>
      </p:sp>
      <p:sp>
        <p:nvSpPr>
          <p:cNvPr id="11" name="Text 9"/>
          <p:cNvSpPr/>
          <p:nvPr/>
        </p:nvSpPr>
        <p:spPr>
          <a:xfrm>
            <a:off x="6629400" y="2395728"/>
            <a:ext cx="173736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50" dirty="0">
                <a:solidFill>
                  <a:srgbClr val="0B132B"/>
                </a:solidFill>
                <a:latin typeface="Aptos" pitchFamily="34" charset="0"/>
                <a:ea typeface="Aptos" pitchFamily="34" charset="-122"/>
                <a:cs typeface="Aptos" pitchFamily="34" charset="-120"/>
              </a:rPr>
              <a:t>positive PPO + focused success</a:t>
            </a:r>
            <a:endParaRPr lang="en-US" sz="950" dirty="0"/>
          </a:p>
        </p:txBody>
      </p:sp>
      <p:sp>
        <p:nvSpPr>
          <p:cNvPr id="12" name="Text 10"/>
          <p:cNvSpPr/>
          <p:nvPr/>
        </p:nvSpPr>
        <p:spPr>
          <a:xfrm>
            <a:off x="8641080" y="2395728"/>
            <a:ext cx="219456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70" b="1" dirty="0">
                <a:solidFill>
                  <a:srgbClr val="0B132B"/>
                </a:solidFill>
                <a:latin typeface="Aptos" pitchFamily="34" charset="0"/>
                <a:ea typeface="Aptos" pitchFamily="34" charset="-122"/>
                <a:cs typeface="Aptos" pitchFamily="34" charset="-120"/>
              </a:rPr>
              <a:t>LEARNED_PARTIAL</a:t>
            </a:r>
            <a:endParaRPr lang="en-US" sz="870" dirty="0"/>
          </a:p>
        </p:txBody>
      </p:sp>
      <p:sp>
        <p:nvSpPr>
          <p:cNvPr id="13" name="Text 11"/>
          <p:cNvSpPr/>
          <p:nvPr/>
        </p:nvSpPr>
        <p:spPr>
          <a:xfrm>
            <a:off x="6629400" y="2962656"/>
            <a:ext cx="173736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50" dirty="0">
                <a:solidFill>
                  <a:srgbClr val="0B132B"/>
                </a:solidFill>
                <a:latin typeface="Aptos" pitchFamily="34" charset="0"/>
                <a:ea typeface="Aptos" pitchFamily="34" charset="-122"/>
                <a:cs typeface="Aptos" pitchFamily="34" charset="-120"/>
              </a:rPr>
              <a:t>failed any required group</a:t>
            </a:r>
            <a:endParaRPr lang="en-US" sz="950" dirty="0"/>
          </a:p>
        </p:txBody>
      </p:sp>
      <p:sp>
        <p:nvSpPr>
          <p:cNvPr id="14" name="Text 12"/>
          <p:cNvSpPr/>
          <p:nvPr/>
        </p:nvSpPr>
        <p:spPr>
          <a:xfrm>
            <a:off x="8641080" y="2962656"/>
            <a:ext cx="219456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70" b="1" dirty="0">
                <a:solidFill>
                  <a:srgbClr val="0B132B"/>
                </a:solidFill>
                <a:latin typeface="Aptos" pitchFamily="34" charset="0"/>
                <a:ea typeface="Aptos" pitchFamily="34" charset="-122"/>
                <a:cs typeface="Aptos" pitchFamily="34" charset="-120"/>
              </a:rPr>
              <a:t>REJECTED_CANDIDATE</a:t>
            </a:r>
            <a:endParaRPr lang="en-US" sz="870" dirty="0"/>
          </a:p>
        </p:txBody>
      </p:sp>
      <p:sp>
        <p:nvSpPr>
          <p:cNvPr id="15" name="Text 13"/>
          <p:cNvSpPr/>
          <p:nvPr/>
        </p:nvSpPr>
        <p:spPr>
          <a:xfrm>
            <a:off x="6629400" y="3529584"/>
            <a:ext cx="173736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950" dirty="0">
                <a:solidFill>
                  <a:srgbClr val="0B132B"/>
                </a:solidFill>
                <a:latin typeface="Aptos" pitchFamily="34" charset="0"/>
                <a:ea typeface="Aptos" pitchFamily="34" charset="-122"/>
                <a:cs typeface="Aptos" pitchFamily="34" charset="-120"/>
              </a:rPr>
              <a:t>passed every preregistered group</a:t>
            </a:r>
            <a:endParaRPr lang="en-US" sz="950" dirty="0"/>
          </a:p>
        </p:txBody>
      </p:sp>
      <p:sp>
        <p:nvSpPr>
          <p:cNvPr id="16" name="Text 14"/>
          <p:cNvSpPr/>
          <p:nvPr/>
        </p:nvSpPr>
        <p:spPr>
          <a:xfrm>
            <a:off x="8641080" y="3529584"/>
            <a:ext cx="219456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70" b="1" dirty="0">
                <a:solidFill>
                  <a:srgbClr val="0B132B"/>
                </a:solidFill>
                <a:latin typeface="Aptos" pitchFamily="34" charset="0"/>
                <a:ea typeface="Aptos" pitchFamily="34" charset="-122"/>
                <a:cs typeface="Aptos" pitchFamily="34" charset="-120"/>
              </a:rPr>
              <a:t>PRODUCTION</a:t>
            </a:r>
            <a:endParaRPr lang="en-US" sz="870" dirty="0"/>
          </a:p>
        </p:txBody>
      </p:sp>
      <p:sp>
        <p:nvSpPr>
          <p:cNvPr id="17" name="Text 15"/>
          <p:cNvSpPr/>
          <p:nvPr/>
        </p:nvSpPr>
        <p:spPr>
          <a:xfrm>
            <a:off x="6766560" y="4526280"/>
            <a:ext cx="3977640" cy="914400"/>
          </a:xfrm>
          <a:prstGeom prst="rect">
            <a:avLst/>
          </a:prstGeom>
          <a:solidFill>
            <a:srgbClr val="FFF7ED"/>
          </a:solidFill>
          <a:ln w="12700">
            <a:solidFill>
              <a:srgbClr val="FED7AA"/>
            </a:solidFill>
          </a:ln>
        </p:spPr>
        <p:txBody>
          <a:bodyPr wrap="square" lIns="1016" tIns="1016" rIns="1016" bIns="1016" rtlCol="0" anchor="ctr">
            <a:normAutofit/>
          </a:bodyPr>
          <a:lstStyle/>
          <a:p>
            <a:pPr algn="l" indent="0" marL="0">
              <a:buNone/>
            </a:pPr>
            <a:r>
              <a:rPr lang="en-US" sz="1150" dirty="0">
                <a:solidFill>
                  <a:srgbClr val="0B132B"/>
                </a:solidFill>
                <a:latin typeface="Aptos" pitchFamily="34" charset="0"/>
                <a:ea typeface="Aptos" pitchFamily="34" charset="-122"/>
                <a:cs typeface="Aptos" pitchFamily="34" charset="-120"/>
              </a:rPr>
              <a:t>Formal runtime ≠ pure tabula-rasa RL</a:t>
            </a:r>
            <a:endParaRPr lang="en-US" sz="1150" dirty="0"/>
          </a:p>
          <a:p>
            <a:pPr algn="l" indent="0" marL="0">
              <a:buNone/>
            </a:pPr>
            <a:r>
              <a:rPr lang="en-US" sz="1150" dirty="0">
                <a:solidFill>
                  <a:srgbClr val="0B132B"/>
                </a:solidFill>
                <a:latin typeface="Aptos" pitchFamily="34" charset="0"/>
                <a:ea typeface="Aptos" pitchFamily="34" charset="-122"/>
                <a:cs typeface="Aptos" pitchFamily="34" charset="-120"/>
              </a:rPr>
              <a:t>Correct wording: PPO-trained learned policy with no runtime action override in qualification.</a:t>
            </a:r>
            <a:endParaRPr lang="en-US" sz="1150" dirty="0"/>
          </a:p>
        </p:txBody>
      </p:sp>
      <p:sp>
        <p:nvSpPr>
          <p:cNvPr id="18" name="Text 16"/>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Do not call prewarm-only artifacts reinforcement-learned.</a:t>
            </a:r>
            <a:endParaRPr lang="en-US" sz="76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APPENDIX / TECHNICAL BACKUP</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A5 — Pedestrian model decision table</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30</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Pedestrian alternatives were implemented, but only V2.1 was retained as training-only.</a:t>
            </a:r>
            <a:endParaRPr lang="en-US" sz="1230" dirty="0"/>
          </a:p>
        </p:txBody>
      </p:sp>
      <p:sp>
        <p:nvSpPr>
          <p:cNvPr id="7" name="Text 5"/>
          <p:cNvSpPr/>
          <p:nvPr/>
        </p:nvSpPr>
        <p:spPr>
          <a:xfrm>
            <a:off x="685800" y="1325880"/>
            <a:ext cx="1508760" cy="667512"/>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80" b="1" dirty="0">
                <a:solidFill>
                  <a:srgbClr val="FFFFFF"/>
                </a:solidFill>
                <a:latin typeface="Aptos" pitchFamily="34" charset="0"/>
                <a:ea typeface="Aptos" pitchFamily="34" charset="-122"/>
                <a:cs typeface="Aptos" pitchFamily="34" charset="-120"/>
              </a:rPr>
              <a:t>Model</a:t>
            </a:r>
            <a:endParaRPr lang="en-US" sz="780" dirty="0"/>
          </a:p>
        </p:txBody>
      </p:sp>
      <p:sp>
        <p:nvSpPr>
          <p:cNvPr id="8" name="Text 6"/>
          <p:cNvSpPr/>
          <p:nvPr/>
        </p:nvSpPr>
        <p:spPr>
          <a:xfrm>
            <a:off x="2194560" y="1325880"/>
            <a:ext cx="3337560" cy="667512"/>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80" b="1" dirty="0">
                <a:solidFill>
                  <a:srgbClr val="FFFFFF"/>
                </a:solidFill>
                <a:latin typeface="Aptos" pitchFamily="34" charset="0"/>
                <a:ea typeface="Aptos" pitchFamily="34" charset="-122"/>
                <a:cs typeface="Aptos" pitchFamily="34" charset="-120"/>
              </a:rPr>
              <a:t>Mechanism</a:t>
            </a:r>
            <a:endParaRPr lang="en-US" sz="780" dirty="0"/>
          </a:p>
        </p:txBody>
      </p:sp>
      <p:sp>
        <p:nvSpPr>
          <p:cNvPr id="9" name="Text 7"/>
          <p:cNvSpPr/>
          <p:nvPr/>
        </p:nvSpPr>
        <p:spPr>
          <a:xfrm>
            <a:off x="5532120" y="1325880"/>
            <a:ext cx="4160520" cy="667512"/>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80" b="1" dirty="0">
                <a:solidFill>
                  <a:srgbClr val="FFFFFF"/>
                </a:solidFill>
                <a:latin typeface="Aptos" pitchFamily="34" charset="0"/>
                <a:ea typeface="Aptos" pitchFamily="34" charset="-122"/>
                <a:cs typeface="Aptos" pitchFamily="34" charset="-120"/>
              </a:rPr>
              <a:t>Result</a:t>
            </a:r>
            <a:endParaRPr lang="en-US" sz="780" dirty="0"/>
          </a:p>
        </p:txBody>
      </p:sp>
      <p:sp>
        <p:nvSpPr>
          <p:cNvPr id="10" name="Text 8"/>
          <p:cNvSpPr/>
          <p:nvPr/>
        </p:nvSpPr>
        <p:spPr>
          <a:xfrm>
            <a:off x="9692640" y="1325880"/>
            <a:ext cx="1417320" cy="667512"/>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80" b="1" dirty="0">
                <a:solidFill>
                  <a:srgbClr val="FFFFFF"/>
                </a:solidFill>
                <a:latin typeface="Aptos" pitchFamily="34" charset="0"/>
                <a:ea typeface="Aptos" pitchFamily="34" charset="-122"/>
                <a:cs typeface="Aptos" pitchFamily="34" charset="-120"/>
              </a:rPr>
              <a:t>Decision</a:t>
            </a:r>
            <a:endParaRPr lang="en-US" sz="780" dirty="0"/>
          </a:p>
        </p:txBody>
      </p:sp>
      <p:sp>
        <p:nvSpPr>
          <p:cNvPr id="11" name="Text 9"/>
          <p:cNvSpPr/>
          <p:nvPr/>
        </p:nvSpPr>
        <p:spPr>
          <a:xfrm>
            <a:off x="685800" y="1993392"/>
            <a:ext cx="1508760" cy="6675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crosswalk_wide_v1</a:t>
            </a:r>
            <a:endParaRPr lang="en-US" sz="780" dirty="0"/>
          </a:p>
        </p:txBody>
      </p:sp>
      <p:sp>
        <p:nvSpPr>
          <p:cNvPr id="12" name="Text 10"/>
          <p:cNvSpPr/>
          <p:nvPr/>
        </p:nvSpPr>
        <p:spPr>
          <a:xfrm>
            <a:off x="2194560" y="1993392"/>
            <a:ext cx="3337560" cy="6675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broad route-associated crosswalk conflict</a:t>
            </a:r>
            <a:endParaRPr lang="en-US" sz="780" dirty="0"/>
          </a:p>
        </p:txBody>
      </p:sp>
      <p:sp>
        <p:nvSpPr>
          <p:cNvPr id="13" name="Text 11"/>
          <p:cNvSpPr/>
          <p:nvPr/>
        </p:nvSpPr>
        <p:spPr>
          <a:xfrm>
            <a:off x="5532120" y="1993392"/>
            <a:ext cx="4160520" cy="6675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V5 production groups passed; conservative overblocking</a:t>
            </a:r>
            <a:endParaRPr lang="en-US" sz="780" dirty="0"/>
          </a:p>
        </p:txBody>
      </p:sp>
      <p:sp>
        <p:nvSpPr>
          <p:cNvPr id="14" name="Text 12"/>
          <p:cNvSpPr/>
          <p:nvPr/>
        </p:nvSpPr>
        <p:spPr>
          <a:xfrm>
            <a:off x="9692640" y="1993392"/>
            <a:ext cx="1417320" cy="667512"/>
          </a:xfrm>
          <a:prstGeom prst="rect">
            <a:avLst/>
          </a:prstGeom>
          <a:solidFill>
            <a:srgbClr val="059669"/>
          </a:solidFill>
          <a:ln w="12700">
            <a:solidFill>
              <a:srgbClr val="E2E8F0"/>
            </a:solidFill>
          </a:ln>
        </p:spPr>
        <p:txBody>
          <a:bodyPr wrap="square" lIns="508" tIns="508" rIns="508" bIns="508" rtlCol="0" anchor="ctr">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PRODUCTION</a:t>
            </a:r>
            <a:endParaRPr lang="en-US" sz="780" dirty="0"/>
          </a:p>
        </p:txBody>
      </p:sp>
      <p:sp>
        <p:nvSpPr>
          <p:cNvPr id="15" name="Text 13"/>
          <p:cNvSpPr/>
          <p:nvPr/>
        </p:nvSpPr>
        <p:spPr>
          <a:xfrm>
            <a:off x="685800" y="2660904"/>
            <a:ext cx="1508760" cy="6675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V1 corridor</a:t>
            </a:r>
            <a:endParaRPr lang="en-US" sz="780" dirty="0"/>
          </a:p>
        </p:txBody>
      </p:sp>
      <p:sp>
        <p:nvSpPr>
          <p:cNvPr id="16" name="Text 14"/>
          <p:cNvSpPr/>
          <p:nvPr/>
        </p:nvSpPr>
        <p:spPr>
          <a:xfrm>
            <a:off x="2194560" y="2660904"/>
            <a:ext cx="3337560" cy="6675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swept route corridor + temporal occupancy</a:t>
            </a:r>
            <a:endParaRPr lang="en-US" sz="780" dirty="0"/>
          </a:p>
        </p:txBody>
      </p:sp>
      <p:sp>
        <p:nvSpPr>
          <p:cNvPr id="17" name="Text 15"/>
          <p:cNvSpPr/>
          <p:nvPr/>
        </p:nvSpPr>
        <p:spPr>
          <a:xfrm>
            <a:off x="5532120" y="2660904"/>
            <a:ext cx="4160520" cy="6675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30/30 original passed; dense/stress holdouts failed other/collision gates</a:t>
            </a:r>
            <a:endParaRPr lang="en-US" sz="780" dirty="0"/>
          </a:p>
        </p:txBody>
      </p:sp>
      <p:sp>
        <p:nvSpPr>
          <p:cNvPr id="18" name="Text 16"/>
          <p:cNvSpPr/>
          <p:nvPr/>
        </p:nvSpPr>
        <p:spPr>
          <a:xfrm>
            <a:off x="9692640" y="2660904"/>
            <a:ext cx="1417320" cy="667512"/>
          </a:xfrm>
          <a:prstGeom prst="rect">
            <a:avLst/>
          </a:prstGeom>
          <a:solidFill>
            <a:srgbClr val="DC2626"/>
          </a:solidFill>
          <a:ln w="12700">
            <a:solidFill>
              <a:srgbClr val="E2E8F0"/>
            </a:solidFill>
          </a:ln>
        </p:spPr>
        <p:txBody>
          <a:bodyPr wrap="square" lIns="508" tIns="508" rIns="508" bIns="508" rtlCol="0" anchor="ctr">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REJECTED</a:t>
            </a:r>
            <a:endParaRPr lang="en-US" sz="780" dirty="0"/>
          </a:p>
        </p:txBody>
      </p:sp>
      <p:sp>
        <p:nvSpPr>
          <p:cNvPr id="19" name="Text 17"/>
          <p:cNvSpPr/>
          <p:nvPr/>
        </p:nvSpPr>
        <p:spPr>
          <a:xfrm>
            <a:off x="685800" y="3328416"/>
            <a:ext cx="1508760" cy="6675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V2 waiting</a:t>
            </a:r>
            <a:endParaRPr lang="en-US" sz="780" dirty="0"/>
          </a:p>
        </p:txBody>
      </p:sp>
      <p:sp>
        <p:nvSpPr>
          <p:cNvPr id="20" name="Text 18"/>
          <p:cNvSpPr/>
          <p:nvPr/>
        </p:nvSpPr>
        <p:spPr>
          <a:xfrm>
            <a:off x="2194560" y="3328416"/>
            <a:ext cx="3337560" cy="6675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waiting WALK-permitted activation + brake-now feasibility</a:t>
            </a:r>
            <a:endParaRPr lang="en-US" sz="780" dirty="0"/>
          </a:p>
        </p:txBody>
      </p:sp>
      <p:sp>
        <p:nvSpPr>
          <p:cNvPr id="21" name="Text 19"/>
          <p:cNvSpPr/>
          <p:nvPr/>
        </p:nvSpPr>
        <p:spPr>
          <a:xfrm>
            <a:off x="5532120" y="3328416"/>
            <a:ext cx="4160520" cy="6675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fixed two traces; five V2-only ped-yield identities + one reordered collision</a:t>
            </a:r>
            <a:endParaRPr lang="en-US" sz="780" dirty="0"/>
          </a:p>
        </p:txBody>
      </p:sp>
      <p:sp>
        <p:nvSpPr>
          <p:cNvPr id="22" name="Text 20"/>
          <p:cNvSpPr/>
          <p:nvPr/>
        </p:nvSpPr>
        <p:spPr>
          <a:xfrm>
            <a:off x="9692640" y="3328416"/>
            <a:ext cx="1417320" cy="667512"/>
          </a:xfrm>
          <a:prstGeom prst="rect">
            <a:avLst/>
          </a:prstGeom>
          <a:solidFill>
            <a:srgbClr val="DC2626"/>
          </a:solidFill>
          <a:ln w="12700">
            <a:solidFill>
              <a:srgbClr val="E2E8F0"/>
            </a:solidFill>
          </a:ln>
        </p:spPr>
        <p:txBody>
          <a:bodyPr wrap="square" lIns="508" tIns="508" rIns="508" bIns="508" rtlCol="0" anchor="ctr">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REJECTED</a:t>
            </a:r>
            <a:endParaRPr lang="en-US" sz="780" dirty="0"/>
          </a:p>
        </p:txBody>
      </p:sp>
      <p:sp>
        <p:nvSpPr>
          <p:cNvPr id="23" name="Text 21"/>
          <p:cNvSpPr/>
          <p:nvPr/>
        </p:nvSpPr>
        <p:spPr>
          <a:xfrm>
            <a:off x="685800" y="3995928"/>
            <a:ext cx="1508760" cy="6675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V2.1 imminent</a:t>
            </a:r>
            <a:endParaRPr lang="en-US" sz="780" dirty="0"/>
          </a:p>
        </p:txBody>
      </p:sp>
      <p:sp>
        <p:nvSpPr>
          <p:cNvPr id="24" name="Text 22"/>
          <p:cNvSpPr/>
          <p:nvPr/>
        </p:nvSpPr>
        <p:spPr>
          <a:xfrm>
            <a:off x="2194560" y="3995928"/>
            <a:ext cx="3337560" cy="6675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bounded imminent-WALK branch inside stopping horizon</a:t>
            </a:r>
            <a:endParaRPr lang="en-US" sz="780" dirty="0"/>
          </a:p>
        </p:txBody>
      </p:sp>
      <p:sp>
        <p:nvSpPr>
          <p:cNvPr id="25" name="Text 23"/>
          <p:cNvSpPr/>
          <p:nvPr/>
        </p:nvSpPr>
        <p:spPr>
          <a:xfrm>
            <a:off x="5532120" y="3995928"/>
            <a:ext cx="4160520" cy="667512"/>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seed 66827 corrected with positive margin; not promoted</a:t>
            </a:r>
            <a:endParaRPr lang="en-US" sz="780" dirty="0"/>
          </a:p>
        </p:txBody>
      </p:sp>
      <p:sp>
        <p:nvSpPr>
          <p:cNvPr id="26" name="Text 24"/>
          <p:cNvSpPr/>
          <p:nvPr/>
        </p:nvSpPr>
        <p:spPr>
          <a:xfrm>
            <a:off x="9692640" y="3995928"/>
            <a:ext cx="1417320" cy="667512"/>
          </a:xfrm>
          <a:prstGeom prst="rect">
            <a:avLst/>
          </a:prstGeom>
          <a:solidFill>
            <a:srgbClr val="7C3AED"/>
          </a:solidFill>
          <a:ln w="12700">
            <a:solidFill>
              <a:srgbClr val="E2E8F0"/>
            </a:solidFill>
          </a:ln>
        </p:spPr>
        <p:txBody>
          <a:bodyPr wrap="square" lIns="508" tIns="508" rIns="508" bIns="508" rtlCol="0" anchor="ctr">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TRAINING_ONLY</a:t>
            </a:r>
            <a:endParaRPr lang="en-US" sz="780" dirty="0"/>
          </a:p>
        </p:txBody>
      </p:sp>
      <p:sp>
        <p:nvSpPr>
          <p:cNvPr id="27" name="Text 25"/>
          <p:cNvSpPr/>
          <p:nvPr/>
        </p:nvSpPr>
        <p:spPr>
          <a:xfrm>
            <a:off x="1005840" y="5120640"/>
            <a:ext cx="9966960" cy="594360"/>
          </a:xfrm>
          <a:prstGeom prst="rect">
            <a:avLst/>
          </a:prstGeom>
          <a:solidFill>
            <a:srgbClr val="FFF7ED"/>
          </a:solidFill>
          <a:ln w="12700">
            <a:solidFill>
              <a:srgbClr val="FED7AA"/>
            </a:solidFill>
          </a:ln>
        </p:spPr>
        <p:txBody>
          <a:bodyPr wrap="square" lIns="1016" tIns="1016" rIns="1016" bIns="1016" rtlCol="0" anchor="ctr">
            <a:normAutofit/>
          </a:bodyPr>
          <a:lstStyle/>
          <a:p>
            <a:pPr algn="ctr" indent="0" marL="0">
              <a:buNone/>
            </a:pPr>
            <a:r>
              <a:rPr lang="en-US" sz="1300" b="1" dirty="0">
                <a:solidFill>
                  <a:srgbClr val="0B132B"/>
                </a:solidFill>
                <a:latin typeface="Aptos" pitchFamily="34" charset="0"/>
                <a:ea typeface="Aptos" pitchFamily="34" charset="-122"/>
                <a:cs typeface="Aptos" pitchFamily="34" charset="-120"/>
              </a:rPr>
              <a:t>Safe wording</a:t>
            </a:r>
            <a:endParaRPr lang="en-US" sz="1300" dirty="0"/>
          </a:p>
          <a:p>
            <a:pPr algn="ctr" indent="0" marL="0">
              <a:buNone/>
            </a:pPr>
            <a:r>
              <a:rPr lang="en-US" sz="1300" b="1" dirty="0">
                <a:solidFill>
                  <a:srgbClr val="0B132B"/>
                </a:solidFill>
                <a:latin typeface="Aptos" pitchFamily="34" charset="0"/>
                <a:ea typeface="Aptos" pitchFamily="34" charset="-122"/>
                <a:cs typeface="Aptos" pitchFamily="34" charset="-120"/>
              </a:rPr>
              <a:t>V2.1 is the best accepted training-only pedestrian-conflict environment; production stayed crosswalk_wide_v1.</a:t>
            </a:r>
            <a:endParaRPr lang="en-US" sz="1300" dirty="0"/>
          </a:p>
        </p:txBody>
      </p:sp>
      <p:sp>
        <p:nvSpPr>
          <p:cNvPr id="28" name="Text 26"/>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Do not describe V2.1 as production.</a:t>
            </a:r>
            <a:endParaRPr lang="en-US" sz="76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APPENDIX / TECHNICAL BACKUP</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A6 — V5.1 diagnostics and candidate outcomes</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31</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V5.1 was rejected because improvements traded off against retention and category gates.</a:t>
            </a:r>
            <a:endParaRPr lang="en-US" sz="1230" dirty="0"/>
          </a:p>
        </p:txBody>
      </p:sp>
      <p:sp>
        <p:nvSpPr>
          <p:cNvPr id="7" name="Text 5"/>
          <p:cNvSpPr/>
          <p:nvPr/>
        </p:nvSpPr>
        <p:spPr>
          <a:xfrm>
            <a:off x="685800" y="1325880"/>
            <a:ext cx="2651760" cy="384048"/>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40" b="1" dirty="0">
                <a:solidFill>
                  <a:srgbClr val="FFFFFF"/>
                </a:solidFill>
                <a:latin typeface="Aptos" pitchFamily="34" charset="0"/>
                <a:ea typeface="Aptos" pitchFamily="34" charset="-122"/>
                <a:cs typeface="Aptos" pitchFamily="34" charset="-120"/>
              </a:rPr>
              <a:t>Audit class</a:t>
            </a:r>
            <a:endParaRPr lang="en-US" sz="840" dirty="0"/>
          </a:p>
        </p:txBody>
      </p:sp>
      <p:sp>
        <p:nvSpPr>
          <p:cNvPr id="8" name="Text 6"/>
          <p:cNvSpPr/>
          <p:nvPr/>
        </p:nvSpPr>
        <p:spPr>
          <a:xfrm>
            <a:off x="3337560" y="1325880"/>
            <a:ext cx="914400" cy="384048"/>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40" b="1" dirty="0">
                <a:solidFill>
                  <a:srgbClr val="FFFFFF"/>
                </a:solidFill>
                <a:latin typeface="Aptos" pitchFamily="34" charset="0"/>
                <a:ea typeface="Aptos" pitchFamily="34" charset="-122"/>
                <a:cs typeface="Aptos" pitchFamily="34" charset="-120"/>
              </a:rPr>
              <a:t>Count</a:t>
            </a:r>
            <a:endParaRPr lang="en-US" sz="840" dirty="0"/>
          </a:p>
        </p:txBody>
      </p:sp>
      <p:sp>
        <p:nvSpPr>
          <p:cNvPr id="9" name="Text 7"/>
          <p:cNvSpPr/>
          <p:nvPr/>
        </p:nvSpPr>
        <p:spPr>
          <a:xfrm>
            <a:off x="685800" y="1709928"/>
            <a:ext cx="26517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40" dirty="0">
                <a:solidFill>
                  <a:srgbClr val="0B132B"/>
                </a:solidFill>
                <a:latin typeface="Aptos" pitchFamily="34" charset="0"/>
                <a:ea typeface="Aptos" pitchFamily="34" charset="-122"/>
                <a:cs typeface="Aptos" pitchFamily="34" charset="-120"/>
              </a:rPr>
              <a:t>Queue-chain</a:t>
            </a:r>
            <a:endParaRPr lang="en-US" sz="840" dirty="0"/>
          </a:p>
        </p:txBody>
      </p:sp>
      <p:sp>
        <p:nvSpPr>
          <p:cNvPr id="10" name="Text 8"/>
          <p:cNvSpPr/>
          <p:nvPr/>
        </p:nvSpPr>
        <p:spPr>
          <a:xfrm>
            <a:off x="3337560" y="1709928"/>
            <a:ext cx="91440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40" dirty="0">
                <a:solidFill>
                  <a:srgbClr val="0B132B"/>
                </a:solidFill>
                <a:latin typeface="Aptos" pitchFamily="34" charset="0"/>
                <a:ea typeface="Aptos" pitchFamily="34" charset="-122"/>
                <a:cs typeface="Aptos" pitchFamily="34" charset="-120"/>
              </a:rPr>
              <a:t>85</a:t>
            </a:r>
            <a:endParaRPr lang="en-US" sz="840" dirty="0"/>
          </a:p>
        </p:txBody>
      </p:sp>
      <p:sp>
        <p:nvSpPr>
          <p:cNvPr id="11" name="Text 9"/>
          <p:cNvSpPr/>
          <p:nvPr/>
        </p:nvSpPr>
        <p:spPr>
          <a:xfrm>
            <a:off x="685800" y="2093976"/>
            <a:ext cx="26517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40" dirty="0">
                <a:solidFill>
                  <a:srgbClr val="0B132B"/>
                </a:solidFill>
                <a:latin typeface="Aptos" pitchFamily="34" charset="0"/>
                <a:ea typeface="Aptos" pitchFamily="34" charset="-122"/>
                <a:cs typeface="Aptos" pitchFamily="34" charset="-120"/>
              </a:rPr>
              <a:t>Insufficient brake component</a:t>
            </a:r>
            <a:endParaRPr lang="en-US" sz="840" dirty="0"/>
          </a:p>
        </p:txBody>
      </p:sp>
      <p:sp>
        <p:nvSpPr>
          <p:cNvPr id="12" name="Text 10"/>
          <p:cNvSpPr/>
          <p:nvPr/>
        </p:nvSpPr>
        <p:spPr>
          <a:xfrm>
            <a:off x="3337560" y="2093976"/>
            <a:ext cx="91440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40" dirty="0">
                <a:solidFill>
                  <a:srgbClr val="0B132B"/>
                </a:solidFill>
                <a:latin typeface="Aptos" pitchFamily="34" charset="0"/>
                <a:ea typeface="Aptos" pitchFamily="34" charset="-122"/>
                <a:cs typeface="Aptos" pitchFamily="34" charset="-120"/>
              </a:rPr>
              <a:t>77</a:t>
            </a:r>
            <a:endParaRPr lang="en-US" sz="840" dirty="0"/>
          </a:p>
        </p:txBody>
      </p:sp>
      <p:sp>
        <p:nvSpPr>
          <p:cNvPr id="13" name="Text 11"/>
          <p:cNvSpPr/>
          <p:nvPr/>
        </p:nvSpPr>
        <p:spPr>
          <a:xfrm>
            <a:off x="685800" y="2478024"/>
            <a:ext cx="26517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40" dirty="0">
                <a:solidFill>
                  <a:srgbClr val="0B132B"/>
                </a:solidFill>
                <a:latin typeface="Aptos" pitchFamily="34" charset="0"/>
                <a:ea typeface="Aptos" pitchFamily="34" charset="-122"/>
                <a:cs typeface="Aptos" pitchFamily="34" charset="-120"/>
              </a:rPr>
              <a:t>Mixture-gate dilution</a:t>
            </a:r>
            <a:endParaRPr lang="en-US" sz="840" dirty="0"/>
          </a:p>
        </p:txBody>
      </p:sp>
      <p:sp>
        <p:nvSpPr>
          <p:cNvPr id="14" name="Text 12"/>
          <p:cNvSpPr/>
          <p:nvPr/>
        </p:nvSpPr>
        <p:spPr>
          <a:xfrm>
            <a:off x="3337560" y="2478024"/>
            <a:ext cx="91440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40" dirty="0">
                <a:solidFill>
                  <a:srgbClr val="0B132B"/>
                </a:solidFill>
                <a:latin typeface="Aptos" pitchFamily="34" charset="0"/>
                <a:ea typeface="Aptos" pitchFamily="34" charset="-122"/>
                <a:cs typeface="Aptos" pitchFamily="34" charset="-120"/>
              </a:rPr>
              <a:t>74</a:t>
            </a:r>
            <a:endParaRPr lang="en-US" sz="840" dirty="0"/>
          </a:p>
        </p:txBody>
      </p:sp>
      <p:sp>
        <p:nvSpPr>
          <p:cNvPr id="15" name="Text 13"/>
          <p:cNvSpPr/>
          <p:nvPr/>
        </p:nvSpPr>
        <p:spPr>
          <a:xfrm>
            <a:off x="685800" y="2862072"/>
            <a:ext cx="26517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40" dirty="0">
                <a:solidFill>
                  <a:srgbClr val="0B132B"/>
                </a:solidFill>
                <a:latin typeface="Aptos" pitchFamily="34" charset="0"/>
                <a:ea typeface="Aptos" pitchFamily="34" charset="-122"/>
                <a:cs typeface="Aptos" pitchFamily="34" charset="-120"/>
              </a:rPr>
              <a:t>Late environment / observation signal</a:t>
            </a:r>
            <a:endParaRPr lang="en-US" sz="840" dirty="0"/>
          </a:p>
        </p:txBody>
      </p:sp>
      <p:sp>
        <p:nvSpPr>
          <p:cNvPr id="16" name="Text 14"/>
          <p:cNvSpPr/>
          <p:nvPr/>
        </p:nvSpPr>
        <p:spPr>
          <a:xfrm>
            <a:off x="3337560" y="2862072"/>
            <a:ext cx="91440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40" dirty="0">
                <a:solidFill>
                  <a:srgbClr val="0B132B"/>
                </a:solidFill>
                <a:latin typeface="Aptos" pitchFamily="34" charset="0"/>
                <a:ea typeface="Aptos" pitchFamily="34" charset="-122"/>
                <a:cs typeface="Aptos" pitchFamily="34" charset="-120"/>
              </a:rPr>
              <a:t>39</a:t>
            </a:r>
            <a:endParaRPr lang="en-US" sz="840" dirty="0"/>
          </a:p>
        </p:txBody>
      </p:sp>
      <p:sp>
        <p:nvSpPr>
          <p:cNvPr id="17" name="Text 15"/>
          <p:cNvSpPr/>
          <p:nvPr/>
        </p:nvSpPr>
        <p:spPr>
          <a:xfrm>
            <a:off x="685800" y="3246120"/>
            <a:ext cx="26517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40" dirty="0">
                <a:solidFill>
                  <a:srgbClr val="0B132B"/>
                </a:solidFill>
                <a:latin typeface="Aptos" pitchFamily="34" charset="0"/>
                <a:ea typeface="Aptos" pitchFamily="34" charset="-122"/>
                <a:cs typeface="Aptos" pitchFamily="34" charset="-120"/>
              </a:rPr>
              <a:t>Policy reaction delay</a:t>
            </a:r>
            <a:endParaRPr lang="en-US" sz="840" dirty="0"/>
          </a:p>
        </p:txBody>
      </p:sp>
      <p:sp>
        <p:nvSpPr>
          <p:cNvPr id="18" name="Text 16"/>
          <p:cNvSpPr/>
          <p:nvPr/>
        </p:nvSpPr>
        <p:spPr>
          <a:xfrm>
            <a:off x="3337560" y="3246120"/>
            <a:ext cx="91440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40" dirty="0">
                <a:solidFill>
                  <a:srgbClr val="0B132B"/>
                </a:solidFill>
                <a:latin typeface="Aptos" pitchFamily="34" charset="0"/>
                <a:ea typeface="Aptos" pitchFamily="34" charset="-122"/>
                <a:cs typeface="Aptos" pitchFamily="34" charset="-120"/>
              </a:rPr>
              <a:t>2</a:t>
            </a:r>
            <a:endParaRPr lang="en-US" sz="840" dirty="0"/>
          </a:p>
        </p:txBody>
      </p:sp>
      <p:sp>
        <p:nvSpPr>
          <p:cNvPr id="19" name="Text 17"/>
          <p:cNvSpPr/>
          <p:nvPr/>
        </p:nvSpPr>
        <p:spPr>
          <a:xfrm>
            <a:off x="685800" y="3630168"/>
            <a:ext cx="26517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40" dirty="0">
                <a:solidFill>
                  <a:srgbClr val="0B132B"/>
                </a:solidFill>
                <a:latin typeface="Aptos" pitchFamily="34" charset="0"/>
                <a:ea typeface="Aptos" pitchFamily="34" charset="-122"/>
                <a:cs typeface="Aptos" pitchFamily="34" charset="-120"/>
              </a:rPr>
              <a:t>Total</a:t>
            </a:r>
            <a:endParaRPr lang="en-US" sz="840" dirty="0"/>
          </a:p>
        </p:txBody>
      </p:sp>
      <p:sp>
        <p:nvSpPr>
          <p:cNvPr id="20" name="Text 18"/>
          <p:cNvSpPr/>
          <p:nvPr/>
        </p:nvSpPr>
        <p:spPr>
          <a:xfrm>
            <a:off x="3337560" y="3630168"/>
            <a:ext cx="91440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40" dirty="0">
                <a:solidFill>
                  <a:srgbClr val="0B132B"/>
                </a:solidFill>
                <a:latin typeface="Aptos" pitchFamily="34" charset="0"/>
                <a:ea typeface="Aptos" pitchFamily="34" charset="-122"/>
                <a:cs typeface="Aptos" pitchFamily="34" charset="-120"/>
              </a:rPr>
              <a:t>277</a:t>
            </a:r>
            <a:endParaRPr lang="en-US" sz="840" dirty="0"/>
          </a:p>
        </p:txBody>
      </p:sp>
      <p:sp>
        <p:nvSpPr>
          <p:cNvPr id="21" name="Text 19"/>
          <p:cNvSpPr/>
          <p:nvPr/>
        </p:nvSpPr>
        <p:spPr>
          <a:xfrm>
            <a:off x="4617720" y="1325880"/>
            <a:ext cx="1737360" cy="548640"/>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80" b="1" dirty="0">
                <a:solidFill>
                  <a:srgbClr val="FFFFFF"/>
                </a:solidFill>
                <a:latin typeface="Aptos" pitchFamily="34" charset="0"/>
                <a:ea typeface="Aptos" pitchFamily="34" charset="-122"/>
                <a:cs typeface="Aptos" pitchFamily="34" charset="-120"/>
              </a:rPr>
              <a:t>Run</a:t>
            </a:r>
            <a:endParaRPr lang="en-US" sz="780" dirty="0"/>
          </a:p>
        </p:txBody>
      </p:sp>
      <p:sp>
        <p:nvSpPr>
          <p:cNvPr id="22" name="Text 20"/>
          <p:cNvSpPr/>
          <p:nvPr/>
        </p:nvSpPr>
        <p:spPr>
          <a:xfrm>
            <a:off x="6355080" y="1325880"/>
            <a:ext cx="4114800" cy="548640"/>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80" b="1" dirty="0">
                <a:solidFill>
                  <a:srgbClr val="FFFFFF"/>
                </a:solidFill>
                <a:latin typeface="Aptos" pitchFamily="34" charset="0"/>
                <a:ea typeface="Aptos" pitchFamily="34" charset="-122"/>
                <a:cs typeface="Aptos" pitchFamily="34" charset="-120"/>
              </a:rPr>
              <a:t>Key outcome</a:t>
            </a:r>
            <a:endParaRPr lang="en-US" sz="780" dirty="0"/>
          </a:p>
        </p:txBody>
      </p:sp>
      <p:sp>
        <p:nvSpPr>
          <p:cNvPr id="23" name="Text 21"/>
          <p:cNvSpPr/>
          <p:nvPr/>
        </p:nvSpPr>
        <p:spPr>
          <a:xfrm>
            <a:off x="10469880" y="1325880"/>
            <a:ext cx="1234440" cy="548640"/>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80" b="1" dirty="0">
                <a:solidFill>
                  <a:srgbClr val="FFFFFF"/>
                </a:solidFill>
                <a:latin typeface="Aptos" pitchFamily="34" charset="0"/>
                <a:ea typeface="Aptos" pitchFamily="34" charset="-122"/>
                <a:cs typeface="Aptos" pitchFamily="34" charset="-120"/>
              </a:rPr>
              <a:t>Decision</a:t>
            </a:r>
            <a:endParaRPr lang="en-US" sz="780" dirty="0"/>
          </a:p>
        </p:txBody>
      </p:sp>
      <p:sp>
        <p:nvSpPr>
          <p:cNvPr id="24" name="Text 22"/>
          <p:cNvSpPr/>
          <p:nvPr/>
        </p:nvSpPr>
        <p:spPr>
          <a:xfrm>
            <a:off x="4617720" y="1874520"/>
            <a:ext cx="1737360" cy="54864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Stage 3B-2A</a:t>
            </a:r>
            <a:endParaRPr lang="en-US" sz="780" dirty="0"/>
          </a:p>
        </p:txBody>
      </p:sp>
      <p:sp>
        <p:nvSpPr>
          <p:cNvPr id="25" name="Text 23"/>
          <p:cNvSpPr/>
          <p:nvPr/>
        </p:nvSpPr>
        <p:spPr>
          <a:xfrm>
            <a:off x="6355080" y="1874520"/>
            <a:ext cx="4114800" cy="54864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collisions improved; other violations 3.19–3.33% vs 3% gate</a:t>
            </a:r>
            <a:endParaRPr lang="en-US" sz="780" dirty="0"/>
          </a:p>
        </p:txBody>
      </p:sp>
      <p:sp>
        <p:nvSpPr>
          <p:cNvPr id="26" name="Text 24"/>
          <p:cNvSpPr/>
          <p:nvPr/>
        </p:nvSpPr>
        <p:spPr>
          <a:xfrm>
            <a:off x="10469880" y="1874520"/>
            <a:ext cx="1234440" cy="548640"/>
          </a:xfrm>
          <a:prstGeom prst="rect">
            <a:avLst/>
          </a:prstGeom>
          <a:solidFill>
            <a:srgbClr val="DC2626"/>
          </a:solidFill>
          <a:ln w="12700">
            <a:solidFill>
              <a:srgbClr val="E2E8F0"/>
            </a:solidFill>
          </a:ln>
        </p:spPr>
        <p:txBody>
          <a:bodyPr wrap="square" lIns="508" tIns="508" rIns="508" bIns="508" rtlCol="0" anchor="ctr">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REJECTED</a:t>
            </a:r>
            <a:endParaRPr lang="en-US" sz="780" dirty="0"/>
          </a:p>
        </p:txBody>
      </p:sp>
      <p:sp>
        <p:nvSpPr>
          <p:cNvPr id="27" name="Text 25"/>
          <p:cNvSpPr/>
          <p:nvPr/>
        </p:nvSpPr>
        <p:spPr>
          <a:xfrm>
            <a:off x="4617720" y="2423160"/>
            <a:ext cx="1737360" cy="54864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Stage 3B-2A2 main</a:t>
            </a:r>
            <a:endParaRPr lang="en-US" sz="780" dirty="0"/>
          </a:p>
        </p:txBody>
      </p:sp>
      <p:sp>
        <p:nvSpPr>
          <p:cNvPr id="28" name="Text 26"/>
          <p:cNvSpPr/>
          <p:nvPr/>
        </p:nvSpPr>
        <p:spPr>
          <a:xfrm>
            <a:off x="6355080" y="2423160"/>
            <a:ext cx="4114800" cy="54864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40,960 steps; stress 91.39% / 1.204% / 2.407% / 3.333%</a:t>
            </a:r>
            <a:endParaRPr lang="en-US" sz="780" dirty="0"/>
          </a:p>
        </p:txBody>
      </p:sp>
      <p:sp>
        <p:nvSpPr>
          <p:cNvPr id="29" name="Text 27"/>
          <p:cNvSpPr/>
          <p:nvPr/>
        </p:nvSpPr>
        <p:spPr>
          <a:xfrm>
            <a:off x="10469880" y="2423160"/>
            <a:ext cx="1234440" cy="548640"/>
          </a:xfrm>
          <a:prstGeom prst="rect">
            <a:avLst/>
          </a:prstGeom>
          <a:solidFill>
            <a:srgbClr val="DC2626"/>
          </a:solidFill>
          <a:ln w="12700">
            <a:solidFill>
              <a:srgbClr val="E2E8F0"/>
            </a:solidFill>
          </a:ln>
        </p:spPr>
        <p:txBody>
          <a:bodyPr wrap="square" lIns="508" tIns="508" rIns="508" bIns="508" rtlCol="0" anchor="ctr">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REJECTED</a:t>
            </a:r>
            <a:endParaRPr lang="en-US" sz="780" dirty="0"/>
          </a:p>
        </p:txBody>
      </p:sp>
      <p:sp>
        <p:nvSpPr>
          <p:cNvPr id="30" name="Text 28"/>
          <p:cNvSpPr/>
          <p:nvPr/>
        </p:nvSpPr>
        <p:spPr>
          <a:xfrm>
            <a:off x="4617720" y="2971800"/>
            <a:ext cx="1737360" cy="54864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PPO-only fallback</a:t>
            </a:r>
            <a:endParaRPr lang="en-US" sz="780" dirty="0"/>
          </a:p>
        </p:txBody>
      </p:sp>
      <p:sp>
        <p:nvSpPr>
          <p:cNvPr id="31" name="Text 29"/>
          <p:cNvSpPr/>
          <p:nvPr/>
        </p:nvSpPr>
        <p:spPr>
          <a:xfrm>
            <a:off x="6355080" y="2971800"/>
            <a:ext cx="4114800" cy="54864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original groups passed; complete diagnosis left/ped retention failed</a:t>
            </a:r>
            <a:endParaRPr lang="en-US" sz="780" dirty="0"/>
          </a:p>
        </p:txBody>
      </p:sp>
      <p:sp>
        <p:nvSpPr>
          <p:cNvPr id="32" name="Text 30"/>
          <p:cNvSpPr/>
          <p:nvPr/>
        </p:nvSpPr>
        <p:spPr>
          <a:xfrm>
            <a:off x="10469880" y="2971800"/>
            <a:ext cx="1234440" cy="548640"/>
          </a:xfrm>
          <a:prstGeom prst="rect">
            <a:avLst/>
          </a:prstGeom>
          <a:solidFill>
            <a:srgbClr val="DC2626"/>
          </a:solidFill>
          <a:ln w="12700">
            <a:solidFill>
              <a:srgbClr val="E2E8F0"/>
            </a:solidFill>
          </a:ln>
        </p:spPr>
        <p:txBody>
          <a:bodyPr wrap="square" lIns="508" tIns="508" rIns="508" bIns="508" rtlCol="0" anchor="ctr">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REJECTED</a:t>
            </a:r>
            <a:endParaRPr lang="en-US" sz="780" dirty="0"/>
          </a:p>
        </p:txBody>
      </p:sp>
      <p:sp>
        <p:nvSpPr>
          <p:cNvPr id="33" name="Text 31"/>
          <p:cNvSpPr/>
          <p:nvPr/>
        </p:nvSpPr>
        <p:spPr>
          <a:xfrm>
            <a:off x="4617720" y="3520440"/>
            <a:ext cx="1737360" cy="54864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Final bank</a:t>
            </a:r>
            <a:endParaRPr lang="en-US" sz="780" dirty="0"/>
          </a:p>
        </p:txBody>
      </p:sp>
      <p:sp>
        <p:nvSpPr>
          <p:cNvPr id="34" name="Text 32"/>
          <p:cNvSpPr/>
          <p:nvPr/>
        </p:nvSpPr>
        <p:spPr>
          <a:xfrm>
            <a:off x="6355080" y="3520440"/>
            <a:ext cx="4114800" cy="548640"/>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80" dirty="0">
                <a:solidFill>
                  <a:srgbClr val="0B132B"/>
                </a:solidFill>
                <a:latin typeface="Aptos" pitchFamily="34" charset="0"/>
                <a:ea typeface="Aptos" pitchFamily="34" charset="-122"/>
                <a:cs typeface="Aptos" pitchFamily="34" charset="-120"/>
              </a:rPr>
              <a:t>not run after earlier failures</a:t>
            </a:r>
            <a:endParaRPr lang="en-US" sz="780" dirty="0"/>
          </a:p>
        </p:txBody>
      </p:sp>
      <p:sp>
        <p:nvSpPr>
          <p:cNvPr id="35" name="Text 33"/>
          <p:cNvSpPr/>
          <p:nvPr/>
        </p:nvSpPr>
        <p:spPr>
          <a:xfrm>
            <a:off x="10469880" y="3520440"/>
            <a:ext cx="1234440" cy="548640"/>
          </a:xfrm>
          <a:prstGeom prst="rect">
            <a:avLst/>
          </a:prstGeom>
          <a:solidFill>
            <a:srgbClr val="94A3B8"/>
          </a:solidFill>
          <a:ln w="12700">
            <a:solidFill>
              <a:srgbClr val="E2E8F0"/>
            </a:solidFill>
          </a:ln>
        </p:spPr>
        <p:txBody>
          <a:bodyPr wrap="square" lIns="508" tIns="508" rIns="508" bIns="508" rtlCol="0" anchor="ctr">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NOT RUN</a:t>
            </a:r>
            <a:endParaRPr lang="en-US" sz="780" dirty="0"/>
          </a:p>
        </p:txBody>
      </p:sp>
      <p:sp>
        <p:nvSpPr>
          <p:cNvPr id="36" name="Text 34"/>
          <p:cNvSpPr/>
          <p:nvPr/>
        </p:nvSpPr>
        <p:spPr>
          <a:xfrm>
            <a:off x="5440680" y="4617720"/>
            <a:ext cx="274320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720" b="1" dirty="0">
                <a:solidFill>
                  <a:srgbClr val="FFFFFF"/>
                </a:solidFill>
              </a:rPr>
              <a:t>NO V5.1 PROMOTION</a:t>
            </a:r>
            <a:endParaRPr lang="en-US" sz="720" dirty="0"/>
          </a:p>
        </p:txBody>
      </p:sp>
      <p:sp>
        <p:nvSpPr>
          <p:cNvPr id="37" name="Text 35"/>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Negative result: isolated metrics improved, but full evidence standard failed.</a:t>
            </a:r>
            <a:endParaRPr lang="en-US" sz="76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APPENDIX / TECHNICAL BACKUP</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A7 — Track B lane test inventory</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32</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Track B validated topology and trajectory mechanics, not learned lane decisions.</a:t>
            </a:r>
            <a:endParaRPr lang="en-US" sz="1230" dirty="0"/>
          </a:p>
        </p:txBody>
      </p:sp>
      <p:sp>
        <p:nvSpPr>
          <p:cNvPr id="7" name="Text 5"/>
          <p:cNvSpPr/>
          <p:nvPr/>
        </p:nvSpPr>
        <p:spPr>
          <a:xfrm>
            <a:off x="685800" y="1325880"/>
            <a:ext cx="4937760" cy="4114800"/>
          </a:xfrm>
          <a:prstGeom prst="rect">
            <a:avLst/>
          </a:prstGeom>
          <a:noFill/>
          <a:ln/>
        </p:spPr>
        <p:txBody>
          <a:bodyPr wrap="square" lIns="1016" tIns="1016" rIns="1016" bIns="1016" rtlCol="0" anchor="t">
            <a:normAutofit/>
          </a:bodyPr>
          <a:lstStyle/>
          <a:p>
            <a:pPr indent="0" marL="0">
              <a:buNone/>
            </a:pPr>
            <a:r>
              <a:rPr lang="en-US" sz="1430" dirty="0">
                <a:solidFill>
                  <a:srgbClr val="0B132B"/>
                </a:solidFill>
                <a:latin typeface="Aptos" pitchFamily="34" charset="0"/>
                <a:ea typeface="Aptos" pitchFamily="34" charset="-122"/>
                <a:cs typeface="Aptos" pitchFamily="34" charset="-120"/>
              </a:rPr>
              <a:t>• Stable LaneSegment IDs and graph connectivity.</a:t>
            </a:r>
            <a:endParaRPr lang="en-US" sz="1430" dirty="0"/>
          </a:p>
          <a:p>
            <a:pPr indent="0" marL="0">
              <a:buNone/>
            </a:pPr>
            <a:r>
              <a:rPr lang="en-US" sz="1430" dirty="0">
                <a:solidFill>
                  <a:srgbClr val="0B132B"/>
                </a:solidFill>
                <a:latin typeface="Aptos" pitchFamily="34" charset="0"/>
                <a:ea typeface="Aptos" pitchFamily="34" charset="-122"/>
                <a:cs typeface="Aptos" pitchFamily="34" charset="-120"/>
              </a:rPr>
              <a:t>• Station-dependent adjacency; lane birth and termination; continuous station.</a:t>
            </a:r>
            <a:endParaRPr lang="en-US" sz="1430" dirty="0"/>
          </a:p>
          <a:p>
            <a:pPr indent="0" marL="0">
              <a:buNone/>
            </a:pPr>
            <a:r>
              <a:rPr lang="en-US" sz="1430" dirty="0">
                <a:solidFill>
                  <a:srgbClr val="0B132B"/>
                </a:solidFill>
                <a:latin typeface="Aptos" pitchFamily="34" charset="0"/>
                <a:ea typeface="Aptos" pitchFamily="34" charset="-122"/>
                <a:cs typeface="Aptos" pitchFamily="34" charset="-120"/>
              </a:rPr>
              <a:t>• Adjacent-only transition; commitment/abort state; smooth bounded lateral trajectory.</a:t>
            </a:r>
            <a:endParaRPr lang="en-US" sz="1430" dirty="0"/>
          </a:p>
          <a:p>
            <a:pPr indent="0" marL="0">
              <a:buNone/>
            </a:pPr>
            <a:r>
              <a:rPr lang="en-US" sz="1430" dirty="0">
                <a:solidFill>
                  <a:srgbClr val="0B132B"/>
                </a:solidFill>
                <a:latin typeface="Aptos" pitchFamily="34" charset="0"/>
                <a:ea typeface="Aptos" pitchFamily="34" charset="-122"/>
                <a:cs typeface="Aptos" pitchFamily="34" charset="-120"/>
              </a:rPr>
              <a:t>• Polygon collision checks and deterministic merge oracle.</a:t>
            </a:r>
            <a:endParaRPr lang="en-US" sz="1430" dirty="0"/>
          </a:p>
          <a:p>
            <a:pPr indent="0" marL="0">
              <a:buNone/>
            </a:pPr>
            <a:r>
              <a:rPr lang="en-US" sz="1430" dirty="0">
                <a:solidFill>
                  <a:srgbClr val="0B132B"/>
                </a:solidFill>
                <a:latin typeface="Aptos" pitchFamily="34" charset="0"/>
                <a:ea typeface="Aptos" pitchFamily="34" charset="-122"/>
                <a:cs typeface="Aptos" pitchFamily="34" charset="-120"/>
              </a:rPr>
              <a:t>• Left-turn pocket topology and connector suites; no learned pocket policy.</a:t>
            </a:r>
            <a:endParaRPr lang="en-US" sz="1430" dirty="0"/>
          </a:p>
        </p:txBody>
      </p:sp>
      <p:sp>
        <p:nvSpPr>
          <p:cNvPr id="8" name="Text 6"/>
          <p:cNvSpPr/>
          <p:nvPr/>
        </p:nvSpPr>
        <p:spPr>
          <a:xfrm>
            <a:off x="6400800" y="1325880"/>
            <a:ext cx="2423160" cy="384048"/>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10" b="1" dirty="0">
                <a:solidFill>
                  <a:srgbClr val="FFFFFF"/>
                </a:solidFill>
                <a:latin typeface="Aptos" pitchFamily="34" charset="0"/>
                <a:ea typeface="Aptos" pitchFamily="34" charset="-122"/>
                <a:cs typeface="Aptos" pitchFamily="34" charset="-120"/>
              </a:rPr>
              <a:t>Scripted merge metric</a:t>
            </a:r>
            <a:endParaRPr lang="en-US" sz="810" dirty="0"/>
          </a:p>
        </p:txBody>
      </p:sp>
      <p:sp>
        <p:nvSpPr>
          <p:cNvPr id="9" name="Text 7"/>
          <p:cNvSpPr/>
          <p:nvPr/>
        </p:nvSpPr>
        <p:spPr>
          <a:xfrm>
            <a:off x="8823960" y="1325880"/>
            <a:ext cx="1508760" cy="384048"/>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10" b="1" dirty="0">
                <a:solidFill>
                  <a:srgbClr val="FFFFFF"/>
                </a:solidFill>
                <a:latin typeface="Aptos" pitchFamily="34" charset="0"/>
                <a:ea typeface="Aptos" pitchFamily="34" charset="-122"/>
                <a:cs typeface="Aptos" pitchFamily="34" charset="-120"/>
              </a:rPr>
              <a:t>Value</a:t>
            </a:r>
            <a:endParaRPr lang="en-US" sz="810" dirty="0"/>
          </a:p>
        </p:txBody>
      </p:sp>
      <p:sp>
        <p:nvSpPr>
          <p:cNvPr id="10" name="Text 8"/>
          <p:cNvSpPr/>
          <p:nvPr/>
        </p:nvSpPr>
        <p:spPr>
          <a:xfrm>
            <a:off x="6400800" y="1709928"/>
            <a:ext cx="24231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10" dirty="0">
                <a:solidFill>
                  <a:srgbClr val="0B132B"/>
                </a:solidFill>
                <a:latin typeface="Aptos" pitchFamily="34" charset="0"/>
                <a:ea typeface="Aptos" pitchFamily="34" charset="-122"/>
                <a:cs typeface="Aptos" pitchFamily="34" charset="-120"/>
              </a:rPr>
              <a:t>Accepted/completed</a:t>
            </a:r>
            <a:endParaRPr lang="en-US" sz="810" dirty="0"/>
          </a:p>
        </p:txBody>
      </p:sp>
      <p:sp>
        <p:nvSpPr>
          <p:cNvPr id="11" name="Text 9"/>
          <p:cNvSpPr/>
          <p:nvPr/>
        </p:nvSpPr>
        <p:spPr>
          <a:xfrm>
            <a:off x="8823960" y="1709928"/>
            <a:ext cx="15087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10" dirty="0">
                <a:solidFill>
                  <a:srgbClr val="0B132B"/>
                </a:solidFill>
                <a:latin typeface="Aptos" pitchFamily="34" charset="0"/>
                <a:ea typeface="Aptos" pitchFamily="34" charset="-122"/>
                <a:cs typeface="Aptos" pitchFamily="34" charset="-120"/>
              </a:rPr>
              <a:t>true / true</a:t>
            </a:r>
            <a:endParaRPr lang="en-US" sz="810" dirty="0"/>
          </a:p>
        </p:txBody>
      </p:sp>
      <p:sp>
        <p:nvSpPr>
          <p:cNvPr id="12" name="Text 10"/>
          <p:cNvSpPr/>
          <p:nvPr/>
        </p:nvSpPr>
        <p:spPr>
          <a:xfrm>
            <a:off x="6400800" y="2093976"/>
            <a:ext cx="24231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10" dirty="0">
                <a:solidFill>
                  <a:srgbClr val="0B132B"/>
                </a:solidFill>
                <a:latin typeface="Aptos" pitchFamily="34" charset="0"/>
                <a:ea typeface="Aptos" pitchFamily="34" charset="-122"/>
                <a:cs typeface="Aptos" pitchFamily="34" charset="-120"/>
              </a:rPr>
              <a:t>Duration</a:t>
            </a:r>
            <a:endParaRPr lang="en-US" sz="810" dirty="0"/>
          </a:p>
        </p:txBody>
      </p:sp>
      <p:sp>
        <p:nvSpPr>
          <p:cNvPr id="13" name="Text 11"/>
          <p:cNvSpPr/>
          <p:nvPr/>
        </p:nvSpPr>
        <p:spPr>
          <a:xfrm>
            <a:off x="8823960" y="2093976"/>
            <a:ext cx="15087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10" dirty="0">
                <a:solidFill>
                  <a:srgbClr val="0B132B"/>
                </a:solidFill>
                <a:latin typeface="Aptos" pitchFamily="34" charset="0"/>
                <a:ea typeface="Aptos" pitchFamily="34" charset="-122"/>
                <a:cs typeface="Aptos" pitchFamily="34" charset="-120"/>
              </a:rPr>
              <a:t>4.44 s</a:t>
            </a:r>
            <a:endParaRPr lang="en-US" sz="810" dirty="0"/>
          </a:p>
        </p:txBody>
      </p:sp>
      <p:sp>
        <p:nvSpPr>
          <p:cNvPr id="14" name="Text 12"/>
          <p:cNvSpPr/>
          <p:nvPr/>
        </p:nvSpPr>
        <p:spPr>
          <a:xfrm>
            <a:off x="6400800" y="2478024"/>
            <a:ext cx="24231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10" dirty="0">
                <a:solidFill>
                  <a:srgbClr val="0B132B"/>
                </a:solidFill>
                <a:latin typeface="Aptos" pitchFamily="34" charset="0"/>
                <a:ea typeface="Aptos" pitchFamily="34" charset="-122"/>
                <a:cs typeface="Aptos" pitchFamily="34" charset="-120"/>
              </a:rPr>
              <a:t>Final lateral offset</a:t>
            </a:r>
            <a:endParaRPr lang="en-US" sz="810" dirty="0"/>
          </a:p>
        </p:txBody>
      </p:sp>
      <p:sp>
        <p:nvSpPr>
          <p:cNvPr id="15" name="Text 13"/>
          <p:cNvSpPr/>
          <p:nvPr/>
        </p:nvSpPr>
        <p:spPr>
          <a:xfrm>
            <a:off x="8823960" y="2478024"/>
            <a:ext cx="15087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10" dirty="0">
                <a:solidFill>
                  <a:srgbClr val="0B132B"/>
                </a:solidFill>
                <a:latin typeface="Aptos" pitchFamily="34" charset="0"/>
                <a:ea typeface="Aptos" pitchFamily="34" charset="-122"/>
                <a:cs typeface="Aptos" pitchFamily="34" charset="-120"/>
              </a:rPr>
              <a:t>3.60 m</a:t>
            </a:r>
            <a:endParaRPr lang="en-US" sz="810" dirty="0"/>
          </a:p>
        </p:txBody>
      </p:sp>
      <p:sp>
        <p:nvSpPr>
          <p:cNvPr id="16" name="Text 14"/>
          <p:cNvSpPr/>
          <p:nvPr/>
        </p:nvSpPr>
        <p:spPr>
          <a:xfrm>
            <a:off x="6400800" y="2862072"/>
            <a:ext cx="24231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10" dirty="0">
                <a:solidFill>
                  <a:srgbClr val="0B132B"/>
                </a:solidFill>
                <a:latin typeface="Aptos" pitchFamily="34" charset="0"/>
                <a:ea typeface="Aptos" pitchFamily="34" charset="-122"/>
                <a:cs typeface="Aptos" pitchFamily="34" charset="-120"/>
              </a:rPr>
              <a:t>Peak lateral acceleration</a:t>
            </a:r>
            <a:endParaRPr lang="en-US" sz="810" dirty="0"/>
          </a:p>
        </p:txBody>
      </p:sp>
      <p:sp>
        <p:nvSpPr>
          <p:cNvPr id="17" name="Text 15"/>
          <p:cNvSpPr/>
          <p:nvPr/>
        </p:nvSpPr>
        <p:spPr>
          <a:xfrm>
            <a:off x="8823960" y="2862072"/>
            <a:ext cx="15087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10" dirty="0">
                <a:solidFill>
                  <a:srgbClr val="0B132B"/>
                </a:solidFill>
                <a:latin typeface="Aptos" pitchFamily="34" charset="0"/>
                <a:ea typeface="Aptos" pitchFamily="34" charset="-122"/>
                <a:cs typeface="Aptos" pitchFamily="34" charset="-120"/>
              </a:rPr>
              <a:t>1.0635 m/s²</a:t>
            </a:r>
            <a:endParaRPr lang="en-US" sz="810" dirty="0"/>
          </a:p>
        </p:txBody>
      </p:sp>
      <p:sp>
        <p:nvSpPr>
          <p:cNvPr id="18" name="Text 16"/>
          <p:cNvSpPr/>
          <p:nvPr/>
        </p:nvSpPr>
        <p:spPr>
          <a:xfrm>
            <a:off x="6400800" y="3246120"/>
            <a:ext cx="24231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10" dirty="0">
                <a:solidFill>
                  <a:srgbClr val="0B132B"/>
                </a:solidFill>
                <a:latin typeface="Aptos" pitchFamily="34" charset="0"/>
                <a:ea typeface="Aptos" pitchFamily="34" charset="-122"/>
                <a:cs typeface="Aptos" pitchFamily="34" charset="-120"/>
              </a:rPr>
              <a:t>Peak lateral jerk</a:t>
            </a:r>
            <a:endParaRPr lang="en-US" sz="810" dirty="0"/>
          </a:p>
        </p:txBody>
      </p:sp>
      <p:sp>
        <p:nvSpPr>
          <p:cNvPr id="19" name="Text 17"/>
          <p:cNvSpPr/>
          <p:nvPr/>
        </p:nvSpPr>
        <p:spPr>
          <a:xfrm>
            <a:off x="8823960" y="3246120"/>
            <a:ext cx="15087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10" dirty="0">
                <a:solidFill>
                  <a:srgbClr val="0B132B"/>
                </a:solidFill>
                <a:latin typeface="Aptos" pitchFamily="34" charset="0"/>
                <a:ea typeface="Aptos" pitchFamily="34" charset="-122"/>
                <a:cs typeface="Aptos" pitchFamily="34" charset="-120"/>
              </a:rPr>
              <a:t>2.5 m/s³</a:t>
            </a:r>
            <a:endParaRPr lang="en-US" sz="810" dirty="0"/>
          </a:p>
        </p:txBody>
      </p:sp>
      <p:sp>
        <p:nvSpPr>
          <p:cNvPr id="20" name="Text 18"/>
          <p:cNvSpPr/>
          <p:nvPr/>
        </p:nvSpPr>
        <p:spPr>
          <a:xfrm>
            <a:off x="6400800" y="3630168"/>
            <a:ext cx="24231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10" dirty="0">
                <a:solidFill>
                  <a:srgbClr val="0B132B"/>
                </a:solidFill>
                <a:latin typeface="Aptos" pitchFamily="34" charset="0"/>
                <a:ea typeface="Aptos" pitchFamily="34" charset="-122"/>
                <a:cs typeface="Aptos" pitchFamily="34" charset="-120"/>
              </a:rPr>
              <a:t>Learned policy used</a:t>
            </a:r>
            <a:endParaRPr lang="en-US" sz="810" dirty="0"/>
          </a:p>
        </p:txBody>
      </p:sp>
      <p:sp>
        <p:nvSpPr>
          <p:cNvPr id="21" name="Text 19"/>
          <p:cNvSpPr/>
          <p:nvPr/>
        </p:nvSpPr>
        <p:spPr>
          <a:xfrm>
            <a:off x="8823960" y="3630168"/>
            <a:ext cx="1508760" cy="384048"/>
          </a:xfrm>
          <a:prstGeom prst="rect">
            <a:avLst/>
          </a:prstGeom>
          <a:solidFill>
            <a:srgbClr val="FEF2F2"/>
          </a:solidFill>
          <a:ln w="12700">
            <a:solidFill>
              <a:srgbClr val="E2E8F0"/>
            </a:solidFill>
          </a:ln>
        </p:spPr>
        <p:txBody>
          <a:bodyPr wrap="square" lIns="508" tIns="508" rIns="508" bIns="508" rtlCol="0" anchor="ctr">
            <a:normAutofit/>
          </a:bodyPr>
          <a:lstStyle/>
          <a:p>
            <a:pPr algn="ctr" indent="0" marL="0">
              <a:buNone/>
            </a:pPr>
            <a:r>
              <a:rPr lang="en-US" sz="810" dirty="0">
                <a:solidFill>
                  <a:srgbClr val="DC2626"/>
                </a:solidFill>
                <a:latin typeface="Aptos" pitchFamily="34" charset="0"/>
                <a:ea typeface="Aptos" pitchFamily="34" charset="-122"/>
                <a:cs typeface="Aptos" pitchFamily="34" charset="-120"/>
              </a:rPr>
              <a:t>false</a:t>
            </a:r>
            <a:endParaRPr lang="en-US" sz="810" dirty="0"/>
          </a:p>
        </p:txBody>
      </p:sp>
      <p:sp>
        <p:nvSpPr>
          <p:cNvPr id="22" name="Text 20"/>
          <p:cNvSpPr/>
          <p:nvPr/>
        </p:nvSpPr>
        <p:spPr>
          <a:xfrm>
            <a:off x="6400800" y="4014216"/>
            <a:ext cx="24231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10" dirty="0">
                <a:solidFill>
                  <a:srgbClr val="0B132B"/>
                </a:solidFill>
                <a:latin typeface="Aptos" pitchFamily="34" charset="0"/>
                <a:ea typeface="Aptos" pitchFamily="34" charset="-122"/>
                <a:cs typeface="Aptos" pitchFamily="34" charset="-120"/>
              </a:rPr>
              <a:t>Lane tests</a:t>
            </a:r>
            <a:endParaRPr lang="en-US" sz="810" dirty="0"/>
          </a:p>
        </p:txBody>
      </p:sp>
      <p:sp>
        <p:nvSpPr>
          <p:cNvPr id="23" name="Text 21"/>
          <p:cNvSpPr/>
          <p:nvPr/>
        </p:nvSpPr>
        <p:spPr>
          <a:xfrm>
            <a:off x="8823960" y="4014216"/>
            <a:ext cx="1508760" cy="384048"/>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10" dirty="0">
                <a:solidFill>
                  <a:srgbClr val="0B132B"/>
                </a:solidFill>
                <a:latin typeface="Aptos" pitchFamily="34" charset="0"/>
                <a:ea typeface="Aptos" pitchFamily="34" charset="-122"/>
                <a:cs typeface="Aptos" pitchFamily="34" charset="-120"/>
              </a:rPr>
              <a:t>14 passed</a:t>
            </a:r>
            <a:endParaRPr lang="en-US" sz="810" dirty="0"/>
          </a:p>
        </p:txBody>
      </p:sp>
      <p:sp>
        <p:nvSpPr>
          <p:cNvPr id="24" name="Text 22"/>
          <p:cNvSpPr/>
          <p:nvPr/>
        </p:nvSpPr>
        <p:spPr>
          <a:xfrm>
            <a:off x="7589520" y="4754880"/>
            <a:ext cx="1554480" cy="182880"/>
          </a:xfrm>
          <a:prstGeom prst="rect">
            <a:avLst/>
          </a:prstGeom>
          <a:solidFill>
            <a:srgbClr val="F97316"/>
          </a:solidFill>
          <a:ln>
            <a:solidFill>
              <a:srgbClr val="F97316">
                <a:alpha val="0"/>
              </a:srgbClr>
            </a:solidFill>
          </a:ln>
        </p:spPr>
        <p:txBody>
          <a:bodyPr wrap="square" lIns="445" tIns="445" rIns="445" bIns="445" rtlCol="0" anchor="ctr"/>
          <a:lstStyle/>
          <a:p>
            <a:pPr algn="ctr" indent="0" marL="0">
              <a:buNone/>
            </a:pPr>
            <a:r>
              <a:rPr lang="en-US" sz="720" b="1" dirty="0">
                <a:solidFill>
                  <a:srgbClr val="FFFFFF"/>
                </a:solidFill>
              </a:rPr>
              <a:t>SCRIPTED_ONLY</a:t>
            </a:r>
            <a:endParaRPr lang="en-US" sz="720" dirty="0"/>
          </a:p>
        </p:txBody>
      </p:sp>
      <p:sp>
        <p:nvSpPr>
          <p:cNvPr id="25" name="Text 23"/>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Do not call Track B scripted merge learned.</a:t>
            </a:r>
            <a:endParaRPr lang="en-US" sz="76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APPENDIX / TECHNICAL BACKUP</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A8 — V6 failure chain and Stage 4.3 plan</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33</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The merge result localized the next experiment instead of producing a promotable checkpoint.</a:t>
            </a:r>
            <a:endParaRPr lang="en-US" sz="1230" dirty="0"/>
          </a:p>
        </p:txBody>
      </p:sp>
      <p:sp>
        <p:nvSpPr>
          <p:cNvPr id="7" name="Text 5"/>
          <p:cNvSpPr/>
          <p:nvPr/>
        </p:nvSpPr>
        <p:spPr>
          <a:xfrm>
            <a:off x="777240" y="1325880"/>
            <a:ext cx="2057400" cy="36576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Initial V6</a:t>
            </a:r>
            <a:endParaRPr lang="en-US" sz="1050" dirty="0"/>
          </a:p>
        </p:txBody>
      </p:sp>
      <p:sp>
        <p:nvSpPr>
          <p:cNvPr id="8" name="Text 6"/>
          <p:cNvSpPr/>
          <p:nvPr/>
        </p:nvSpPr>
        <p:spPr>
          <a:xfrm>
            <a:off x="777240" y="1874520"/>
            <a:ext cx="2057400" cy="82296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40" b="1" dirty="0">
                <a:solidFill>
                  <a:srgbClr val="0B132B"/>
                </a:solidFill>
                <a:latin typeface="Aptos" pitchFamily="34" charset="0"/>
                <a:ea typeface="Aptos" pitchFamily="34" charset="-122"/>
                <a:cs typeface="Aptos" pitchFamily="34" charset="-120"/>
              </a:rPr>
              <a:t>KEEP collapse</a:t>
            </a:r>
            <a:endParaRPr lang="en-US" sz="840" dirty="0"/>
          </a:p>
          <a:p>
            <a:pPr algn="ctr" indent="0" marL="0">
              <a:buNone/>
            </a:pPr>
            <a:r>
              <a:rPr lang="en-US" sz="840" b="1" dirty="0">
                <a:solidFill>
                  <a:srgbClr val="0B132B"/>
                </a:solidFill>
                <a:latin typeface="Aptos" pitchFamily="34" charset="0"/>
                <a:ea typeface="Aptos" pitchFamily="34" charset="-122"/>
                <a:cs typeface="Aptos" pitchFamily="34" charset="-120"/>
              </a:rPr>
              <a:t>0% required merges</a:t>
            </a:r>
            <a:endParaRPr lang="en-US" sz="840" dirty="0"/>
          </a:p>
        </p:txBody>
      </p:sp>
      <p:sp>
        <p:nvSpPr>
          <p:cNvPr id="9" name="Text 7"/>
          <p:cNvSpPr/>
          <p:nvPr/>
        </p:nvSpPr>
        <p:spPr>
          <a:xfrm>
            <a:off x="777240" y="2880360"/>
            <a:ext cx="2057400" cy="731520"/>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bias / weak prewarm / coverage</a:t>
            </a:r>
            <a:endParaRPr lang="en-US" sz="820" dirty="0"/>
          </a:p>
        </p:txBody>
      </p:sp>
      <p:sp>
        <p:nvSpPr>
          <p:cNvPr id="10" name="Text 8"/>
          <p:cNvSpPr/>
          <p:nvPr/>
        </p:nvSpPr>
        <p:spPr>
          <a:xfrm>
            <a:off x="914400" y="3840480"/>
            <a:ext cx="173736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610" b="1" dirty="0">
                <a:solidFill>
                  <a:srgbClr val="FFFFFF"/>
                </a:solidFill>
              </a:rPr>
              <a:t>REJECTED_CANDIDATE</a:t>
            </a:r>
            <a:endParaRPr lang="en-US" sz="610" dirty="0"/>
          </a:p>
        </p:txBody>
      </p:sp>
      <p:sp>
        <p:nvSpPr>
          <p:cNvPr id="11" name="Shape 9"/>
          <p:cNvSpPr/>
          <p:nvPr/>
        </p:nvSpPr>
        <p:spPr>
          <a:xfrm>
            <a:off x="3182112" y="2011680"/>
            <a:ext cx="310896" cy="0"/>
          </a:xfrm>
          <a:prstGeom prst="line">
            <a:avLst/>
          </a:prstGeom>
          <a:noFill/>
          <a:ln w="16510">
            <a:solidFill>
              <a:srgbClr val="64748B"/>
            </a:solidFill>
            <a:prstDash val="solid"/>
            <a:headEnd type="none"/>
            <a:tailEnd type="triangle"/>
          </a:ln>
        </p:spPr>
      </p:sp>
      <p:sp>
        <p:nvSpPr>
          <p:cNvPr id="12" name="Text 10"/>
          <p:cNvSpPr/>
          <p:nvPr/>
        </p:nvSpPr>
        <p:spPr>
          <a:xfrm>
            <a:off x="3566160" y="1325880"/>
            <a:ext cx="2057400" cy="36576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Stage 4.1</a:t>
            </a:r>
            <a:endParaRPr lang="en-US" sz="1050" dirty="0"/>
          </a:p>
        </p:txBody>
      </p:sp>
      <p:sp>
        <p:nvSpPr>
          <p:cNvPr id="13" name="Text 11"/>
          <p:cNvSpPr/>
          <p:nvPr/>
        </p:nvSpPr>
        <p:spPr>
          <a:xfrm>
            <a:off x="3566160" y="1874520"/>
            <a:ext cx="2057400" cy="82296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40" b="1" dirty="0">
                <a:solidFill>
                  <a:srgbClr val="0B132B"/>
                </a:solidFill>
                <a:latin typeface="Aptos" pitchFamily="34" charset="0"/>
                <a:ea typeface="Aptos" pitchFamily="34" charset="-122"/>
                <a:cs typeface="Aptos" pitchFamily="34" charset="-120"/>
              </a:rPr>
              <a:t>92.36% offline accuracy</a:t>
            </a:r>
            <a:endParaRPr lang="en-US" sz="840" dirty="0"/>
          </a:p>
          <a:p>
            <a:pPr algn="ctr" indent="0" marL="0">
              <a:buNone/>
            </a:pPr>
            <a:r>
              <a:rPr lang="en-US" sz="840" b="1" dirty="0">
                <a:solidFill>
                  <a:srgbClr val="0B132B"/>
                </a:solidFill>
                <a:latin typeface="Aptos" pitchFamily="34" charset="0"/>
                <a:ea typeface="Aptos" pitchFamily="34" charset="-122"/>
                <a:cs typeface="Aptos" pitchFamily="34" charset="-120"/>
              </a:rPr>
              <a:t>43.17% open completion</a:t>
            </a:r>
            <a:endParaRPr lang="en-US" sz="840" dirty="0"/>
          </a:p>
          <a:p>
            <a:pPr algn="ctr" indent="0" marL="0">
              <a:buNone/>
            </a:pPr>
            <a:r>
              <a:rPr lang="en-US" sz="840" b="1" dirty="0">
                <a:solidFill>
                  <a:srgbClr val="0B132B"/>
                </a:solidFill>
                <a:latin typeface="Aptos" pitchFamily="34" charset="0"/>
                <a:ea typeface="Aptos" pitchFamily="34" charset="-122"/>
                <a:cs typeface="Aptos" pitchFamily="34" charset="-120"/>
              </a:rPr>
              <a:t>17.36% unsafe</a:t>
            </a:r>
            <a:endParaRPr lang="en-US" sz="840" dirty="0"/>
          </a:p>
        </p:txBody>
      </p:sp>
      <p:sp>
        <p:nvSpPr>
          <p:cNvPr id="14" name="Text 12"/>
          <p:cNvSpPr/>
          <p:nvPr/>
        </p:nvSpPr>
        <p:spPr>
          <a:xfrm>
            <a:off x="3566160" y="2880360"/>
            <a:ext cx="2057400" cy="731520"/>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offline ≠ integrated safety; reward inversion</a:t>
            </a:r>
            <a:endParaRPr lang="en-US" sz="820" dirty="0"/>
          </a:p>
        </p:txBody>
      </p:sp>
      <p:sp>
        <p:nvSpPr>
          <p:cNvPr id="15" name="Text 13"/>
          <p:cNvSpPr/>
          <p:nvPr/>
        </p:nvSpPr>
        <p:spPr>
          <a:xfrm>
            <a:off x="3703320" y="3840480"/>
            <a:ext cx="173736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610" b="1" dirty="0">
                <a:solidFill>
                  <a:srgbClr val="FFFFFF"/>
                </a:solidFill>
              </a:rPr>
              <a:t>REJECTED_CANDIDATE</a:t>
            </a:r>
            <a:endParaRPr lang="en-US" sz="610" dirty="0"/>
          </a:p>
        </p:txBody>
      </p:sp>
      <p:sp>
        <p:nvSpPr>
          <p:cNvPr id="16" name="Shape 14"/>
          <p:cNvSpPr/>
          <p:nvPr/>
        </p:nvSpPr>
        <p:spPr>
          <a:xfrm>
            <a:off x="5971032" y="2011680"/>
            <a:ext cx="310896" cy="0"/>
          </a:xfrm>
          <a:prstGeom prst="line">
            <a:avLst/>
          </a:prstGeom>
          <a:noFill/>
          <a:ln w="16510">
            <a:solidFill>
              <a:srgbClr val="64748B"/>
            </a:solidFill>
            <a:prstDash val="solid"/>
            <a:headEnd type="none"/>
            <a:tailEnd type="triangle"/>
          </a:ln>
        </p:spPr>
      </p:sp>
      <p:sp>
        <p:nvSpPr>
          <p:cNvPr id="17" name="Text 15"/>
          <p:cNvSpPr/>
          <p:nvPr/>
        </p:nvSpPr>
        <p:spPr>
          <a:xfrm>
            <a:off x="6355080" y="1325880"/>
            <a:ext cx="2057400" cy="365760"/>
          </a:xfrm>
          <a:prstGeom prst="rect">
            <a:avLst/>
          </a:prstGeom>
          <a:solidFill>
            <a:srgbClr val="102A43"/>
          </a:solidFill>
          <a:ln w="9525">
            <a:solidFill>
              <a:srgbClr val="102A43"/>
            </a:solidFill>
          </a:ln>
        </p:spPr>
        <p:txBody>
          <a:bodyPr wrap="square" lIns="1016" tIns="1016" rIns="1016" bIns="1016"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Stage 4.2</a:t>
            </a:r>
            <a:endParaRPr lang="en-US" sz="1050" dirty="0"/>
          </a:p>
        </p:txBody>
      </p:sp>
      <p:sp>
        <p:nvSpPr>
          <p:cNvPr id="18" name="Text 16"/>
          <p:cNvSpPr/>
          <p:nvPr/>
        </p:nvSpPr>
        <p:spPr>
          <a:xfrm>
            <a:off x="6355080" y="1874520"/>
            <a:ext cx="2057400" cy="82296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40" b="1" dirty="0">
                <a:solidFill>
                  <a:srgbClr val="0B132B"/>
                </a:solidFill>
                <a:latin typeface="Aptos" pitchFamily="34" charset="0"/>
                <a:ea typeface="Aptos" pitchFamily="34" charset="-122"/>
                <a:cs typeface="Aptos" pitchFamily="34" charset="-120"/>
              </a:rPr>
              <a:t>168 reward gates passed</a:t>
            </a:r>
            <a:endParaRPr lang="en-US" sz="840" dirty="0"/>
          </a:p>
          <a:p>
            <a:pPr algn="ctr" indent="0" marL="0">
              <a:buNone/>
            </a:pPr>
            <a:r>
              <a:rPr lang="en-US" sz="840" b="1" dirty="0">
                <a:solidFill>
                  <a:srgbClr val="0B132B"/>
                </a:solidFill>
                <a:latin typeface="Aptos" pitchFamily="34" charset="0"/>
                <a:ea typeface="Aptos" pitchFamily="34" charset="-122"/>
                <a:cs typeface="Aptos" pitchFamily="34" charset="-120"/>
              </a:rPr>
              <a:t>97.37/96% open completion</a:t>
            </a:r>
            <a:endParaRPr lang="en-US" sz="840" dirty="0"/>
          </a:p>
          <a:p>
            <a:pPr algn="ctr" indent="0" marL="0">
              <a:buNone/>
            </a:pPr>
            <a:r>
              <a:rPr lang="en-US" sz="840" b="1" dirty="0">
                <a:solidFill>
                  <a:srgbClr val="0B132B"/>
                </a:solidFill>
                <a:latin typeface="Aptos" pitchFamily="34" charset="0"/>
                <a:ea typeface="Aptos" pitchFamily="34" charset="-122"/>
                <a:cs typeface="Aptos" pitchFamily="34" charset="-120"/>
              </a:rPr>
              <a:t>23–24% unsafe</a:t>
            </a:r>
            <a:endParaRPr lang="en-US" sz="840" dirty="0"/>
          </a:p>
        </p:txBody>
      </p:sp>
      <p:sp>
        <p:nvSpPr>
          <p:cNvPr id="19" name="Text 17"/>
          <p:cNvSpPr/>
          <p:nvPr/>
        </p:nvSpPr>
        <p:spPr>
          <a:xfrm>
            <a:off x="6355080" y="2880360"/>
            <a:ext cx="2057400" cy="731520"/>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nondegenerate but unsafe; stopped at 2,048</a:t>
            </a:r>
            <a:endParaRPr lang="en-US" sz="820" dirty="0"/>
          </a:p>
        </p:txBody>
      </p:sp>
      <p:sp>
        <p:nvSpPr>
          <p:cNvPr id="20" name="Text 18"/>
          <p:cNvSpPr/>
          <p:nvPr/>
        </p:nvSpPr>
        <p:spPr>
          <a:xfrm>
            <a:off x="6492240" y="3840480"/>
            <a:ext cx="1737360" cy="182880"/>
          </a:xfrm>
          <a:prstGeom prst="rect">
            <a:avLst/>
          </a:prstGeom>
          <a:solidFill>
            <a:srgbClr val="DC2626"/>
          </a:solidFill>
          <a:ln>
            <a:solidFill>
              <a:srgbClr val="DC2626">
                <a:alpha val="0"/>
              </a:srgbClr>
            </a:solidFill>
          </a:ln>
        </p:spPr>
        <p:txBody>
          <a:bodyPr wrap="square" lIns="445" tIns="445" rIns="445" bIns="445" rtlCol="0" anchor="ctr"/>
          <a:lstStyle/>
          <a:p>
            <a:pPr algn="ctr" indent="0" marL="0">
              <a:buNone/>
            </a:pPr>
            <a:r>
              <a:rPr lang="en-US" sz="610" b="1" dirty="0">
                <a:solidFill>
                  <a:srgbClr val="FFFFFF"/>
                </a:solidFill>
              </a:rPr>
              <a:t>REJECTED_CANDIDATE</a:t>
            </a:r>
            <a:endParaRPr lang="en-US" sz="610" dirty="0"/>
          </a:p>
        </p:txBody>
      </p:sp>
      <p:sp>
        <p:nvSpPr>
          <p:cNvPr id="21" name="Shape 19"/>
          <p:cNvSpPr/>
          <p:nvPr/>
        </p:nvSpPr>
        <p:spPr>
          <a:xfrm>
            <a:off x="8759952" y="2011680"/>
            <a:ext cx="310896" cy="0"/>
          </a:xfrm>
          <a:prstGeom prst="line">
            <a:avLst/>
          </a:prstGeom>
          <a:noFill/>
          <a:ln w="16510">
            <a:solidFill>
              <a:srgbClr val="64748B"/>
            </a:solidFill>
            <a:prstDash val="solid"/>
            <a:headEnd type="none"/>
            <a:tailEnd type="triangle"/>
          </a:ln>
        </p:spPr>
      </p:sp>
      <p:sp>
        <p:nvSpPr>
          <p:cNvPr id="22" name="Text 20"/>
          <p:cNvSpPr/>
          <p:nvPr/>
        </p:nvSpPr>
        <p:spPr>
          <a:xfrm>
            <a:off x="9144000" y="1325880"/>
            <a:ext cx="2057400" cy="365760"/>
          </a:xfrm>
          <a:prstGeom prst="rect">
            <a:avLst/>
          </a:prstGeom>
          <a:solidFill>
            <a:srgbClr val="0891B2"/>
          </a:solidFill>
          <a:ln w="9525">
            <a:solidFill>
              <a:srgbClr val="0891B2"/>
            </a:solidFill>
          </a:ln>
        </p:spPr>
        <p:txBody>
          <a:bodyPr wrap="square" lIns="1016" tIns="1016" rIns="1016" bIns="1016"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Stage 4.3</a:t>
            </a:r>
            <a:endParaRPr lang="en-US" sz="1050" dirty="0"/>
          </a:p>
        </p:txBody>
      </p:sp>
      <p:sp>
        <p:nvSpPr>
          <p:cNvPr id="23" name="Text 21"/>
          <p:cNvSpPr/>
          <p:nvPr/>
        </p:nvSpPr>
        <p:spPr>
          <a:xfrm>
            <a:off x="9144000" y="1874520"/>
            <a:ext cx="2057400" cy="822960"/>
          </a:xfrm>
          <a:prstGeom prst="rect">
            <a:avLst/>
          </a:prstGeom>
          <a:solidFill>
            <a:srgbClr val="FFFFFF"/>
          </a:solidFill>
          <a:ln w="12700">
            <a:solidFill>
              <a:srgbClr val="E2E8F0"/>
            </a:solidFill>
          </a:ln>
        </p:spPr>
        <p:txBody>
          <a:bodyPr wrap="square" lIns="1016" tIns="1016" rIns="1016" bIns="1016" rtlCol="0" anchor="ctr">
            <a:normAutofit/>
          </a:bodyPr>
          <a:lstStyle/>
          <a:p>
            <a:pPr algn="ctr" indent="0" marL="0">
              <a:buNone/>
            </a:pPr>
            <a:r>
              <a:rPr lang="en-US" sz="840" dirty="0">
                <a:solidFill>
                  <a:srgbClr val="0B132B"/>
                </a:solidFill>
                <a:latin typeface="Aptos" pitchFamily="34" charset="0"/>
                <a:ea typeface="Aptos" pitchFamily="34" charset="-122"/>
                <a:cs typeface="Aptos" pitchFamily="34" charset="-120"/>
              </a:rPr>
              <a:t>safer prior + 1:1 safe/unsafe</a:t>
            </a:r>
            <a:endParaRPr lang="en-US" sz="840" dirty="0"/>
          </a:p>
          <a:p>
            <a:pPr algn="ctr" indent="0" marL="0">
              <a:buNone/>
            </a:pPr>
            <a:r>
              <a:rPr lang="en-US" sz="840" dirty="0">
                <a:solidFill>
                  <a:srgbClr val="0B132B"/>
                </a:solidFill>
                <a:latin typeface="Aptos" pitchFamily="34" charset="0"/>
                <a:ea typeface="Aptos" pitchFamily="34" charset="-122"/>
                <a:cs typeface="Aptos" pitchFamily="34" charset="-120"/>
              </a:rPr>
              <a:t>PPO-only curriculum</a:t>
            </a:r>
            <a:endParaRPr lang="en-US" sz="840" dirty="0"/>
          </a:p>
        </p:txBody>
      </p:sp>
      <p:sp>
        <p:nvSpPr>
          <p:cNvPr id="24" name="Text 22"/>
          <p:cNvSpPr/>
          <p:nvPr/>
        </p:nvSpPr>
        <p:spPr>
          <a:xfrm>
            <a:off x="9144000" y="2880360"/>
            <a:ext cx="2057400" cy="731520"/>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20" dirty="0">
                <a:solidFill>
                  <a:srgbClr val="0B132B"/>
                </a:solidFill>
                <a:latin typeface="Aptos" pitchFamily="34" charset="0"/>
                <a:ea typeface="Aptos" pitchFamily="34" charset="-122"/>
                <a:cs typeface="Aptos" pitchFamily="34" charset="-120"/>
              </a:rPr>
              <a:t>planned; no result yet</a:t>
            </a:r>
            <a:endParaRPr lang="en-US" sz="820" dirty="0"/>
          </a:p>
        </p:txBody>
      </p:sp>
      <p:sp>
        <p:nvSpPr>
          <p:cNvPr id="25" name="Text 23"/>
          <p:cNvSpPr/>
          <p:nvPr/>
        </p:nvSpPr>
        <p:spPr>
          <a:xfrm>
            <a:off x="9281160" y="3840480"/>
            <a:ext cx="1737360" cy="182880"/>
          </a:xfrm>
          <a:prstGeom prst="rect">
            <a:avLst/>
          </a:prstGeom>
          <a:solidFill>
            <a:srgbClr val="0891B2"/>
          </a:solidFill>
          <a:ln>
            <a:solidFill>
              <a:srgbClr val="0891B2">
                <a:alpha val="0"/>
              </a:srgbClr>
            </a:solidFill>
          </a:ln>
        </p:spPr>
        <p:txBody>
          <a:bodyPr wrap="square" lIns="445" tIns="445" rIns="445" bIns="445" rtlCol="0" anchor="ctr"/>
          <a:lstStyle/>
          <a:p>
            <a:pPr algn="ctr" indent="0" marL="0">
              <a:buNone/>
            </a:pPr>
            <a:r>
              <a:rPr lang="en-US" sz="610" b="1" dirty="0">
                <a:solidFill>
                  <a:srgbClr val="FFFFFF"/>
                </a:solidFill>
              </a:rPr>
              <a:t>PLANNED</a:t>
            </a:r>
            <a:endParaRPr lang="en-US" sz="610" dirty="0"/>
          </a:p>
        </p:txBody>
      </p:sp>
      <p:sp>
        <p:nvSpPr>
          <p:cNvPr id="26" name="Text 24"/>
          <p:cNvSpPr/>
          <p:nvPr/>
        </p:nvSpPr>
        <p:spPr>
          <a:xfrm>
            <a:off x="1005840" y="5029200"/>
            <a:ext cx="10149840" cy="685800"/>
          </a:xfrm>
          <a:prstGeom prst="rect">
            <a:avLst/>
          </a:prstGeom>
          <a:solidFill>
            <a:srgbClr val="FEF2F2"/>
          </a:solidFill>
          <a:ln w="12700">
            <a:solidFill>
              <a:srgbClr val="FECACA"/>
            </a:solidFill>
          </a:ln>
        </p:spPr>
        <p:txBody>
          <a:bodyPr wrap="square" lIns="1016" tIns="1016" rIns="1016" bIns="1016" rtlCol="0" anchor="ctr">
            <a:normAutofit/>
          </a:bodyPr>
          <a:lstStyle/>
          <a:p>
            <a:pPr algn="ctr" indent="0" marL="0">
              <a:buNone/>
            </a:pPr>
            <a:r>
              <a:rPr lang="en-US" sz="1240" b="1" dirty="0">
                <a:solidFill>
                  <a:srgbClr val="0B132B"/>
                </a:solidFill>
                <a:latin typeface="Aptos" pitchFamily="34" charset="0"/>
                <a:ea typeface="Aptos" pitchFamily="34" charset="-122"/>
                <a:cs typeface="Aptos" pitchFamily="34" charset="-120"/>
              </a:rPr>
              <a:t>Critical Stage 4.2 caveat</a:t>
            </a:r>
            <a:endParaRPr lang="en-US" sz="1240" dirty="0"/>
          </a:p>
          <a:p>
            <a:pPr algn="ctr" indent="0" marL="0">
              <a:buNone/>
            </a:pPr>
            <a:r>
              <a:rPr lang="en-US" sz="1240" b="1" dirty="0">
                <a:solidFill>
                  <a:srgbClr val="0B132B"/>
                </a:solidFill>
                <a:latin typeface="Aptos" pitchFamily="34" charset="0"/>
                <a:ea typeface="Aptos" pitchFamily="34" charset="-122"/>
                <a:cs typeface="Aptos" pitchFamily="34" charset="-120"/>
              </a:rPr>
              <a:t>No DAgger, no behavior cloning, no oracle prewarm, no supervised oracle-action loss; PPO-only runs failed early gates before checkpoint save.</a:t>
            </a:r>
            <a:endParaRPr lang="en-US" sz="1240" dirty="0"/>
          </a:p>
        </p:txBody>
      </p:sp>
      <p:sp>
        <p:nvSpPr>
          <p:cNvPr id="27" name="Text 25"/>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Future-final bank not run.</a:t>
            </a:r>
            <a:endParaRPr lang="en-US" sz="76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APPENDIX / TECHNICAL BACKUP</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A9 — Status label definitions</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34</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These labels are part of the claim language, not cosmetic tags.</a:t>
            </a:r>
            <a:endParaRPr lang="en-US" sz="1230" dirty="0"/>
          </a:p>
        </p:txBody>
      </p:sp>
      <p:sp>
        <p:nvSpPr>
          <p:cNvPr id="7" name="Text 5"/>
          <p:cNvSpPr/>
          <p:nvPr/>
        </p:nvSpPr>
        <p:spPr>
          <a:xfrm>
            <a:off x="685800" y="1234440"/>
            <a:ext cx="2011680" cy="420624"/>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30" b="1" dirty="0">
                <a:solidFill>
                  <a:srgbClr val="FFFFFF"/>
                </a:solidFill>
                <a:latin typeface="Aptos" pitchFamily="34" charset="0"/>
                <a:ea typeface="Aptos" pitchFamily="34" charset="-122"/>
                <a:cs typeface="Aptos" pitchFamily="34" charset="-120"/>
              </a:rPr>
              <a:t>Label</a:t>
            </a:r>
            <a:endParaRPr lang="en-US" sz="830" dirty="0"/>
          </a:p>
        </p:txBody>
      </p:sp>
      <p:sp>
        <p:nvSpPr>
          <p:cNvPr id="8" name="Text 6"/>
          <p:cNvSpPr/>
          <p:nvPr/>
        </p:nvSpPr>
        <p:spPr>
          <a:xfrm>
            <a:off x="2697480" y="1234440"/>
            <a:ext cx="8961120" cy="420624"/>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830" b="1" dirty="0">
                <a:solidFill>
                  <a:srgbClr val="FFFFFF"/>
                </a:solidFill>
                <a:latin typeface="Aptos" pitchFamily="34" charset="0"/>
                <a:ea typeface="Aptos" pitchFamily="34" charset="-122"/>
                <a:cs typeface="Aptos" pitchFamily="34" charset="-120"/>
              </a:rPr>
              <a:t>Meaning in this deck</a:t>
            </a:r>
            <a:endParaRPr lang="en-US" sz="830" dirty="0"/>
          </a:p>
        </p:txBody>
      </p:sp>
      <p:sp>
        <p:nvSpPr>
          <p:cNvPr id="9" name="Text 7"/>
          <p:cNvSpPr/>
          <p:nvPr/>
        </p:nvSpPr>
        <p:spPr>
          <a:xfrm>
            <a:off x="685800" y="1655064"/>
            <a:ext cx="2011680" cy="420624"/>
          </a:xfrm>
          <a:prstGeom prst="rect">
            <a:avLst/>
          </a:prstGeom>
          <a:solidFill>
            <a:srgbClr val="059669"/>
          </a:solidFill>
          <a:ln w="12700">
            <a:solidFill>
              <a:srgbClr val="E2E8F0"/>
            </a:solidFill>
          </a:ln>
        </p:spPr>
        <p:txBody>
          <a:bodyPr wrap="square" lIns="508" tIns="508" rIns="508" bIns="508" rtlCol="0" anchor="ctr">
            <a:normAutofit/>
          </a:bodyPr>
          <a:lstStyle/>
          <a:p>
            <a:pPr algn="ctr" indent="0" marL="0">
              <a:buNone/>
            </a:pPr>
            <a:r>
              <a:rPr lang="en-US" sz="830" dirty="0">
                <a:solidFill>
                  <a:srgbClr val="FFFFFF"/>
                </a:solidFill>
                <a:latin typeface="Aptos" pitchFamily="34" charset="0"/>
                <a:ea typeface="Aptos" pitchFamily="34" charset="-122"/>
                <a:cs typeface="Aptos" pitchFamily="34" charset="-120"/>
              </a:rPr>
              <a:t>PRODUCTION</a:t>
            </a:r>
            <a:endParaRPr lang="en-US" sz="830" dirty="0"/>
          </a:p>
        </p:txBody>
      </p:sp>
      <p:sp>
        <p:nvSpPr>
          <p:cNvPr id="10" name="Text 8"/>
          <p:cNvSpPr/>
          <p:nvPr/>
        </p:nvSpPr>
        <p:spPr>
          <a:xfrm>
            <a:off x="2697480" y="1655064"/>
            <a:ext cx="8961120" cy="42062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Accepted repository simulator checkpoint/configuration after required gates; not road deployment.</a:t>
            </a:r>
            <a:endParaRPr lang="en-US" sz="830" dirty="0"/>
          </a:p>
        </p:txBody>
      </p:sp>
      <p:sp>
        <p:nvSpPr>
          <p:cNvPr id="11" name="Text 9"/>
          <p:cNvSpPr/>
          <p:nvPr/>
        </p:nvSpPr>
        <p:spPr>
          <a:xfrm>
            <a:off x="685800" y="2075688"/>
            <a:ext cx="2011680" cy="420624"/>
          </a:xfrm>
          <a:prstGeom prst="rect">
            <a:avLst/>
          </a:prstGeom>
          <a:solidFill>
            <a:srgbClr val="0F766E"/>
          </a:solidFill>
          <a:ln w="12700">
            <a:solidFill>
              <a:srgbClr val="E2E8F0"/>
            </a:solidFill>
          </a:ln>
        </p:spPr>
        <p:txBody>
          <a:bodyPr wrap="square" lIns="508" tIns="508" rIns="508" bIns="508" rtlCol="0" anchor="ctr">
            <a:normAutofit/>
          </a:bodyPr>
          <a:lstStyle/>
          <a:p>
            <a:pPr algn="ctr" indent="0" marL="0">
              <a:buNone/>
            </a:pPr>
            <a:r>
              <a:rPr lang="en-US" sz="830" dirty="0">
                <a:solidFill>
                  <a:srgbClr val="FFFFFF"/>
                </a:solidFill>
                <a:latin typeface="Aptos" pitchFamily="34" charset="0"/>
                <a:ea typeface="Aptos" pitchFamily="34" charset="-122"/>
                <a:cs typeface="Aptos" pitchFamily="34" charset="-120"/>
              </a:rPr>
              <a:t>IMPLEMENTED_AND_TESTED</a:t>
            </a:r>
            <a:endParaRPr lang="en-US" sz="830" dirty="0"/>
          </a:p>
        </p:txBody>
      </p:sp>
      <p:sp>
        <p:nvSpPr>
          <p:cNvPr id="12" name="Text 10"/>
          <p:cNvSpPr/>
          <p:nvPr/>
        </p:nvSpPr>
        <p:spPr>
          <a:xfrm>
            <a:off x="2697480" y="2075688"/>
            <a:ext cx="8961120" cy="42062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Code/mechanics/tests exist, but not necessarily promoted as final learned behavior.</a:t>
            </a:r>
            <a:endParaRPr lang="en-US" sz="830" dirty="0"/>
          </a:p>
        </p:txBody>
      </p:sp>
      <p:sp>
        <p:nvSpPr>
          <p:cNvPr id="13" name="Text 11"/>
          <p:cNvSpPr/>
          <p:nvPr/>
        </p:nvSpPr>
        <p:spPr>
          <a:xfrm>
            <a:off x="685800" y="2496312"/>
            <a:ext cx="2011680" cy="420624"/>
          </a:xfrm>
          <a:prstGeom prst="rect">
            <a:avLst/>
          </a:prstGeom>
          <a:solidFill>
            <a:srgbClr val="7C3AED"/>
          </a:solidFill>
          <a:ln w="12700">
            <a:solidFill>
              <a:srgbClr val="E2E8F0"/>
            </a:solidFill>
          </a:ln>
        </p:spPr>
        <p:txBody>
          <a:bodyPr wrap="square" lIns="508" tIns="508" rIns="508" bIns="508" rtlCol="0" anchor="ctr">
            <a:normAutofit/>
          </a:bodyPr>
          <a:lstStyle/>
          <a:p>
            <a:pPr algn="ctr" indent="0" marL="0">
              <a:buNone/>
            </a:pPr>
            <a:r>
              <a:rPr lang="en-US" sz="830" dirty="0">
                <a:solidFill>
                  <a:srgbClr val="FFFFFF"/>
                </a:solidFill>
                <a:latin typeface="Aptos" pitchFamily="34" charset="0"/>
                <a:ea typeface="Aptos" pitchFamily="34" charset="-122"/>
                <a:cs typeface="Aptos" pitchFamily="34" charset="-120"/>
              </a:rPr>
              <a:t>TRAINING_ONLY</a:t>
            </a:r>
            <a:endParaRPr lang="en-US" sz="830" dirty="0"/>
          </a:p>
        </p:txBody>
      </p:sp>
      <p:sp>
        <p:nvSpPr>
          <p:cNvPr id="14" name="Text 12"/>
          <p:cNvSpPr/>
          <p:nvPr/>
        </p:nvSpPr>
        <p:spPr>
          <a:xfrm>
            <a:off x="2697480" y="2496312"/>
            <a:ext cx="8961120" cy="42062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May support future optimization; not formal production runtime.</a:t>
            </a:r>
            <a:endParaRPr lang="en-US" sz="830" dirty="0"/>
          </a:p>
        </p:txBody>
      </p:sp>
      <p:sp>
        <p:nvSpPr>
          <p:cNvPr id="15" name="Text 13"/>
          <p:cNvSpPr/>
          <p:nvPr/>
        </p:nvSpPr>
        <p:spPr>
          <a:xfrm>
            <a:off x="685800" y="2916936"/>
            <a:ext cx="2011680" cy="420624"/>
          </a:xfrm>
          <a:prstGeom prst="rect">
            <a:avLst/>
          </a:prstGeom>
          <a:solidFill>
            <a:srgbClr val="F97316"/>
          </a:solidFill>
          <a:ln w="12700">
            <a:solidFill>
              <a:srgbClr val="E2E8F0"/>
            </a:solidFill>
          </a:ln>
        </p:spPr>
        <p:txBody>
          <a:bodyPr wrap="square" lIns="508" tIns="508" rIns="508" bIns="508" rtlCol="0" anchor="ctr">
            <a:normAutofit/>
          </a:bodyPr>
          <a:lstStyle/>
          <a:p>
            <a:pPr algn="ctr" indent="0" marL="0">
              <a:buNone/>
            </a:pPr>
            <a:r>
              <a:rPr lang="en-US" sz="830" dirty="0">
                <a:solidFill>
                  <a:srgbClr val="FFFFFF"/>
                </a:solidFill>
                <a:latin typeface="Aptos" pitchFamily="34" charset="0"/>
                <a:ea typeface="Aptos" pitchFamily="34" charset="-122"/>
                <a:cs typeface="Aptos" pitchFamily="34" charset="-120"/>
              </a:rPr>
              <a:t>SCRIPTED_ONLY</a:t>
            </a:r>
            <a:endParaRPr lang="en-US" sz="830" dirty="0"/>
          </a:p>
        </p:txBody>
      </p:sp>
      <p:sp>
        <p:nvSpPr>
          <p:cNvPr id="16" name="Text 14"/>
          <p:cNvSpPr/>
          <p:nvPr/>
        </p:nvSpPr>
        <p:spPr>
          <a:xfrm>
            <a:off x="2697480" y="2916936"/>
            <a:ext cx="8961120" cy="42062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Deterministic oracle or demo; not learned behavior.</a:t>
            </a:r>
            <a:endParaRPr lang="en-US" sz="830" dirty="0"/>
          </a:p>
        </p:txBody>
      </p:sp>
      <p:sp>
        <p:nvSpPr>
          <p:cNvPr id="17" name="Text 15"/>
          <p:cNvSpPr/>
          <p:nvPr/>
        </p:nvSpPr>
        <p:spPr>
          <a:xfrm>
            <a:off x="685800" y="3337560"/>
            <a:ext cx="2011680" cy="420624"/>
          </a:xfrm>
          <a:prstGeom prst="rect">
            <a:avLst/>
          </a:prstGeom>
          <a:solidFill>
            <a:srgbClr val="4F46E5"/>
          </a:solidFill>
          <a:ln w="12700">
            <a:solidFill>
              <a:srgbClr val="E2E8F0"/>
            </a:solidFill>
          </a:ln>
        </p:spPr>
        <p:txBody>
          <a:bodyPr wrap="square" lIns="508" tIns="508" rIns="508" bIns="508" rtlCol="0" anchor="ctr">
            <a:normAutofit/>
          </a:bodyPr>
          <a:lstStyle/>
          <a:p>
            <a:pPr algn="ctr" indent="0" marL="0">
              <a:buNone/>
            </a:pPr>
            <a:r>
              <a:rPr lang="en-US" sz="830" dirty="0">
                <a:solidFill>
                  <a:srgbClr val="FFFFFF"/>
                </a:solidFill>
                <a:latin typeface="Aptos" pitchFamily="34" charset="0"/>
                <a:ea typeface="Aptos" pitchFamily="34" charset="-122"/>
                <a:cs typeface="Aptos" pitchFamily="34" charset="-120"/>
              </a:rPr>
              <a:t>LEARNED_PARTIAL</a:t>
            </a:r>
            <a:endParaRPr lang="en-US" sz="830" dirty="0"/>
          </a:p>
        </p:txBody>
      </p:sp>
      <p:sp>
        <p:nvSpPr>
          <p:cNvPr id="18" name="Text 16"/>
          <p:cNvSpPr/>
          <p:nvPr/>
        </p:nvSpPr>
        <p:spPr>
          <a:xfrm>
            <a:off x="2697480" y="3337560"/>
            <a:ext cx="8961120" cy="42062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Positive learning signal under limited focus, not promoted.</a:t>
            </a:r>
            <a:endParaRPr lang="en-US" sz="830" dirty="0"/>
          </a:p>
        </p:txBody>
      </p:sp>
      <p:sp>
        <p:nvSpPr>
          <p:cNvPr id="19" name="Text 17"/>
          <p:cNvSpPr/>
          <p:nvPr/>
        </p:nvSpPr>
        <p:spPr>
          <a:xfrm>
            <a:off x="685800" y="3758184"/>
            <a:ext cx="2011680" cy="420624"/>
          </a:xfrm>
          <a:prstGeom prst="rect">
            <a:avLst/>
          </a:prstGeom>
          <a:solidFill>
            <a:srgbClr val="DC2626"/>
          </a:solidFill>
          <a:ln w="12700">
            <a:solidFill>
              <a:srgbClr val="E2E8F0"/>
            </a:solidFill>
          </a:ln>
        </p:spPr>
        <p:txBody>
          <a:bodyPr wrap="square" lIns="508" tIns="508" rIns="508" bIns="508" rtlCol="0" anchor="ctr">
            <a:normAutofit/>
          </a:bodyPr>
          <a:lstStyle/>
          <a:p>
            <a:pPr algn="ctr" indent="0" marL="0">
              <a:buNone/>
            </a:pPr>
            <a:r>
              <a:rPr lang="en-US" sz="830" dirty="0">
                <a:solidFill>
                  <a:srgbClr val="FFFFFF"/>
                </a:solidFill>
                <a:latin typeface="Aptos" pitchFamily="34" charset="0"/>
                <a:ea typeface="Aptos" pitchFamily="34" charset="-122"/>
                <a:cs typeface="Aptos" pitchFamily="34" charset="-120"/>
              </a:rPr>
              <a:t>REJECTED_CANDIDATE</a:t>
            </a:r>
            <a:endParaRPr lang="en-US" sz="830" dirty="0"/>
          </a:p>
        </p:txBody>
      </p:sp>
      <p:sp>
        <p:nvSpPr>
          <p:cNvPr id="20" name="Text 18"/>
          <p:cNvSpPr/>
          <p:nvPr/>
        </p:nvSpPr>
        <p:spPr>
          <a:xfrm>
            <a:off x="2697480" y="3758184"/>
            <a:ext cx="8961120" cy="42062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Tested candidate failed at least one required gate or criterion.</a:t>
            </a:r>
            <a:endParaRPr lang="en-US" sz="830" dirty="0"/>
          </a:p>
        </p:txBody>
      </p:sp>
      <p:sp>
        <p:nvSpPr>
          <p:cNvPr id="21" name="Text 19"/>
          <p:cNvSpPr/>
          <p:nvPr/>
        </p:nvSpPr>
        <p:spPr>
          <a:xfrm>
            <a:off x="685800" y="4178808"/>
            <a:ext cx="2011680" cy="420624"/>
          </a:xfrm>
          <a:prstGeom prst="rect">
            <a:avLst/>
          </a:prstGeom>
          <a:solidFill>
            <a:srgbClr val="64748B"/>
          </a:solidFill>
          <a:ln w="12700">
            <a:solidFill>
              <a:srgbClr val="E2E8F0"/>
            </a:solidFill>
          </a:ln>
        </p:spPr>
        <p:txBody>
          <a:bodyPr wrap="square" lIns="508" tIns="508" rIns="508" bIns="508" rtlCol="0" anchor="ctr">
            <a:normAutofit/>
          </a:bodyPr>
          <a:lstStyle/>
          <a:p>
            <a:pPr algn="ctr" indent="0" marL="0">
              <a:buNone/>
            </a:pPr>
            <a:r>
              <a:rPr lang="en-US" sz="830" dirty="0">
                <a:solidFill>
                  <a:srgbClr val="FFFFFF"/>
                </a:solidFill>
                <a:latin typeface="Aptos" pitchFamily="34" charset="0"/>
                <a:ea typeface="Aptos" pitchFamily="34" charset="-122"/>
                <a:cs typeface="Aptos" pitchFamily="34" charset="-120"/>
              </a:rPr>
              <a:t>DIAGNOSTIC_ONLY</a:t>
            </a:r>
            <a:endParaRPr lang="en-US" sz="830" dirty="0"/>
          </a:p>
        </p:txBody>
      </p:sp>
      <p:sp>
        <p:nvSpPr>
          <p:cNvPr id="22" name="Text 20"/>
          <p:cNvSpPr/>
          <p:nvPr/>
        </p:nvSpPr>
        <p:spPr>
          <a:xfrm>
            <a:off x="2697480" y="4178808"/>
            <a:ext cx="8961120" cy="42062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Analysis/counterfactual/taxonomy used to localize issues, not a deployable result.</a:t>
            </a:r>
            <a:endParaRPr lang="en-US" sz="830" dirty="0"/>
          </a:p>
        </p:txBody>
      </p:sp>
      <p:sp>
        <p:nvSpPr>
          <p:cNvPr id="23" name="Text 21"/>
          <p:cNvSpPr/>
          <p:nvPr/>
        </p:nvSpPr>
        <p:spPr>
          <a:xfrm>
            <a:off x="685800" y="4599432"/>
            <a:ext cx="2011680" cy="420624"/>
          </a:xfrm>
          <a:prstGeom prst="rect">
            <a:avLst/>
          </a:prstGeom>
          <a:solidFill>
            <a:srgbClr val="0891B2"/>
          </a:solidFill>
          <a:ln w="12700">
            <a:solidFill>
              <a:srgbClr val="E2E8F0"/>
            </a:solidFill>
          </a:ln>
        </p:spPr>
        <p:txBody>
          <a:bodyPr wrap="square" lIns="508" tIns="508" rIns="508" bIns="508" rtlCol="0" anchor="ctr">
            <a:normAutofit/>
          </a:bodyPr>
          <a:lstStyle/>
          <a:p>
            <a:pPr algn="ctr" indent="0" marL="0">
              <a:buNone/>
            </a:pPr>
            <a:r>
              <a:rPr lang="en-US" sz="830" dirty="0">
                <a:solidFill>
                  <a:srgbClr val="FFFFFF"/>
                </a:solidFill>
                <a:latin typeface="Aptos" pitchFamily="34" charset="0"/>
                <a:ea typeface="Aptos" pitchFamily="34" charset="-122"/>
                <a:cs typeface="Aptos" pitchFamily="34" charset="-120"/>
              </a:rPr>
              <a:t>PLANNED</a:t>
            </a:r>
            <a:endParaRPr lang="en-US" sz="830" dirty="0"/>
          </a:p>
        </p:txBody>
      </p:sp>
      <p:sp>
        <p:nvSpPr>
          <p:cNvPr id="24" name="Text 22"/>
          <p:cNvSpPr/>
          <p:nvPr/>
        </p:nvSpPr>
        <p:spPr>
          <a:xfrm>
            <a:off x="2697480" y="4599432"/>
            <a:ext cx="8961120" cy="42062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Recommended next experiment; not executed result.</a:t>
            </a:r>
            <a:endParaRPr lang="en-US" sz="830" dirty="0"/>
          </a:p>
        </p:txBody>
      </p:sp>
      <p:sp>
        <p:nvSpPr>
          <p:cNvPr id="25" name="Text 23"/>
          <p:cNvSpPr/>
          <p:nvPr/>
        </p:nvSpPr>
        <p:spPr>
          <a:xfrm>
            <a:off x="685800" y="5020056"/>
            <a:ext cx="2011680" cy="420624"/>
          </a:xfrm>
          <a:prstGeom prst="rect">
            <a:avLst/>
          </a:prstGeom>
          <a:solidFill>
            <a:srgbClr val="94A3B8"/>
          </a:solidFill>
          <a:ln w="12700">
            <a:solidFill>
              <a:srgbClr val="E2E8F0"/>
            </a:solidFill>
          </a:ln>
        </p:spPr>
        <p:txBody>
          <a:bodyPr wrap="square" lIns="508" tIns="508" rIns="508" bIns="508" rtlCol="0" anchor="ctr">
            <a:normAutofit/>
          </a:bodyPr>
          <a:lstStyle/>
          <a:p>
            <a:pPr algn="ctr" indent="0" marL="0">
              <a:buNone/>
            </a:pPr>
            <a:r>
              <a:rPr lang="en-US" sz="830" dirty="0">
                <a:solidFill>
                  <a:srgbClr val="FFFFFF"/>
                </a:solidFill>
                <a:latin typeface="Aptos" pitchFamily="34" charset="0"/>
                <a:ea typeface="Aptos" pitchFamily="34" charset="-122"/>
                <a:cs typeface="Aptos" pitchFamily="34" charset="-120"/>
              </a:rPr>
              <a:t>INCONCLUSIVE</a:t>
            </a:r>
            <a:endParaRPr lang="en-US" sz="830" dirty="0"/>
          </a:p>
        </p:txBody>
      </p:sp>
      <p:sp>
        <p:nvSpPr>
          <p:cNvPr id="26" name="Text 24"/>
          <p:cNvSpPr/>
          <p:nvPr/>
        </p:nvSpPr>
        <p:spPr>
          <a:xfrm>
            <a:off x="2697480" y="5020056"/>
            <a:ext cx="8961120" cy="420624"/>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830" dirty="0">
                <a:solidFill>
                  <a:srgbClr val="0B132B"/>
                </a:solidFill>
                <a:latin typeface="Aptos" pitchFamily="34" charset="0"/>
                <a:ea typeface="Aptos" pitchFamily="34" charset="-122"/>
                <a:cs typeface="Aptos" pitchFamily="34" charset="-120"/>
              </a:rPr>
              <a:t>Not verified by repository evidence; may be user-provided narrative or missing artifact.</a:t>
            </a:r>
            <a:endParaRPr lang="en-US" sz="830" dirty="0"/>
          </a:p>
        </p:txBody>
      </p:sp>
      <p:sp>
        <p:nvSpPr>
          <p:cNvPr id="27" name="Text 25"/>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Use the label with the claim every time; do not move facts across status boundaries.</a:t>
            </a:r>
            <a:endParaRPr lang="en-US" sz="76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APPENDIX / TECHNICAL BACKUP</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A10 — Q&amp;A: world model and pivot</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35</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Short answers for likely questions about the original direction.</a:t>
            </a:r>
            <a:endParaRPr lang="en-US" sz="1230" dirty="0"/>
          </a:p>
        </p:txBody>
      </p:sp>
      <p:sp>
        <p:nvSpPr>
          <p:cNvPr id="7" name="Text 5"/>
          <p:cNvSpPr/>
          <p:nvPr/>
        </p:nvSpPr>
        <p:spPr>
          <a:xfrm>
            <a:off x="777240" y="1325880"/>
            <a:ext cx="3749040" cy="384048"/>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Was DreamerV3 trained successfully?</a:t>
            </a:r>
            <a:endParaRPr lang="en-US" sz="1120" dirty="0"/>
          </a:p>
        </p:txBody>
      </p:sp>
      <p:sp>
        <p:nvSpPr>
          <p:cNvPr id="8" name="Text 6"/>
          <p:cNvSpPr/>
          <p:nvPr/>
        </p:nvSpPr>
        <p:spPr>
          <a:xfrm>
            <a:off x="4709160" y="1325880"/>
            <a:ext cx="640080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1050" dirty="0">
                <a:solidFill>
                  <a:srgbClr val="0B132B"/>
                </a:solidFill>
                <a:latin typeface="Aptos" pitchFamily="34" charset="0"/>
                <a:ea typeface="Aptos" pitchFamily="34" charset="-122"/>
                <a:cs typeface="Aptos" pitchFamily="34" charset="-120"/>
              </a:rPr>
              <a:t>[INCONCLUSIVE] No repository evidence supports a successful training run.</a:t>
            </a:r>
            <a:endParaRPr lang="en-US" sz="1050" dirty="0"/>
          </a:p>
        </p:txBody>
      </p:sp>
      <p:sp>
        <p:nvSpPr>
          <p:cNvPr id="9" name="Text 7"/>
          <p:cNvSpPr/>
          <p:nvPr/>
        </p:nvSpPr>
        <p:spPr>
          <a:xfrm>
            <a:off x="777240" y="2404872"/>
            <a:ext cx="3749040" cy="384048"/>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Was the pivot a failure?</a:t>
            </a:r>
            <a:endParaRPr lang="en-US" sz="1120" dirty="0"/>
          </a:p>
        </p:txBody>
      </p:sp>
      <p:sp>
        <p:nvSpPr>
          <p:cNvPr id="10" name="Text 8"/>
          <p:cNvSpPr/>
          <p:nvPr/>
        </p:nvSpPr>
        <p:spPr>
          <a:xfrm>
            <a:off x="4709160" y="2404872"/>
            <a:ext cx="640080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1050" dirty="0">
                <a:solidFill>
                  <a:srgbClr val="0B132B"/>
                </a:solidFill>
                <a:latin typeface="Aptos" pitchFamily="34" charset="0"/>
                <a:ea typeface="Aptos" pitchFamily="34" charset="-122"/>
                <a:cs typeface="Aptos" pitchFamily="34" charset="-120"/>
              </a:rPr>
              <a:t>[IMPLEMENTED_AND_TESTED] No; it converted an oversized goal into a reproducible simulator-policy program.</a:t>
            </a:r>
            <a:endParaRPr lang="en-US" sz="1050" dirty="0"/>
          </a:p>
        </p:txBody>
      </p:sp>
      <p:sp>
        <p:nvSpPr>
          <p:cNvPr id="11" name="Text 9"/>
          <p:cNvSpPr/>
          <p:nvPr/>
        </p:nvSpPr>
        <p:spPr>
          <a:xfrm>
            <a:off x="777240" y="3483864"/>
            <a:ext cx="3749040" cy="384048"/>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Are the world-model and V5 systems connected in code?</a:t>
            </a:r>
            <a:endParaRPr lang="en-US" sz="1120" dirty="0"/>
          </a:p>
        </p:txBody>
      </p:sp>
      <p:sp>
        <p:nvSpPr>
          <p:cNvPr id="12" name="Text 10"/>
          <p:cNvSpPr/>
          <p:nvPr/>
        </p:nvSpPr>
        <p:spPr>
          <a:xfrm>
            <a:off x="4709160" y="3483864"/>
            <a:ext cx="640080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1050" dirty="0">
                <a:solidFill>
                  <a:srgbClr val="0B132B"/>
                </a:solidFill>
                <a:latin typeface="Aptos" pitchFamily="34" charset="0"/>
                <a:ea typeface="Aptos" pitchFamily="34" charset="-122"/>
                <a:cs typeface="Aptos" pitchFamily="34" charset="-120"/>
              </a:rPr>
              <a:t>[INCONCLUSIVE] No code-level connection is evidenced in the handoff.</a:t>
            </a:r>
            <a:endParaRPr lang="en-US" sz="1050" dirty="0"/>
          </a:p>
        </p:txBody>
      </p:sp>
      <p:sp>
        <p:nvSpPr>
          <p:cNvPr id="13" name="Text 11"/>
          <p:cNvSpPr/>
          <p:nvPr/>
        </p:nvSpPr>
        <p:spPr>
          <a:xfrm>
            <a:off x="777240" y="4562856"/>
            <a:ext cx="3749040" cy="384048"/>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What is the safe Dreamer claim?</a:t>
            </a:r>
            <a:endParaRPr lang="en-US" sz="1120" dirty="0"/>
          </a:p>
        </p:txBody>
      </p:sp>
      <p:sp>
        <p:nvSpPr>
          <p:cNvPr id="14" name="Text 12"/>
          <p:cNvSpPr/>
          <p:nvPr/>
        </p:nvSpPr>
        <p:spPr>
          <a:xfrm>
            <a:off x="4709160" y="4562856"/>
            <a:ext cx="640080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1050" dirty="0">
                <a:solidFill>
                  <a:srgbClr val="0B132B"/>
                </a:solidFill>
                <a:latin typeface="Aptos" pitchFamily="34" charset="0"/>
                <a:ea typeface="Aptos" pitchFamily="34" charset="-122"/>
                <a:cs typeface="Aptos" pitchFamily="34" charset="-120"/>
              </a:rPr>
              <a:t>[INCONCLUSIVE] The internship began with a DreamerV3/world-model direction and pivoted before a repository-verified result.</a:t>
            </a:r>
            <a:endParaRPr lang="en-US" sz="1050" dirty="0"/>
          </a:p>
        </p:txBody>
      </p:sp>
      <p:sp>
        <p:nvSpPr>
          <p:cNvPr id="15" name="Text 13"/>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Avoid: “Dreamer failed,” “Dreamer generated scenarios,” or “V5 uses Dreamer.”</a:t>
            </a:r>
            <a:endParaRPr lang="en-US" sz="76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APPENDIX / TECHNICAL BACKUP</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A11 — Q&amp;A: policy ownership, shield, and production</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36</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Short answers for likely methodology questions.</a:t>
            </a:r>
            <a:endParaRPr lang="en-US" sz="1230" dirty="0"/>
          </a:p>
        </p:txBody>
      </p:sp>
      <p:sp>
        <p:nvSpPr>
          <p:cNvPr id="7" name="Text 5"/>
          <p:cNvSpPr/>
          <p:nvPr/>
        </p:nvSpPr>
        <p:spPr>
          <a:xfrm>
            <a:off x="777240" y="1325880"/>
            <a:ext cx="3749040" cy="384048"/>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Is production V5 runtime shielded?</a:t>
            </a:r>
            <a:endParaRPr lang="en-US" sz="1120" dirty="0"/>
          </a:p>
        </p:txBody>
      </p:sp>
      <p:sp>
        <p:nvSpPr>
          <p:cNvPr id="8" name="Text 6"/>
          <p:cNvSpPr/>
          <p:nvPr/>
        </p:nvSpPr>
        <p:spPr>
          <a:xfrm>
            <a:off x="4709160" y="1325880"/>
            <a:ext cx="640080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1050" dirty="0">
                <a:solidFill>
                  <a:srgbClr val="0B132B"/>
                </a:solidFill>
                <a:latin typeface="Aptos" pitchFamily="34" charset="0"/>
                <a:ea typeface="Aptos" pitchFamily="34" charset="-122"/>
                <a:cs typeface="Aptos" pitchFamily="34" charset="-120"/>
              </a:rPr>
              <a:t>[PRODUCTION] Formal qualification used no runtime acceleration override; environment semantics still exist.</a:t>
            </a:r>
            <a:endParaRPr lang="en-US" sz="1050" dirty="0"/>
          </a:p>
        </p:txBody>
      </p:sp>
      <p:sp>
        <p:nvSpPr>
          <p:cNvPr id="9" name="Text 7"/>
          <p:cNvSpPr/>
          <p:nvPr/>
        </p:nvSpPr>
        <p:spPr>
          <a:xfrm>
            <a:off x="777240" y="2404872"/>
            <a:ext cx="3749040" cy="384048"/>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Is production V5 pure RL?</a:t>
            </a:r>
            <a:endParaRPr lang="en-US" sz="1120" dirty="0"/>
          </a:p>
        </p:txBody>
      </p:sp>
      <p:sp>
        <p:nvSpPr>
          <p:cNvPr id="10" name="Text 8"/>
          <p:cNvSpPr/>
          <p:nvPr/>
        </p:nvSpPr>
        <p:spPr>
          <a:xfrm>
            <a:off x="4709160" y="2404872"/>
            <a:ext cx="640080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1050" dirty="0">
                <a:solidFill>
                  <a:srgbClr val="0B132B"/>
                </a:solidFill>
                <a:latin typeface="Aptos" pitchFamily="34" charset="0"/>
                <a:ea typeface="Aptos" pitchFamily="34" charset="-122"/>
                <a:cs typeface="Aptos" pitchFamily="34" charset="-120"/>
              </a:rPr>
              <a:t>[PRODUCTION] Runtime decisions are policy-owned, but the lineage used engineered observations/rewards and bounded ROR prewarm.</a:t>
            </a:r>
            <a:endParaRPr lang="en-US" sz="1050" dirty="0"/>
          </a:p>
        </p:txBody>
      </p:sp>
      <p:sp>
        <p:nvSpPr>
          <p:cNvPr id="11" name="Text 9"/>
          <p:cNvSpPr/>
          <p:nvPr/>
        </p:nvSpPr>
        <p:spPr>
          <a:xfrm>
            <a:off x="777240" y="3483864"/>
            <a:ext cx="3749040" cy="384048"/>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Are signal rules learned?</a:t>
            </a:r>
            <a:endParaRPr lang="en-US" sz="1120" dirty="0"/>
          </a:p>
        </p:txBody>
      </p:sp>
      <p:sp>
        <p:nvSpPr>
          <p:cNvPr id="12" name="Text 10"/>
          <p:cNvSpPr/>
          <p:nvPr/>
        </p:nvSpPr>
        <p:spPr>
          <a:xfrm>
            <a:off x="4709160" y="3483864"/>
            <a:ext cx="640080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1050" dirty="0">
                <a:solidFill>
                  <a:srgbClr val="0B132B"/>
                </a:solidFill>
                <a:latin typeface="Aptos" pitchFamily="34" charset="0"/>
                <a:ea typeface="Aptos" pitchFamily="34" charset="-122"/>
                <a:cs typeface="Aptos" pitchFamily="34" charset="-120"/>
              </a:rPr>
              <a:t>[PRODUCTION] Signal/legal context is simulator-defined; the policy learns the longitudinal response.</a:t>
            </a:r>
            <a:endParaRPr lang="en-US" sz="1050" dirty="0"/>
          </a:p>
        </p:txBody>
      </p:sp>
      <p:sp>
        <p:nvSpPr>
          <p:cNvPr id="13" name="Text 11"/>
          <p:cNvSpPr/>
          <p:nvPr/>
        </p:nvSpPr>
        <p:spPr>
          <a:xfrm>
            <a:off x="777240" y="4562856"/>
            <a:ext cx="3749040" cy="384048"/>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What is the largest production limitation?</a:t>
            </a:r>
            <a:endParaRPr lang="en-US" sz="1120" dirty="0"/>
          </a:p>
        </p:txBody>
      </p:sp>
      <p:sp>
        <p:nvSpPr>
          <p:cNvPr id="14" name="Text 12"/>
          <p:cNvSpPr/>
          <p:nvPr/>
        </p:nvSpPr>
        <p:spPr>
          <a:xfrm>
            <a:off x="4709160" y="4562856"/>
            <a:ext cx="640080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1050" dirty="0">
                <a:solidFill>
                  <a:srgbClr val="0B132B"/>
                </a:solidFill>
                <a:latin typeface="Aptos" pitchFamily="34" charset="0"/>
                <a:ea typeface="Aptos" pitchFamily="34" charset="-122"/>
                <a:cs typeface="Aptos" pitchFamily="34" charset="-120"/>
              </a:rPr>
              <a:t>[PRODUCTION] V5 is longitudinal/path-locked; steering output is inert.</a:t>
            </a:r>
            <a:endParaRPr lang="en-US" sz="1050" dirty="0"/>
          </a:p>
        </p:txBody>
      </p:sp>
      <p:sp>
        <p:nvSpPr>
          <p:cNvPr id="15" name="Text 13"/>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Avoid: “no engineered safety logic anywhere” or “pure RL with no prior knowledge.”</a:t>
            </a:r>
            <a:endParaRPr lang="en-US" sz="76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APPENDIX / TECHNICAL BACKUP</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A12 — Q&amp;A: lane, merge, and left-turn pocket</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37</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Short answers for likely lane-branch questions.</a:t>
            </a:r>
            <a:endParaRPr lang="en-US" sz="1230" dirty="0"/>
          </a:p>
        </p:txBody>
      </p:sp>
      <p:sp>
        <p:nvSpPr>
          <p:cNvPr id="7" name="Text 5"/>
          <p:cNvSpPr/>
          <p:nvPr/>
        </p:nvSpPr>
        <p:spPr>
          <a:xfrm>
            <a:off x="685800" y="1353312"/>
            <a:ext cx="3886200" cy="347472"/>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1050" b="1" dirty="0">
                <a:solidFill>
                  <a:srgbClr val="FFFFFF"/>
                </a:solidFill>
                <a:latin typeface="Aptos" pitchFamily="34" charset="0"/>
                <a:ea typeface="Aptos" pitchFamily="34" charset="-122"/>
                <a:cs typeface="Aptos" pitchFamily="34" charset="-120"/>
              </a:rPr>
              <a:t>Did the scripted merge work?</a:t>
            </a:r>
            <a:endParaRPr lang="en-US" sz="1050" dirty="0"/>
          </a:p>
        </p:txBody>
      </p:sp>
      <p:sp>
        <p:nvSpPr>
          <p:cNvPr id="8" name="Text 6"/>
          <p:cNvSpPr/>
          <p:nvPr/>
        </p:nvSpPr>
        <p:spPr>
          <a:xfrm>
            <a:off x="4754880" y="1353312"/>
            <a:ext cx="6446520" cy="347472"/>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990" dirty="0">
                <a:solidFill>
                  <a:srgbClr val="0B132B"/>
                </a:solidFill>
                <a:latin typeface="Aptos" pitchFamily="34" charset="0"/>
                <a:ea typeface="Aptos" pitchFamily="34" charset="-122"/>
                <a:cs typeface="Aptos" pitchFamily="34" charset="-120"/>
              </a:rPr>
              <a:t>[SCRIPTED_ONLY] Yes as infrastructure validation, with learned_policy_used=false.</a:t>
            </a:r>
            <a:endParaRPr lang="en-US" sz="990" dirty="0"/>
          </a:p>
        </p:txBody>
      </p:sp>
      <p:sp>
        <p:nvSpPr>
          <p:cNvPr id="9" name="Text 7"/>
          <p:cNvSpPr/>
          <p:nvPr/>
        </p:nvSpPr>
        <p:spPr>
          <a:xfrm>
            <a:off x="685800" y="2267712"/>
            <a:ext cx="3886200" cy="347472"/>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1050" b="1" dirty="0">
                <a:solidFill>
                  <a:srgbClr val="FFFFFF"/>
                </a:solidFill>
                <a:latin typeface="Aptos" pitchFamily="34" charset="0"/>
                <a:ea typeface="Aptos" pitchFamily="34" charset="-122"/>
                <a:cs typeface="Aptos" pitchFamily="34" charset="-120"/>
              </a:rPr>
              <a:t>Did V6 learn safe merging?</a:t>
            </a:r>
            <a:endParaRPr lang="en-US" sz="1050" dirty="0"/>
          </a:p>
        </p:txBody>
      </p:sp>
      <p:sp>
        <p:nvSpPr>
          <p:cNvPr id="10" name="Text 8"/>
          <p:cNvSpPr/>
          <p:nvPr/>
        </p:nvSpPr>
        <p:spPr>
          <a:xfrm>
            <a:off x="4754880" y="2267712"/>
            <a:ext cx="6446520" cy="347472"/>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990" dirty="0">
                <a:solidFill>
                  <a:srgbClr val="0B132B"/>
                </a:solidFill>
                <a:latin typeface="Aptos" pitchFamily="34" charset="0"/>
                <a:ea typeface="Aptos" pitchFamily="34" charset="-122"/>
                <a:cs typeface="Aptos" pitchFamily="34" charset="-120"/>
              </a:rPr>
              <a:t>[REJECTED_CANDIDATE] No; Stage 4.2 avoided collapse but failed unsafe-entry and collision gates.</a:t>
            </a:r>
            <a:endParaRPr lang="en-US" sz="990" dirty="0"/>
          </a:p>
        </p:txBody>
      </p:sp>
      <p:sp>
        <p:nvSpPr>
          <p:cNvPr id="11" name="Text 9"/>
          <p:cNvSpPr/>
          <p:nvPr/>
        </p:nvSpPr>
        <p:spPr>
          <a:xfrm>
            <a:off x="685800" y="3182112"/>
            <a:ext cx="3886200" cy="347472"/>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1050" b="1" dirty="0">
                <a:solidFill>
                  <a:srgbClr val="FFFFFF"/>
                </a:solidFill>
                <a:latin typeface="Aptos" pitchFamily="34" charset="0"/>
                <a:ea typeface="Aptos" pitchFamily="34" charset="-122"/>
                <a:cs typeface="Aptos" pitchFamily="34" charset="-120"/>
              </a:rPr>
              <a:t>What happened in the first learned merge attempt?</a:t>
            </a:r>
            <a:endParaRPr lang="en-US" sz="1050" dirty="0"/>
          </a:p>
        </p:txBody>
      </p:sp>
      <p:sp>
        <p:nvSpPr>
          <p:cNvPr id="12" name="Text 10"/>
          <p:cNvSpPr/>
          <p:nvPr/>
        </p:nvSpPr>
        <p:spPr>
          <a:xfrm>
            <a:off x="4754880" y="3182112"/>
            <a:ext cx="6446520" cy="347472"/>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990" dirty="0">
                <a:solidFill>
                  <a:srgbClr val="0B132B"/>
                </a:solidFill>
                <a:latin typeface="Aptos" pitchFamily="34" charset="0"/>
                <a:ea typeface="Aptos" pitchFamily="34" charset="-122"/>
                <a:cs typeface="Aptos" pitchFamily="34" charset="-120"/>
              </a:rPr>
              <a:t>[REJECTED_CANDIDATE] Deterministic candidates selected KEEP everywhere: 0% required merges and requests.</a:t>
            </a:r>
            <a:endParaRPr lang="en-US" sz="990" dirty="0"/>
          </a:p>
        </p:txBody>
      </p:sp>
      <p:sp>
        <p:nvSpPr>
          <p:cNvPr id="13" name="Text 11"/>
          <p:cNvSpPr/>
          <p:nvPr/>
        </p:nvSpPr>
        <p:spPr>
          <a:xfrm>
            <a:off x="685800" y="4096512"/>
            <a:ext cx="3886200" cy="347472"/>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1050" b="1" dirty="0">
                <a:solidFill>
                  <a:srgbClr val="FFFFFF"/>
                </a:solidFill>
                <a:latin typeface="Aptos" pitchFamily="34" charset="0"/>
                <a:ea typeface="Aptos" pitchFamily="34" charset="-122"/>
                <a:cs typeface="Aptos" pitchFamily="34" charset="-120"/>
              </a:rPr>
              <a:t>Was the left-turn pocket learned?</a:t>
            </a:r>
            <a:endParaRPr lang="en-US" sz="1050" dirty="0"/>
          </a:p>
        </p:txBody>
      </p:sp>
      <p:sp>
        <p:nvSpPr>
          <p:cNvPr id="14" name="Text 12"/>
          <p:cNvSpPr/>
          <p:nvPr/>
        </p:nvSpPr>
        <p:spPr>
          <a:xfrm>
            <a:off x="4754880" y="4096512"/>
            <a:ext cx="6446520" cy="347472"/>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990" dirty="0">
                <a:solidFill>
                  <a:srgbClr val="0B132B"/>
                </a:solidFill>
                <a:latin typeface="Aptos" pitchFamily="34" charset="0"/>
                <a:ea typeface="Aptos" pitchFamily="34" charset="-122"/>
                <a:cs typeface="Aptos" pitchFamily="34" charset="-120"/>
              </a:rPr>
              <a:t>[SCRIPTED_ONLY] No; topology and routes were deterministic, and no pocket PPO ran.</a:t>
            </a:r>
            <a:endParaRPr lang="en-US" sz="990" dirty="0"/>
          </a:p>
        </p:txBody>
      </p:sp>
      <p:sp>
        <p:nvSpPr>
          <p:cNvPr id="15" name="Text 13"/>
          <p:cNvSpPr/>
          <p:nvPr/>
        </p:nvSpPr>
        <p:spPr>
          <a:xfrm>
            <a:off x="685800" y="5010912"/>
            <a:ext cx="3886200" cy="347472"/>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1050" b="1" dirty="0">
                <a:solidFill>
                  <a:srgbClr val="FFFFFF"/>
                </a:solidFill>
                <a:latin typeface="Aptos" pitchFamily="34" charset="0"/>
                <a:ea typeface="Aptos" pitchFamily="34" charset="-122"/>
                <a:cs typeface="Aptos" pitchFamily="34" charset="-120"/>
              </a:rPr>
              <a:t>Why is V6 still useful?</a:t>
            </a:r>
            <a:endParaRPr lang="en-US" sz="1050" dirty="0"/>
          </a:p>
        </p:txBody>
      </p:sp>
      <p:sp>
        <p:nvSpPr>
          <p:cNvPr id="16" name="Text 14"/>
          <p:cNvSpPr/>
          <p:nvPr/>
        </p:nvSpPr>
        <p:spPr>
          <a:xfrm>
            <a:off x="4754880" y="5010912"/>
            <a:ext cx="6446520" cy="347472"/>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990" dirty="0">
                <a:solidFill>
                  <a:srgbClr val="0B132B"/>
                </a:solidFill>
                <a:latin typeface="Aptos" pitchFamily="34" charset="0"/>
                <a:ea typeface="Aptos" pitchFamily="34" charset="-122"/>
                <a:cs typeface="Aptos" pitchFamily="34" charset="-120"/>
              </a:rPr>
              <a:t>[LEARNED_PARTIAL] It localized failure to hybrid lane intent, reward alignment, action coupling, and rollout coverage.</a:t>
            </a:r>
            <a:endParaRPr lang="en-US" sz="990" dirty="0"/>
          </a:p>
        </p:txBody>
      </p:sp>
      <p:sp>
        <p:nvSpPr>
          <p:cNvPr id="17" name="Text 15"/>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Avoid: “scripted merge learned,” “left pocket learned,” or “V6 safe merge promoted.”</a:t>
            </a:r>
            <a:endParaRPr lang="en-US" sz="76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APPENDIX / TECHNICAL BACKUP</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A13 — Safe claims / unsafe claims</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38</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Use safe wording that matches the evidence boundary.</a:t>
            </a:r>
            <a:endParaRPr lang="en-US" sz="1230" dirty="0"/>
          </a:p>
        </p:txBody>
      </p:sp>
      <p:sp>
        <p:nvSpPr>
          <p:cNvPr id="7" name="Text 5"/>
          <p:cNvSpPr/>
          <p:nvPr/>
        </p:nvSpPr>
        <p:spPr>
          <a:xfrm>
            <a:off x="685800" y="1353312"/>
            <a:ext cx="5486400" cy="585216"/>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90" b="1" dirty="0">
                <a:solidFill>
                  <a:srgbClr val="FFFFFF"/>
                </a:solidFill>
                <a:latin typeface="Aptos" pitchFamily="34" charset="0"/>
                <a:ea typeface="Aptos" pitchFamily="34" charset="-122"/>
                <a:cs typeface="Aptos" pitchFamily="34" charset="-120"/>
              </a:rPr>
              <a:t>Safe claim</a:t>
            </a:r>
            <a:endParaRPr lang="en-US" sz="790" dirty="0"/>
          </a:p>
        </p:txBody>
      </p:sp>
      <p:sp>
        <p:nvSpPr>
          <p:cNvPr id="8" name="Text 6"/>
          <p:cNvSpPr/>
          <p:nvPr/>
        </p:nvSpPr>
        <p:spPr>
          <a:xfrm>
            <a:off x="6172200" y="1353312"/>
            <a:ext cx="5486400" cy="585216"/>
          </a:xfrm>
          <a:prstGeom prst="rect">
            <a:avLst/>
          </a:prstGeom>
          <a:solidFill>
            <a:srgbClr val="102A43"/>
          </a:solidFill>
          <a:ln w="12700">
            <a:solidFill>
              <a:srgbClr val="E2E8F0"/>
            </a:solidFill>
          </a:ln>
        </p:spPr>
        <p:txBody>
          <a:bodyPr wrap="square" lIns="508" tIns="508" rIns="508" bIns="508" rtlCol="0" anchor="ctr">
            <a:normAutofit/>
          </a:bodyPr>
          <a:lstStyle/>
          <a:p>
            <a:pPr algn="ctr" indent="0" marL="0">
              <a:buNone/>
            </a:pPr>
            <a:r>
              <a:rPr lang="en-US" sz="790" b="1" dirty="0">
                <a:solidFill>
                  <a:srgbClr val="FFFFFF"/>
                </a:solidFill>
                <a:latin typeface="Aptos" pitchFamily="34" charset="0"/>
                <a:ea typeface="Aptos" pitchFamily="34" charset="-122"/>
                <a:cs typeface="Aptos" pitchFamily="34" charset="-120"/>
              </a:rPr>
              <a:t>Unsafe wording to avoid</a:t>
            </a:r>
            <a:endParaRPr lang="en-US" sz="790" dirty="0"/>
          </a:p>
        </p:txBody>
      </p:sp>
      <p:sp>
        <p:nvSpPr>
          <p:cNvPr id="9" name="Text 7"/>
          <p:cNvSpPr/>
          <p:nvPr/>
        </p:nvSpPr>
        <p:spPr>
          <a:xfrm>
            <a:off x="685800" y="1938528"/>
            <a:ext cx="5486400" cy="58521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90" dirty="0">
                <a:solidFill>
                  <a:srgbClr val="0B132B"/>
                </a:solidFill>
                <a:latin typeface="Aptos" pitchFamily="34" charset="0"/>
                <a:ea typeface="Aptos" pitchFamily="34" charset="-122"/>
                <a:cs typeface="Aptos" pitchFamily="34" charset="-120"/>
              </a:rPr>
              <a:t>The internship began with a DreamerV3/world-model direction and pivoted because scope was too large.</a:t>
            </a:r>
            <a:endParaRPr lang="en-US" sz="790" dirty="0"/>
          </a:p>
        </p:txBody>
      </p:sp>
      <p:sp>
        <p:nvSpPr>
          <p:cNvPr id="10" name="Text 8"/>
          <p:cNvSpPr/>
          <p:nvPr/>
        </p:nvSpPr>
        <p:spPr>
          <a:xfrm>
            <a:off x="6172200" y="1938528"/>
            <a:ext cx="5486400" cy="58521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90" dirty="0">
                <a:solidFill>
                  <a:srgbClr val="0B132B"/>
                </a:solidFill>
                <a:latin typeface="Aptos" pitchFamily="34" charset="0"/>
                <a:ea typeface="Aptos" pitchFamily="34" charset="-122"/>
                <a:cs typeface="Aptos" pitchFamily="34" charset="-120"/>
              </a:rPr>
              <a:t>DreamerV3 was successfully trained or benchmarked.</a:t>
            </a:r>
            <a:endParaRPr lang="en-US" sz="790" dirty="0"/>
          </a:p>
        </p:txBody>
      </p:sp>
      <p:sp>
        <p:nvSpPr>
          <p:cNvPr id="11" name="Text 9"/>
          <p:cNvSpPr/>
          <p:nvPr/>
        </p:nvSpPr>
        <p:spPr>
          <a:xfrm>
            <a:off x="685800" y="2523744"/>
            <a:ext cx="5486400" cy="58521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90" dirty="0">
                <a:solidFill>
                  <a:srgbClr val="0B132B"/>
                </a:solidFill>
                <a:latin typeface="Aptos" pitchFamily="34" charset="0"/>
                <a:ea typeface="Aptos" pitchFamily="34" charset="-122"/>
                <a:cs typeface="Aptos" pitchFamily="34" charset="-120"/>
              </a:rPr>
              <a:t>The selected V5 checkpoint passed all 30 declared simulator qualification groups.</a:t>
            </a:r>
            <a:endParaRPr lang="en-US" sz="790" dirty="0"/>
          </a:p>
        </p:txBody>
      </p:sp>
      <p:sp>
        <p:nvSpPr>
          <p:cNvPr id="12" name="Text 10"/>
          <p:cNvSpPr/>
          <p:nvPr/>
        </p:nvSpPr>
        <p:spPr>
          <a:xfrm>
            <a:off x="6172200" y="2523744"/>
            <a:ext cx="5486400" cy="58521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90" dirty="0">
                <a:solidFill>
                  <a:srgbClr val="0B132B"/>
                </a:solidFill>
                <a:latin typeface="Aptos" pitchFamily="34" charset="0"/>
                <a:ea typeface="Aptos" pitchFamily="34" charset="-122"/>
                <a:cs typeface="Aptos" pitchFamily="34" charset="-120"/>
              </a:rPr>
              <a:t>V5 solves autonomous driving or is road-production-ready.</a:t>
            </a:r>
            <a:endParaRPr lang="en-US" sz="790" dirty="0"/>
          </a:p>
        </p:txBody>
      </p:sp>
      <p:sp>
        <p:nvSpPr>
          <p:cNvPr id="13" name="Text 11"/>
          <p:cNvSpPr/>
          <p:nvPr/>
        </p:nvSpPr>
        <p:spPr>
          <a:xfrm>
            <a:off x="685800" y="3108960"/>
            <a:ext cx="5486400" cy="58521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90" dirty="0">
                <a:solidFill>
                  <a:srgbClr val="0B132B"/>
                </a:solidFill>
                <a:latin typeface="Aptos" pitchFamily="34" charset="0"/>
                <a:ea typeface="Aptos" pitchFamily="34" charset="-122"/>
                <a:cs typeface="Aptos" pitchFamily="34" charset="-120"/>
              </a:rPr>
              <a:t>V5 is a graph actor-critic for path-locked longitudinal intersection control.</a:t>
            </a:r>
            <a:endParaRPr lang="en-US" sz="790" dirty="0"/>
          </a:p>
        </p:txBody>
      </p:sp>
      <p:sp>
        <p:nvSpPr>
          <p:cNvPr id="14" name="Text 12"/>
          <p:cNvSpPr/>
          <p:nvPr/>
        </p:nvSpPr>
        <p:spPr>
          <a:xfrm>
            <a:off x="6172200" y="3108960"/>
            <a:ext cx="5486400" cy="58521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90" dirty="0">
                <a:solidFill>
                  <a:srgbClr val="0B132B"/>
                </a:solidFill>
                <a:latin typeface="Aptos" pitchFamily="34" charset="0"/>
                <a:ea typeface="Aptos" pitchFamily="34" charset="-122"/>
                <a:cs typeface="Aptos" pitchFamily="34" charset="-120"/>
              </a:rPr>
              <a:t>V5 learned steering or lane changing.</a:t>
            </a:r>
            <a:endParaRPr lang="en-US" sz="790" dirty="0"/>
          </a:p>
        </p:txBody>
      </p:sp>
      <p:sp>
        <p:nvSpPr>
          <p:cNvPr id="15" name="Text 13"/>
          <p:cNvSpPr/>
          <p:nvPr/>
        </p:nvSpPr>
        <p:spPr>
          <a:xfrm>
            <a:off x="685800" y="3694176"/>
            <a:ext cx="5486400" cy="58521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90" dirty="0">
                <a:solidFill>
                  <a:srgbClr val="0B132B"/>
                </a:solidFill>
                <a:latin typeface="Aptos" pitchFamily="34" charset="0"/>
                <a:ea typeface="Aptos" pitchFamily="34" charset="-122"/>
                <a:cs typeface="Aptos" pitchFamily="34" charset="-120"/>
              </a:rPr>
              <a:t>V2.1 is a training-only pedestrian environment.</a:t>
            </a:r>
            <a:endParaRPr lang="en-US" sz="790" dirty="0"/>
          </a:p>
        </p:txBody>
      </p:sp>
      <p:sp>
        <p:nvSpPr>
          <p:cNvPr id="16" name="Text 14"/>
          <p:cNvSpPr/>
          <p:nvPr/>
        </p:nvSpPr>
        <p:spPr>
          <a:xfrm>
            <a:off x="6172200" y="3694176"/>
            <a:ext cx="5486400" cy="58521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90" dirty="0">
                <a:solidFill>
                  <a:srgbClr val="0B132B"/>
                </a:solidFill>
                <a:latin typeface="Aptos" pitchFamily="34" charset="0"/>
                <a:ea typeface="Aptos" pitchFamily="34" charset="-122"/>
                <a:cs typeface="Aptos" pitchFamily="34" charset="-120"/>
              </a:rPr>
              <a:t>V2.1 is production.</a:t>
            </a:r>
            <a:endParaRPr lang="en-US" sz="790" dirty="0"/>
          </a:p>
        </p:txBody>
      </p:sp>
      <p:sp>
        <p:nvSpPr>
          <p:cNvPr id="17" name="Text 15"/>
          <p:cNvSpPr/>
          <p:nvPr/>
        </p:nvSpPr>
        <p:spPr>
          <a:xfrm>
            <a:off x="685800" y="4279392"/>
            <a:ext cx="5486400" cy="58521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90" dirty="0">
                <a:solidFill>
                  <a:srgbClr val="0B132B"/>
                </a:solidFill>
                <a:latin typeface="Aptos" pitchFamily="34" charset="0"/>
                <a:ea typeface="Aptos" pitchFamily="34" charset="-122"/>
                <a:cs typeface="Aptos" pitchFamily="34" charset="-120"/>
              </a:rPr>
              <a:t>Merge and pocket demos validate scripted infrastructure.</a:t>
            </a:r>
            <a:endParaRPr lang="en-US" sz="790" dirty="0"/>
          </a:p>
        </p:txBody>
      </p:sp>
      <p:sp>
        <p:nvSpPr>
          <p:cNvPr id="18" name="Text 16"/>
          <p:cNvSpPr/>
          <p:nvPr/>
        </p:nvSpPr>
        <p:spPr>
          <a:xfrm>
            <a:off x="6172200" y="4279392"/>
            <a:ext cx="5486400" cy="58521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90" dirty="0">
                <a:solidFill>
                  <a:srgbClr val="0B132B"/>
                </a:solidFill>
                <a:latin typeface="Aptos" pitchFamily="34" charset="0"/>
                <a:ea typeface="Aptos" pitchFamily="34" charset="-122"/>
                <a:cs typeface="Aptos" pitchFamily="34" charset="-120"/>
              </a:rPr>
              <a:t>Scripted merge or pocket routes were learned.</a:t>
            </a:r>
            <a:endParaRPr lang="en-US" sz="790" dirty="0"/>
          </a:p>
        </p:txBody>
      </p:sp>
      <p:sp>
        <p:nvSpPr>
          <p:cNvPr id="19" name="Text 17"/>
          <p:cNvSpPr/>
          <p:nvPr/>
        </p:nvSpPr>
        <p:spPr>
          <a:xfrm>
            <a:off x="685800" y="4864608"/>
            <a:ext cx="5486400" cy="58521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90" dirty="0">
                <a:solidFill>
                  <a:srgbClr val="0B132B"/>
                </a:solidFill>
                <a:latin typeface="Aptos" pitchFamily="34" charset="0"/>
                <a:ea typeface="Aptos" pitchFamily="34" charset="-122"/>
                <a:cs typeface="Aptos" pitchFamily="34" charset="-120"/>
              </a:rPr>
              <a:t>V5.1/V6 candidates were rejected; final banks were not run after failed gates.</a:t>
            </a:r>
            <a:endParaRPr lang="en-US" sz="790" dirty="0"/>
          </a:p>
        </p:txBody>
      </p:sp>
      <p:sp>
        <p:nvSpPr>
          <p:cNvPr id="20" name="Text 18"/>
          <p:cNvSpPr/>
          <p:nvPr/>
        </p:nvSpPr>
        <p:spPr>
          <a:xfrm>
            <a:off x="6172200" y="4864608"/>
            <a:ext cx="5486400" cy="585216"/>
          </a:xfrm>
          <a:prstGeom prst="rect">
            <a:avLst/>
          </a:prstGeom>
          <a:solidFill>
            <a:srgbClr val="FFFFFF"/>
          </a:solidFill>
          <a:ln w="12700">
            <a:solidFill>
              <a:srgbClr val="E2E8F0"/>
            </a:solidFill>
          </a:ln>
        </p:spPr>
        <p:txBody>
          <a:bodyPr wrap="square" lIns="508" tIns="508" rIns="508" bIns="508" rtlCol="0" anchor="ctr">
            <a:normAutofit/>
          </a:bodyPr>
          <a:lstStyle/>
          <a:p>
            <a:pPr algn="ctr" indent="0" marL="0">
              <a:buNone/>
            </a:pPr>
            <a:r>
              <a:rPr lang="en-US" sz="790" dirty="0">
                <a:solidFill>
                  <a:srgbClr val="0B132B"/>
                </a:solidFill>
                <a:latin typeface="Aptos" pitchFamily="34" charset="0"/>
                <a:ea typeface="Aptos" pitchFamily="34" charset="-122"/>
                <a:cs typeface="Aptos" pitchFamily="34" charset="-120"/>
              </a:rPr>
              <a:t>V5.1 or V6 was promoted, or final bank confirmed the result.</a:t>
            </a:r>
            <a:endParaRPr lang="en-US" sz="790" dirty="0"/>
          </a:p>
        </p:txBody>
      </p:sp>
      <p:sp>
        <p:nvSpPr>
          <p:cNvPr id="21" name="Text 19"/>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This slide is intentionally conservative; it is designed for Q&amp;A defense.</a:t>
            </a:r>
            <a:endParaRPr lang="en-US" sz="76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118872"/>
            <a:ext cx="4754880" cy="164592"/>
          </a:xfrm>
          <a:prstGeom prst="rect">
            <a:avLst/>
          </a:prstGeom>
          <a:noFill/>
          <a:ln/>
        </p:spPr>
        <p:txBody>
          <a:bodyPr wrap="square" lIns="0" tIns="0" rIns="0" bIns="0" rtlCol="0" anchor="ctr"/>
          <a:lstStyle/>
          <a:p>
            <a:pPr indent="0" marL="0">
              <a:buNone/>
            </a:pPr>
            <a:r>
              <a:rPr lang="en-US" sz="750" b="1" dirty="0">
                <a:solidFill>
                  <a:srgbClr val="1D4ED8"/>
                </a:solidFill>
                <a:latin typeface="Aptos" pitchFamily="34" charset="0"/>
                <a:ea typeface="Aptos" pitchFamily="34" charset="-122"/>
                <a:cs typeface="Aptos" pitchFamily="34" charset="-120"/>
              </a:rPr>
              <a:t>APPENDIX / TECHNICAL BACKUP</a:t>
            </a:r>
            <a:endParaRPr lang="en-US" sz="750" dirty="0"/>
          </a:p>
        </p:txBody>
      </p:sp>
      <p:sp>
        <p:nvSpPr>
          <p:cNvPr id="3" name="Text 1"/>
          <p:cNvSpPr/>
          <p:nvPr/>
        </p:nvSpPr>
        <p:spPr>
          <a:xfrm>
            <a:off x="502920" y="320040"/>
            <a:ext cx="10698480" cy="411480"/>
          </a:xfrm>
          <a:prstGeom prst="rect">
            <a:avLst/>
          </a:prstGeom>
          <a:noFill/>
          <a:ln/>
        </p:spPr>
        <p:txBody>
          <a:bodyPr wrap="square" lIns="0" tIns="0" rIns="0" bIns="0" rtlCol="0" anchor="ctr"/>
          <a:lstStyle/>
          <a:p>
            <a:pPr indent="0" marL="0">
              <a:buNone/>
            </a:pPr>
            <a:r>
              <a:rPr lang="en-US" sz="2300" b="1" dirty="0">
                <a:solidFill>
                  <a:srgbClr val="0B132B"/>
                </a:solidFill>
                <a:latin typeface="Aptos Display" pitchFamily="34" charset="0"/>
                <a:ea typeface="Aptos Display" pitchFamily="34" charset="-122"/>
                <a:cs typeface="Aptos Display" pitchFamily="34" charset="-120"/>
              </a:rPr>
              <a:t>A14 — Selected background references</a:t>
            </a:r>
            <a:endParaRPr lang="en-US" sz="2300" dirty="0"/>
          </a:p>
        </p:txBody>
      </p:sp>
      <p:sp>
        <p:nvSpPr>
          <p:cNvPr id="4" name="Shape 2"/>
          <p:cNvSpPr/>
          <p:nvPr/>
        </p:nvSpPr>
        <p:spPr>
          <a:xfrm>
            <a:off x="502920" y="786384"/>
            <a:ext cx="11201400" cy="0"/>
          </a:xfrm>
          <a:prstGeom prst="line">
            <a:avLst/>
          </a:prstGeom>
          <a:noFill/>
          <a:ln w="12700">
            <a:solidFill>
              <a:srgbClr val="E2E8F0"/>
            </a:solidFill>
            <a:prstDash val="solid"/>
          </a:ln>
        </p:spPr>
      </p:sp>
      <p:sp>
        <p:nvSpPr>
          <p:cNvPr id="5" name="Text 3"/>
          <p:cNvSpPr/>
          <p:nvPr/>
        </p:nvSpPr>
        <p:spPr>
          <a:xfrm>
            <a:off x="11384280" y="6446520"/>
            <a:ext cx="320040" cy="146304"/>
          </a:xfrm>
          <a:prstGeom prst="rect">
            <a:avLst/>
          </a:prstGeom>
          <a:noFill/>
          <a:ln/>
        </p:spPr>
        <p:txBody>
          <a:bodyPr wrap="square" lIns="0" tIns="0" rIns="0" bIns="0" rtlCol="0" anchor="ctr"/>
          <a:lstStyle/>
          <a:p>
            <a:pPr algn="r" indent="0" marL="0">
              <a:buNone/>
            </a:pPr>
            <a:r>
              <a:rPr lang="en-US" sz="750" dirty="0">
                <a:solidFill>
                  <a:srgbClr val="64748B"/>
                </a:solidFill>
              </a:rPr>
              <a:t>39</a:t>
            </a:r>
            <a:endParaRPr lang="en-US" sz="750" dirty="0"/>
          </a:p>
        </p:txBody>
      </p:sp>
      <p:sp>
        <p:nvSpPr>
          <p:cNvPr id="6" name="Text 4"/>
          <p:cNvSpPr/>
          <p:nvPr/>
        </p:nvSpPr>
        <p:spPr>
          <a:xfrm>
            <a:off x="502920" y="896112"/>
            <a:ext cx="5440680" cy="310896"/>
          </a:xfrm>
          <a:prstGeom prst="rect">
            <a:avLst/>
          </a:prstGeom>
          <a:noFill/>
          <a:ln/>
        </p:spPr>
        <p:txBody>
          <a:bodyPr wrap="square" lIns="0" tIns="0" rIns="0" bIns="0" rtlCol="0" anchor="ctr">
            <a:normAutofit/>
          </a:bodyPr>
          <a:lstStyle/>
          <a:p>
            <a:pPr indent="0" marL="0">
              <a:buNone/>
            </a:pPr>
            <a:r>
              <a:rPr lang="en-US" sz="1230" b="1" i="1" dirty="0">
                <a:solidFill>
                  <a:srgbClr val="1D4ED8"/>
                </a:solidFill>
              </a:rPr>
              <a:t>These papers motivate the background; they are not claimed baselines for the internship experiments.</a:t>
            </a:r>
            <a:endParaRPr lang="en-US" sz="1230" dirty="0"/>
          </a:p>
        </p:txBody>
      </p:sp>
      <p:sp>
        <p:nvSpPr>
          <p:cNvPr id="7" name="Text 5"/>
          <p:cNvSpPr/>
          <p:nvPr/>
        </p:nvSpPr>
        <p:spPr>
          <a:xfrm>
            <a:off x="685800" y="1280160"/>
            <a:ext cx="2011680" cy="384048"/>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930" b="1" dirty="0">
                <a:solidFill>
                  <a:srgbClr val="FFFFFF"/>
                </a:solidFill>
                <a:latin typeface="Aptos" pitchFamily="34" charset="0"/>
                <a:ea typeface="Aptos" pitchFamily="34" charset="-122"/>
                <a:cs typeface="Aptos" pitchFamily="34" charset="-120"/>
              </a:rPr>
              <a:t>[R1] Hafner et al. (2023)</a:t>
            </a:r>
            <a:endParaRPr lang="en-US" sz="930" dirty="0"/>
          </a:p>
        </p:txBody>
      </p:sp>
      <p:sp>
        <p:nvSpPr>
          <p:cNvPr id="8" name="Text 6"/>
          <p:cNvSpPr/>
          <p:nvPr/>
        </p:nvSpPr>
        <p:spPr>
          <a:xfrm>
            <a:off x="2880360" y="1280160"/>
            <a:ext cx="585216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900" dirty="0">
                <a:solidFill>
                  <a:srgbClr val="0B132B"/>
                </a:solidFill>
                <a:latin typeface="Aptos" pitchFamily="34" charset="0"/>
                <a:ea typeface="Aptos" pitchFamily="34" charset="-122"/>
                <a:cs typeface="Aptos" pitchFamily="34" charset="-120"/>
              </a:rPr>
              <a:t>DreamerV3: Mastering Diverse Domains through World Models</a:t>
            </a:r>
            <a:endParaRPr lang="en-US" sz="900" dirty="0"/>
          </a:p>
        </p:txBody>
      </p:sp>
      <p:sp>
        <p:nvSpPr>
          <p:cNvPr id="9" name="Text 7"/>
          <p:cNvSpPr/>
          <p:nvPr/>
        </p:nvSpPr>
        <p:spPr>
          <a:xfrm>
            <a:off x="8915400" y="1280160"/>
            <a:ext cx="228600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l" indent="0" marL="0">
              <a:buNone/>
            </a:pPr>
            <a:r>
              <a:rPr lang="en-US" sz="850" dirty="0">
                <a:solidFill>
                  <a:srgbClr val="0B132B"/>
                </a:solidFill>
                <a:latin typeface="Aptos" pitchFamily="34" charset="0"/>
                <a:ea typeface="Aptos" pitchFamily="34" charset="-122"/>
                <a:cs typeface="Aptos" pitchFamily="34" charset="-120"/>
              </a:rPr>
              <a:t>arXiv:2301.04104</a:t>
            </a:r>
            <a:endParaRPr lang="en-US" sz="850" dirty="0"/>
          </a:p>
        </p:txBody>
      </p:sp>
      <p:sp>
        <p:nvSpPr>
          <p:cNvPr id="10" name="Text 8"/>
          <p:cNvSpPr/>
          <p:nvPr/>
        </p:nvSpPr>
        <p:spPr>
          <a:xfrm>
            <a:off x="685800" y="1847088"/>
            <a:ext cx="2011680" cy="384048"/>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930" b="1" dirty="0">
                <a:solidFill>
                  <a:srgbClr val="FFFFFF"/>
                </a:solidFill>
                <a:latin typeface="Aptos" pitchFamily="34" charset="0"/>
                <a:ea typeface="Aptos" pitchFamily="34" charset="-122"/>
                <a:cs typeface="Aptos" pitchFamily="34" charset="-120"/>
              </a:rPr>
              <a:t>[R2] Xu et al. (2022)</a:t>
            </a:r>
            <a:endParaRPr lang="en-US" sz="930" dirty="0"/>
          </a:p>
        </p:txBody>
      </p:sp>
      <p:sp>
        <p:nvSpPr>
          <p:cNvPr id="11" name="Text 9"/>
          <p:cNvSpPr/>
          <p:nvPr/>
        </p:nvSpPr>
        <p:spPr>
          <a:xfrm>
            <a:off x="2880360" y="1847088"/>
            <a:ext cx="585216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900" dirty="0">
                <a:solidFill>
                  <a:srgbClr val="0B132B"/>
                </a:solidFill>
                <a:latin typeface="Aptos" pitchFamily="34" charset="0"/>
                <a:ea typeface="Aptos" pitchFamily="34" charset="-122"/>
                <a:cs typeface="Aptos" pitchFamily="34" charset="-120"/>
              </a:rPr>
              <a:t>SafeBench: Benchmarking Platform for Safety Evaluation of Autonomous Vehicles</a:t>
            </a:r>
            <a:endParaRPr lang="en-US" sz="900" dirty="0"/>
          </a:p>
        </p:txBody>
      </p:sp>
      <p:sp>
        <p:nvSpPr>
          <p:cNvPr id="12" name="Text 10"/>
          <p:cNvSpPr/>
          <p:nvPr/>
        </p:nvSpPr>
        <p:spPr>
          <a:xfrm>
            <a:off x="8915400" y="1847088"/>
            <a:ext cx="228600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l" indent="0" marL="0">
              <a:buNone/>
            </a:pPr>
            <a:r>
              <a:rPr lang="en-US" sz="850" dirty="0">
                <a:solidFill>
                  <a:srgbClr val="0B132B"/>
                </a:solidFill>
                <a:latin typeface="Aptos" pitchFamily="34" charset="0"/>
                <a:ea typeface="Aptos" pitchFamily="34" charset="-122"/>
                <a:cs typeface="Aptos" pitchFamily="34" charset="-120"/>
              </a:rPr>
              <a:t>arXiv:2206.09682</a:t>
            </a:r>
            <a:endParaRPr lang="en-US" sz="850" dirty="0"/>
          </a:p>
        </p:txBody>
      </p:sp>
      <p:sp>
        <p:nvSpPr>
          <p:cNvPr id="13" name="Text 11"/>
          <p:cNvSpPr/>
          <p:nvPr/>
        </p:nvSpPr>
        <p:spPr>
          <a:xfrm>
            <a:off x="685800" y="2414016"/>
            <a:ext cx="2011680" cy="384048"/>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930" b="1" dirty="0">
                <a:solidFill>
                  <a:srgbClr val="FFFFFF"/>
                </a:solidFill>
                <a:latin typeface="Aptos" pitchFamily="34" charset="0"/>
                <a:ea typeface="Aptos" pitchFamily="34" charset="-122"/>
                <a:cs typeface="Aptos" pitchFamily="34" charset="-120"/>
              </a:rPr>
              <a:t>[R3] Zhou et al. (2020)</a:t>
            </a:r>
            <a:endParaRPr lang="en-US" sz="930" dirty="0"/>
          </a:p>
        </p:txBody>
      </p:sp>
      <p:sp>
        <p:nvSpPr>
          <p:cNvPr id="14" name="Text 12"/>
          <p:cNvSpPr/>
          <p:nvPr/>
        </p:nvSpPr>
        <p:spPr>
          <a:xfrm>
            <a:off x="2880360" y="2414016"/>
            <a:ext cx="585216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900" dirty="0">
                <a:solidFill>
                  <a:srgbClr val="0B132B"/>
                </a:solidFill>
                <a:latin typeface="Aptos" pitchFamily="34" charset="0"/>
                <a:ea typeface="Aptos" pitchFamily="34" charset="-122"/>
                <a:cs typeface="Aptos" pitchFamily="34" charset="-120"/>
              </a:rPr>
              <a:t>SMARTS: Scalable Multi-Agent RL Training School for Autonomous Driving</a:t>
            </a:r>
            <a:endParaRPr lang="en-US" sz="900" dirty="0"/>
          </a:p>
        </p:txBody>
      </p:sp>
      <p:sp>
        <p:nvSpPr>
          <p:cNvPr id="15" name="Text 13"/>
          <p:cNvSpPr/>
          <p:nvPr/>
        </p:nvSpPr>
        <p:spPr>
          <a:xfrm>
            <a:off x="8915400" y="2414016"/>
            <a:ext cx="228600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l" indent="0" marL="0">
              <a:buNone/>
            </a:pPr>
            <a:r>
              <a:rPr lang="en-US" sz="850" dirty="0">
                <a:solidFill>
                  <a:srgbClr val="0B132B"/>
                </a:solidFill>
                <a:latin typeface="Aptos" pitchFamily="34" charset="0"/>
                <a:ea typeface="Aptos" pitchFamily="34" charset="-122"/>
                <a:cs typeface="Aptos" pitchFamily="34" charset="-120"/>
              </a:rPr>
              <a:t>arXiv:2010.09776</a:t>
            </a:r>
            <a:endParaRPr lang="en-US" sz="850" dirty="0"/>
          </a:p>
        </p:txBody>
      </p:sp>
      <p:sp>
        <p:nvSpPr>
          <p:cNvPr id="16" name="Text 14"/>
          <p:cNvSpPr/>
          <p:nvPr/>
        </p:nvSpPr>
        <p:spPr>
          <a:xfrm>
            <a:off x="685800" y="2980944"/>
            <a:ext cx="2011680" cy="384048"/>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930" b="1" dirty="0">
                <a:solidFill>
                  <a:srgbClr val="FFFFFF"/>
                </a:solidFill>
                <a:latin typeface="Aptos" pitchFamily="34" charset="0"/>
                <a:ea typeface="Aptos" pitchFamily="34" charset="-122"/>
                <a:cs typeface="Aptos" pitchFamily="34" charset="-120"/>
              </a:rPr>
              <a:t>[R4] Vinitsky et al. (2022)</a:t>
            </a:r>
            <a:endParaRPr lang="en-US" sz="930" dirty="0"/>
          </a:p>
        </p:txBody>
      </p:sp>
      <p:sp>
        <p:nvSpPr>
          <p:cNvPr id="17" name="Text 15"/>
          <p:cNvSpPr/>
          <p:nvPr/>
        </p:nvSpPr>
        <p:spPr>
          <a:xfrm>
            <a:off x="2880360" y="2980944"/>
            <a:ext cx="585216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900" dirty="0">
                <a:solidFill>
                  <a:srgbClr val="0B132B"/>
                </a:solidFill>
                <a:latin typeface="Aptos" pitchFamily="34" charset="0"/>
                <a:ea typeface="Aptos" pitchFamily="34" charset="-122"/>
                <a:cs typeface="Aptos" pitchFamily="34" charset="-120"/>
              </a:rPr>
              <a:t>Nocturne: scalable driving benchmark for multi-agent learning</a:t>
            </a:r>
            <a:endParaRPr lang="en-US" sz="900" dirty="0"/>
          </a:p>
        </p:txBody>
      </p:sp>
      <p:sp>
        <p:nvSpPr>
          <p:cNvPr id="18" name="Text 16"/>
          <p:cNvSpPr/>
          <p:nvPr/>
        </p:nvSpPr>
        <p:spPr>
          <a:xfrm>
            <a:off x="8915400" y="2980944"/>
            <a:ext cx="228600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l" indent="0" marL="0">
              <a:buNone/>
            </a:pPr>
            <a:r>
              <a:rPr lang="en-US" sz="850" dirty="0">
                <a:solidFill>
                  <a:srgbClr val="0B132B"/>
                </a:solidFill>
                <a:latin typeface="Aptos" pitchFamily="34" charset="0"/>
                <a:ea typeface="Aptos" pitchFamily="34" charset="-122"/>
                <a:cs typeface="Aptos" pitchFamily="34" charset="-120"/>
              </a:rPr>
              <a:t>arXiv:2206.09889</a:t>
            </a:r>
            <a:endParaRPr lang="en-US" sz="850" dirty="0"/>
          </a:p>
        </p:txBody>
      </p:sp>
      <p:sp>
        <p:nvSpPr>
          <p:cNvPr id="19" name="Text 17"/>
          <p:cNvSpPr/>
          <p:nvPr/>
        </p:nvSpPr>
        <p:spPr>
          <a:xfrm>
            <a:off x="685800" y="3547872"/>
            <a:ext cx="2011680" cy="384048"/>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930" b="1" dirty="0">
                <a:solidFill>
                  <a:srgbClr val="FFFFFF"/>
                </a:solidFill>
                <a:latin typeface="Aptos" pitchFamily="34" charset="0"/>
                <a:ea typeface="Aptos" pitchFamily="34" charset="-122"/>
                <a:cs typeface="Aptos" pitchFamily="34" charset="-120"/>
              </a:rPr>
              <a:t>[R5] Gulino et al. (2023)</a:t>
            </a:r>
            <a:endParaRPr lang="en-US" sz="930" dirty="0"/>
          </a:p>
        </p:txBody>
      </p:sp>
      <p:sp>
        <p:nvSpPr>
          <p:cNvPr id="20" name="Text 18"/>
          <p:cNvSpPr/>
          <p:nvPr/>
        </p:nvSpPr>
        <p:spPr>
          <a:xfrm>
            <a:off x="2880360" y="3547872"/>
            <a:ext cx="585216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900" dirty="0">
                <a:solidFill>
                  <a:srgbClr val="0B132B"/>
                </a:solidFill>
                <a:latin typeface="Aptos" pitchFamily="34" charset="0"/>
                <a:ea typeface="Aptos" pitchFamily="34" charset="-122"/>
                <a:cs typeface="Aptos" pitchFamily="34" charset="-120"/>
              </a:rPr>
              <a:t>Waymax: Accelerated Data-Driven Simulator for AV Research</a:t>
            </a:r>
            <a:endParaRPr lang="en-US" sz="900" dirty="0"/>
          </a:p>
        </p:txBody>
      </p:sp>
      <p:sp>
        <p:nvSpPr>
          <p:cNvPr id="21" name="Text 19"/>
          <p:cNvSpPr/>
          <p:nvPr/>
        </p:nvSpPr>
        <p:spPr>
          <a:xfrm>
            <a:off x="8915400" y="3547872"/>
            <a:ext cx="228600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l" indent="0" marL="0">
              <a:buNone/>
            </a:pPr>
            <a:r>
              <a:rPr lang="en-US" sz="850" dirty="0">
                <a:solidFill>
                  <a:srgbClr val="0B132B"/>
                </a:solidFill>
                <a:latin typeface="Aptos" pitchFamily="34" charset="0"/>
                <a:ea typeface="Aptos" pitchFamily="34" charset="-122"/>
                <a:cs typeface="Aptos" pitchFamily="34" charset="-120"/>
              </a:rPr>
              <a:t>arXiv:2310.08710</a:t>
            </a:r>
            <a:endParaRPr lang="en-US" sz="850" dirty="0"/>
          </a:p>
        </p:txBody>
      </p:sp>
      <p:sp>
        <p:nvSpPr>
          <p:cNvPr id="22" name="Text 20"/>
          <p:cNvSpPr/>
          <p:nvPr/>
        </p:nvSpPr>
        <p:spPr>
          <a:xfrm>
            <a:off x="685800" y="4114800"/>
            <a:ext cx="2011680" cy="384048"/>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930" b="1" dirty="0">
                <a:solidFill>
                  <a:srgbClr val="FFFFFF"/>
                </a:solidFill>
                <a:latin typeface="Aptos" pitchFamily="34" charset="0"/>
                <a:ea typeface="Aptos" pitchFamily="34" charset="-122"/>
                <a:cs typeface="Aptos" pitchFamily="34" charset="-120"/>
              </a:rPr>
              <a:t>[R6] Liang et al. (2020)</a:t>
            </a:r>
            <a:endParaRPr lang="en-US" sz="930" dirty="0"/>
          </a:p>
        </p:txBody>
      </p:sp>
      <p:sp>
        <p:nvSpPr>
          <p:cNvPr id="23" name="Text 21"/>
          <p:cNvSpPr/>
          <p:nvPr/>
        </p:nvSpPr>
        <p:spPr>
          <a:xfrm>
            <a:off x="2880360" y="4114800"/>
            <a:ext cx="585216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900" dirty="0">
                <a:solidFill>
                  <a:srgbClr val="0B132B"/>
                </a:solidFill>
                <a:latin typeface="Aptos" pitchFamily="34" charset="0"/>
                <a:ea typeface="Aptos" pitchFamily="34" charset="-122"/>
                <a:cs typeface="Aptos" pitchFamily="34" charset="-120"/>
              </a:rPr>
              <a:t>LaneGCN: Learning Lane Graph Representations for Motion Forecasting</a:t>
            </a:r>
            <a:endParaRPr lang="en-US" sz="900" dirty="0"/>
          </a:p>
        </p:txBody>
      </p:sp>
      <p:sp>
        <p:nvSpPr>
          <p:cNvPr id="24" name="Text 22"/>
          <p:cNvSpPr/>
          <p:nvPr/>
        </p:nvSpPr>
        <p:spPr>
          <a:xfrm>
            <a:off x="8915400" y="4114800"/>
            <a:ext cx="228600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l" indent="0" marL="0">
              <a:buNone/>
            </a:pPr>
            <a:r>
              <a:rPr lang="en-US" sz="850" dirty="0">
                <a:solidFill>
                  <a:srgbClr val="0B132B"/>
                </a:solidFill>
                <a:latin typeface="Aptos" pitchFamily="34" charset="0"/>
                <a:ea typeface="Aptos" pitchFamily="34" charset="-122"/>
                <a:cs typeface="Aptos" pitchFamily="34" charset="-120"/>
              </a:rPr>
              <a:t>ECCV / arXiv:2007.13732</a:t>
            </a:r>
            <a:endParaRPr lang="en-US" sz="850" dirty="0"/>
          </a:p>
        </p:txBody>
      </p:sp>
      <p:sp>
        <p:nvSpPr>
          <p:cNvPr id="25" name="Text 23"/>
          <p:cNvSpPr/>
          <p:nvPr/>
        </p:nvSpPr>
        <p:spPr>
          <a:xfrm>
            <a:off x="685800" y="4681728"/>
            <a:ext cx="2011680" cy="384048"/>
          </a:xfrm>
          <a:prstGeom prst="rect">
            <a:avLst/>
          </a:prstGeom>
          <a:solidFill>
            <a:srgbClr val="102A43"/>
          </a:solidFill>
          <a:ln w="9525">
            <a:solidFill>
              <a:srgbClr val="102A43"/>
            </a:solidFill>
          </a:ln>
        </p:spPr>
        <p:txBody>
          <a:bodyPr wrap="square" lIns="1016" tIns="1016" rIns="1016" bIns="1016" rtlCol="0" anchor="ctr">
            <a:normAutofit/>
          </a:bodyPr>
          <a:lstStyle/>
          <a:p>
            <a:pPr algn="l" indent="0" marL="0">
              <a:buNone/>
            </a:pPr>
            <a:r>
              <a:rPr lang="en-US" sz="930" b="1" dirty="0">
                <a:solidFill>
                  <a:srgbClr val="FFFFFF"/>
                </a:solidFill>
                <a:latin typeface="Aptos" pitchFamily="34" charset="0"/>
                <a:ea typeface="Aptos" pitchFamily="34" charset="-122"/>
                <a:cs typeface="Aptos" pitchFamily="34" charset="-120"/>
              </a:rPr>
              <a:t>[R7] Schulman et al. (2017)</a:t>
            </a:r>
            <a:endParaRPr lang="en-US" sz="930" dirty="0"/>
          </a:p>
        </p:txBody>
      </p:sp>
      <p:sp>
        <p:nvSpPr>
          <p:cNvPr id="26" name="Text 24"/>
          <p:cNvSpPr/>
          <p:nvPr/>
        </p:nvSpPr>
        <p:spPr>
          <a:xfrm>
            <a:off x="2880360" y="4681728"/>
            <a:ext cx="5852160" cy="384048"/>
          </a:xfrm>
          <a:prstGeom prst="rect">
            <a:avLst/>
          </a:prstGeom>
          <a:solidFill>
            <a:srgbClr val="FFFFFF"/>
          </a:solidFill>
          <a:ln w="12700">
            <a:solidFill>
              <a:srgbClr val="E2E8F0"/>
            </a:solidFill>
          </a:ln>
        </p:spPr>
        <p:txBody>
          <a:bodyPr wrap="square" lIns="1016" tIns="1016" rIns="1016" bIns="1016" rtlCol="0" anchor="ctr">
            <a:normAutofit/>
          </a:bodyPr>
          <a:lstStyle/>
          <a:p>
            <a:pPr algn="l" indent="0" marL="0">
              <a:buNone/>
            </a:pPr>
            <a:r>
              <a:rPr lang="en-US" sz="900" dirty="0">
                <a:solidFill>
                  <a:srgbClr val="0B132B"/>
                </a:solidFill>
                <a:latin typeface="Aptos" pitchFamily="34" charset="0"/>
                <a:ea typeface="Aptos" pitchFamily="34" charset="-122"/>
                <a:cs typeface="Aptos" pitchFamily="34" charset="-120"/>
              </a:rPr>
              <a:t>Proximal Policy Optimization Algorithms</a:t>
            </a:r>
            <a:endParaRPr lang="en-US" sz="900" dirty="0"/>
          </a:p>
        </p:txBody>
      </p:sp>
      <p:sp>
        <p:nvSpPr>
          <p:cNvPr id="27" name="Text 25"/>
          <p:cNvSpPr/>
          <p:nvPr/>
        </p:nvSpPr>
        <p:spPr>
          <a:xfrm>
            <a:off x="8915400" y="4681728"/>
            <a:ext cx="228600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l" indent="0" marL="0">
              <a:buNone/>
            </a:pPr>
            <a:r>
              <a:rPr lang="en-US" sz="850" dirty="0">
                <a:solidFill>
                  <a:srgbClr val="0B132B"/>
                </a:solidFill>
                <a:latin typeface="Aptos" pitchFamily="34" charset="0"/>
                <a:ea typeface="Aptos" pitchFamily="34" charset="-122"/>
                <a:cs typeface="Aptos" pitchFamily="34" charset="-120"/>
              </a:rPr>
              <a:t>arXiv:1707.06347</a:t>
            </a:r>
            <a:endParaRPr lang="en-US" sz="850" dirty="0"/>
          </a:p>
        </p:txBody>
      </p:sp>
      <p:sp>
        <p:nvSpPr>
          <p:cNvPr id="28" name="Text 26"/>
          <p:cNvSpPr/>
          <p:nvPr/>
        </p:nvSpPr>
        <p:spPr>
          <a:xfrm>
            <a:off x="914400" y="5623560"/>
            <a:ext cx="10241280" cy="594360"/>
          </a:xfrm>
          <a:prstGeom prst="rect">
            <a:avLst/>
          </a:prstGeom>
          <a:solidFill>
            <a:srgbClr val="FFF7ED"/>
          </a:solidFill>
          <a:ln w="12700">
            <a:solidFill>
              <a:srgbClr val="FED7AA"/>
            </a:solidFill>
          </a:ln>
        </p:spPr>
        <p:txBody>
          <a:bodyPr wrap="square" lIns="1016" tIns="1016" rIns="1016" bIns="1016" rtlCol="0" anchor="ctr">
            <a:normAutofit/>
          </a:bodyPr>
          <a:lstStyle/>
          <a:p>
            <a:pPr algn="ctr" indent="0" marL="0">
              <a:buNone/>
            </a:pPr>
            <a:r>
              <a:rPr lang="en-US" sz="1250" b="1" dirty="0">
                <a:solidFill>
                  <a:srgbClr val="0B132B"/>
                </a:solidFill>
                <a:latin typeface="Aptos" pitchFamily="34" charset="0"/>
                <a:ea typeface="Aptos" pitchFamily="34" charset="-122"/>
                <a:cs typeface="Aptos" pitchFamily="34" charset="-120"/>
              </a:rPr>
              <a:t>Reference boundary</a:t>
            </a:r>
            <a:endParaRPr lang="en-US" sz="1250" dirty="0"/>
          </a:p>
          <a:p>
            <a:pPr algn="ctr" indent="0" marL="0">
              <a:buNone/>
            </a:pPr>
            <a:r>
              <a:rPr lang="en-US" sz="1250" b="1" dirty="0">
                <a:solidFill>
                  <a:srgbClr val="0B132B"/>
                </a:solidFill>
                <a:latin typeface="Aptos" pitchFamily="34" charset="0"/>
                <a:ea typeface="Aptos" pitchFamily="34" charset="-122"/>
                <a:cs typeface="Aptos" pitchFamily="34" charset="-120"/>
              </a:rPr>
              <a:t>The deck uses these papers for background framing only. All internship performance numbers come from the uploaded handoff evidence files.</a:t>
            </a:r>
            <a:endParaRPr lang="en-US" sz="1250" dirty="0"/>
          </a:p>
        </p:txBody>
      </p:sp>
      <p:sp>
        <p:nvSpPr>
          <p:cNvPr id="29" name="Text 27"/>
          <p:cNvSpPr/>
          <p:nvPr/>
        </p:nvSpPr>
        <p:spPr>
          <a:xfrm>
            <a:off x="502920" y="6446520"/>
            <a:ext cx="10515600" cy="164592"/>
          </a:xfrm>
          <a:prstGeom prst="rect">
            <a:avLst/>
          </a:prstGeom>
          <a:noFill/>
          <a:ln/>
        </p:spPr>
        <p:txBody>
          <a:bodyPr wrap="square" lIns="0" tIns="0" rIns="0" bIns="0" rtlCol="0" anchor="ctr"/>
          <a:lstStyle/>
          <a:p>
            <a:pPr indent="0" marL="0">
              <a:buNone/>
            </a:pPr>
            <a:r>
              <a:rPr lang="en-US" sz="760" dirty="0">
                <a:solidFill>
                  <a:srgbClr val="64748B"/>
                </a:solidFill>
              </a:rPr>
              <a:t>Add full BibTeX from these arXiv/venue entries if the final report requires formal citations.</a:t>
            </a:r>
            <a:endParaRPr lang="en-US" sz="7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Internship research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World-Model Case Generation to Self-Play RL Driving Policy</dc:title>
  <dc:subject>Autonomous driving intersection simulator and self-play RL policy</dc:subject>
  <dc:creator>Dibyendu Das / OpenAI generated deck</dc:creator>
  <cp:lastModifiedBy>Dibyendu Das / OpenAI generated deck</cp:lastModifiedBy>
  <cp:revision>1</cp:revision>
  <dcterms:created xsi:type="dcterms:W3CDTF">2026-07-27T17:01:17Z</dcterms:created>
  <dcterms:modified xsi:type="dcterms:W3CDTF">2026-07-27T17:01:17Z</dcterms:modified>
</cp:coreProperties>
</file>